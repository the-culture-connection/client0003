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Montserrat" charset="1" panose="00000500000000000000"/>
      <p:regular r:id="rId28"/>
    </p:embeddedFont>
    <p:embeddedFont>
      <p:font typeface="Canva Sans Bold" charset="1" panose="020B0803030501040103"/>
      <p:regular r:id="rId29"/>
    </p:embeddedFont>
    <p:embeddedFont>
      <p:font typeface="Canva Sans" charset="1" panose="020B05030305010401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https://youtu.be/uJrpYYoNwk8?si=o_BgEHNQvzHR1Sca" TargetMode="External" Type="http://schemas.openxmlformats.org/officeDocument/2006/relationships/video"/><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https://youtu.be/7HNdxPJH2CM?si=WaMRldg8o79pr_br" TargetMode="External" Type="http://schemas.openxmlformats.org/officeDocument/2006/relationships/video"/></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340486" y="3855986"/>
            <a:ext cx="17607028" cy="2575028"/>
          </a:xfrm>
          <a:custGeom>
            <a:avLst/>
            <a:gdLst/>
            <a:ahLst/>
            <a:cxnLst/>
            <a:rect r="r" b="b" t="t" l="l"/>
            <a:pathLst>
              <a:path h="2575028" w="17607028">
                <a:moveTo>
                  <a:pt x="0" y="0"/>
                </a:moveTo>
                <a:lnTo>
                  <a:pt x="17607028" y="0"/>
                </a:lnTo>
                <a:lnTo>
                  <a:pt x="17607028" y="2575028"/>
                </a:lnTo>
                <a:lnTo>
                  <a:pt x="0" y="2575028"/>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945829" y="1028700"/>
            <a:ext cx="16396343" cy="7972722"/>
          </a:xfrm>
          <a:custGeom>
            <a:avLst/>
            <a:gdLst/>
            <a:ahLst/>
            <a:cxnLst/>
            <a:rect r="r" b="b" t="t" l="l"/>
            <a:pathLst>
              <a:path h="7972722" w="16396343">
                <a:moveTo>
                  <a:pt x="0" y="0"/>
                </a:moveTo>
                <a:lnTo>
                  <a:pt x="16396342" y="0"/>
                </a:lnTo>
                <a:lnTo>
                  <a:pt x="16396342" y="7972722"/>
                </a:lnTo>
                <a:lnTo>
                  <a:pt x="0" y="7972722"/>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3653314" y="710998"/>
            <a:ext cx="10981372" cy="6172200"/>
          </a:xfrm>
          <a:prstGeom prst="rect">
            <a:avLst/>
          </a:prstGeom>
        </p:spPr>
      </p:pic>
      <p:sp>
        <p:nvSpPr>
          <p:cNvPr name="Freeform 3" id="3"/>
          <p:cNvSpPr/>
          <p:nvPr/>
        </p:nvSpPr>
        <p:spPr>
          <a:xfrm flipH="false" flipV="false" rot="0">
            <a:off x="3493371" y="7492478"/>
            <a:ext cx="11301259" cy="1765822"/>
          </a:xfrm>
          <a:custGeom>
            <a:avLst/>
            <a:gdLst/>
            <a:ahLst/>
            <a:cxnLst/>
            <a:rect r="r" b="b" t="t" l="l"/>
            <a:pathLst>
              <a:path h="1765822" w="11301259">
                <a:moveTo>
                  <a:pt x="0" y="0"/>
                </a:moveTo>
                <a:lnTo>
                  <a:pt x="11301258" y="0"/>
                </a:lnTo>
                <a:lnTo>
                  <a:pt x="11301258" y="1765822"/>
                </a:lnTo>
                <a:lnTo>
                  <a:pt x="0" y="1765822"/>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954854" y="390415"/>
            <a:ext cx="14378291" cy="7979952"/>
          </a:xfrm>
          <a:custGeom>
            <a:avLst/>
            <a:gdLst/>
            <a:ahLst/>
            <a:cxnLst/>
            <a:rect r="r" b="b" t="t" l="l"/>
            <a:pathLst>
              <a:path h="7979952" w="14378291">
                <a:moveTo>
                  <a:pt x="0" y="0"/>
                </a:moveTo>
                <a:lnTo>
                  <a:pt x="14378292" y="0"/>
                </a:lnTo>
                <a:lnTo>
                  <a:pt x="14378292" y="7979952"/>
                </a:lnTo>
                <a:lnTo>
                  <a:pt x="0" y="7979952"/>
                </a:lnTo>
                <a:lnTo>
                  <a:pt x="0" y="0"/>
                </a:lnTo>
                <a:close/>
              </a:path>
            </a:pathLst>
          </a:custGeom>
          <a:blipFill>
            <a:blip r:embed="rId2"/>
            <a:stretch>
              <a:fillRect l="0" t="0" r="0" b="0"/>
            </a:stretch>
          </a:blipFill>
        </p:spPr>
      </p:sp>
      <p:sp>
        <p:nvSpPr>
          <p:cNvPr name="Freeform 3" id="3"/>
          <p:cNvSpPr/>
          <p:nvPr/>
        </p:nvSpPr>
        <p:spPr>
          <a:xfrm flipH="false" flipV="false" rot="0">
            <a:off x="9144000" y="8753015"/>
            <a:ext cx="7777963" cy="684640"/>
          </a:xfrm>
          <a:custGeom>
            <a:avLst/>
            <a:gdLst/>
            <a:ahLst/>
            <a:cxnLst/>
            <a:rect r="r" b="b" t="t" l="l"/>
            <a:pathLst>
              <a:path h="684640" w="7777963">
                <a:moveTo>
                  <a:pt x="0" y="0"/>
                </a:moveTo>
                <a:lnTo>
                  <a:pt x="7777963" y="0"/>
                </a:lnTo>
                <a:lnTo>
                  <a:pt x="7777963" y="684640"/>
                </a:lnTo>
                <a:lnTo>
                  <a:pt x="0" y="684640"/>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5958193" y="2328580"/>
            <a:ext cx="6371614" cy="6083684"/>
          </a:xfrm>
          <a:custGeom>
            <a:avLst/>
            <a:gdLst/>
            <a:ahLst/>
            <a:cxnLst/>
            <a:rect r="r" b="b" t="t" l="l"/>
            <a:pathLst>
              <a:path h="6083684" w="6371614">
                <a:moveTo>
                  <a:pt x="0" y="0"/>
                </a:moveTo>
                <a:lnTo>
                  <a:pt x="6371614" y="0"/>
                </a:lnTo>
                <a:lnTo>
                  <a:pt x="6371614" y="6083684"/>
                </a:lnTo>
                <a:lnTo>
                  <a:pt x="0" y="6083684"/>
                </a:lnTo>
                <a:lnTo>
                  <a:pt x="0" y="0"/>
                </a:lnTo>
                <a:close/>
              </a:path>
            </a:pathLst>
          </a:custGeom>
          <a:blipFill>
            <a:blip r:embed="rId2"/>
            <a:stretch>
              <a:fillRect l="0" t="0" r="0" b="0"/>
            </a:stretch>
          </a:blipFill>
        </p:spPr>
      </p:sp>
      <p:sp>
        <p:nvSpPr>
          <p:cNvPr name="TextBox 3" id="3"/>
          <p:cNvSpPr txBox="true"/>
          <p:nvPr/>
        </p:nvSpPr>
        <p:spPr>
          <a:xfrm rot="0">
            <a:off x="8630841" y="1627167"/>
            <a:ext cx="1026319" cy="396240"/>
          </a:xfrm>
          <a:prstGeom prst="rect">
            <a:avLst/>
          </a:prstGeom>
        </p:spPr>
        <p:txBody>
          <a:bodyPr anchor="t" rtlCol="false" tIns="0" lIns="0" bIns="0" rIns="0">
            <a:spAutoFit/>
          </a:bodyPr>
          <a:lstStyle/>
          <a:p>
            <a:pPr algn="ctr">
              <a:lnSpc>
                <a:spcPts val="3359"/>
              </a:lnSpc>
            </a:pPr>
            <a:r>
              <a:rPr lang="en-US" sz="2400">
                <a:solidFill>
                  <a:srgbClr val="FFFFFF"/>
                </a:solidFill>
                <a:latin typeface="Montserrat"/>
                <a:ea typeface="Montserrat"/>
                <a:cs typeface="Montserrat"/>
                <a:sym typeface="Montserrat"/>
              </a:rPr>
              <a:t>Survey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7161"/>
            <a:ext cx="15986505" cy="8672679"/>
          </a:xfrm>
          <a:custGeom>
            <a:avLst/>
            <a:gdLst/>
            <a:ahLst/>
            <a:cxnLst/>
            <a:rect r="r" b="b" t="t" l="l"/>
            <a:pathLst>
              <a:path h="8672679" w="15986505">
                <a:moveTo>
                  <a:pt x="0" y="0"/>
                </a:moveTo>
                <a:lnTo>
                  <a:pt x="15986505" y="0"/>
                </a:lnTo>
                <a:lnTo>
                  <a:pt x="15986505" y="8672678"/>
                </a:lnTo>
                <a:lnTo>
                  <a:pt x="0" y="8672678"/>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407235" y="1935500"/>
            <a:ext cx="4331223" cy="1299367"/>
          </a:xfrm>
          <a:custGeom>
            <a:avLst/>
            <a:gdLst/>
            <a:ahLst/>
            <a:cxnLst/>
            <a:rect r="r" b="b" t="t" l="l"/>
            <a:pathLst>
              <a:path h="1299367" w="4331223">
                <a:moveTo>
                  <a:pt x="0" y="0"/>
                </a:moveTo>
                <a:lnTo>
                  <a:pt x="4331223" y="0"/>
                </a:lnTo>
                <a:lnTo>
                  <a:pt x="4331223" y="1299367"/>
                </a:lnTo>
                <a:lnTo>
                  <a:pt x="0" y="1299367"/>
                </a:lnTo>
                <a:lnTo>
                  <a:pt x="0" y="0"/>
                </a:lnTo>
                <a:close/>
              </a:path>
            </a:pathLst>
          </a:custGeom>
          <a:blipFill>
            <a:blip r:embed="rId2"/>
            <a:stretch>
              <a:fillRect l="0" t="0" r="0" b="0"/>
            </a:stretch>
          </a:blipFill>
        </p:spPr>
      </p:sp>
      <p:sp>
        <p:nvSpPr>
          <p:cNvPr name="Freeform 3" id="3"/>
          <p:cNvSpPr/>
          <p:nvPr/>
        </p:nvSpPr>
        <p:spPr>
          <a:xfrm flipH="false" flipV="false" rot="0">
            <a:off x="649285" y="3394809"/>
            <a:ext cx="2922642" cy="912811"/>
          </a:xfrm>
          <a:custGeom>
            <a:avLst/>
            <a:gdLst/>
            <a:ahLst/>
            <a:cxnLst/>
            <a:rect r="r" b="b" t="t" l="l"/>
            <a:pathLst>
              <a:path h="912811" w="2922642">
                <a:moveTo>
                  <a:pt x="0" y="0"/>
                </a:moveTo>
                <a:lnTo>
                  <a:pt x="2922642" y="0"/>
                </a:lnTo>
                <a:lnTo>
                  <a:pt x="2922642" y="912811"/>
                </a:lnTo>
                <a:lnTo>
                  <a:pt x="0" y="912811"/>
                </a:lnTo>
                <a:lnTo>
                  <a:pt x="0" y="0"/>
                </a:lnTo>
                <a:close/>
              </a:path>
            </a:pathLst>
          </a:custGeom>
          <a:blipFill>
            <a:blip r:embed="rId3"/>
            <a:stretch>
              <a:fillRect l="0" t="0" r="0" b="-1657"/>
            </a:stretch>
          </a:blipFill>
        </p:spPr>
      </p:sp>
      <p:sp>
        <p:nvSpPr>
          <p:cNvPr name="Freeform 4" id="4"/>
          <p:cNvSpPr/>
          <p:nvPr/>
        </p:nvSpPr>
        <p:spPr>
          <a:xfrm flipH="false" flipV="false" rot="0">
            <a:off x="255954" y="4668784"/>
            <a:ext cx="5425157" cy="1681799"/>
          </a:xfrm>
          <a:custGeom>
            <a:avLst/>
            <a:gdLst/>
            <a:ahLst/>
            <a:cxnLst/>
            <a:rect r="r" b="b" t="t" l="l"/>
            <a:pathLst>
              <a:path h="1681799" w="5425157">
                <a:moveTo>
                  <a:pt x="0" y="0"/>
                </a:moveTo>
                <a:lnTo>
                  <a:pt x="5425157" y="0"/>
                </a:lnTo>
                <a:lnTo>
                  <a:pt x="5425157" y="1681799"/>
                </a:lnTo>
                <a:lnTo>
                  <a:pt x="0" y="1681799"/>
                </a:lnTo>
                <a:lnTo>
                  <a:pt x="0" y="0"/>
                </a:lnTo>
                <a:close/>
              </a:path>
            </a:pathLst>
          </a:custGeom>
          <a:blipFill>
            <a:blip r:embed="rId4"/>
            <a:stretch>
              <a:fillRect l="0" t="0" r="0" b="0"/>
            </a:stretch>
          </a:blipFill>
        </p:spPr>
      </p:sp>
      <p:sp>
        <p:nvSpPr>
          <p:cNvPr name="Freeform 5" id="5"/>
          <p:cNvSpPr/>
          <p:nvPr/>
        </p:nvSpPr>
        <p:spPr>
          <a:xfrm flipH="false" flipV="false" rot="0">
            <a:off x="407235" y="6712533"/>
            <a:ext cx="4492737" cy="1556981"/>
          </a:xfrm>
          <a:custGeom>
            <a:avLst/>
            <a:gdLst/>
            <a:ahLst/>
            <a:cxnLst/>
            <a:rect r="r" b="b" t="t" l="l"/>
            <a:pathLst>
              <a:path h="1556981" w="4492737">
                <a:moveTo>
                  <a:pt x="0" y="0"/>
                </a:moveTo>
                <a:lnTo>
                  <a:pt x="4492737" y="0"/>
                </a:lnTo>
                <a:lnTo>
                  <a:pt x="4492737" y="1556981"/>
                </a:lnTo>
                <a:lnTo>
                  <a:pt x="0" y="1556981"/>
                </a:lnTo>
                <a:lnTo>
                  <a:pt x="0" y="0"/>
                </a:lnTo>
                <a:close/>
              </a:path>
            </a:pathLst>
          </a:custGeom>
          <a:blipFill>
            <a:blip r:embed="rId5"/>
            <a:stretch>
              <a:fillRect l="-4791" t="0" r="-4791" b="0"/>
            </a:stretch>
          </a:blipFill>
        </p:spPr>
      </p:sp>
      <p:sp>
        <p:nvSpPr>
          <p:cNvPr name="Freeform 6" id="6"/>
          <p:cNvSpPr/>
          <p:nvPr/>
        </p:nvSpPr>
        <p:spPr>
          <a:xfrm flipH="false" flipV="false" rot="0">
            <a:off x="5681111" y="2157298"/>
            <a:ext cx="4689840" cy="1483162"/>
          </a:xfrm>
          <a:custGeom>
            <a:avLst/>
            <a:gdLst/>
            <a:ahLst/>
            <a:cxnLst/>
            <a:rect r="r" b="b" t="t" l="l"/>
            <a:pathLst>
              <a:path h="1483162" w="4689840">
                <a:moveTo>
                  <a:pt x="0" y="0"/>
                </a:moveTo>
                <a:lnTo>
                  <a:pt x="4689840" y="0"/>
                </a:lnTo>
                <a:lnTo>
                  <a:pt x="4689840" y="1483162"/>
                </a:lnTo>
                <a:lnTo>
                  <a:pt x="0" y="1483162"/>
                </a:lnTo>
                <a:lnTo>
                  <a:pt x="0" y="0"/>
                </a:lnTo>
                <a:close/>
              </a:path>
            </a:pathLst>
          </a:custGeom>
          <a:blipFill>
            <a:blip r:embed="rId6"/>
            <a:stretch>
              <a:fillRect l="0" t="0" r="0" b="0"/>
            </a:stretch>
          </a:blipFill>
        </p:spPr>
      </p:sp>
      <p:sp>
        <p:nvSpPr>
          <p:cNvPr name="Freeform 7" id="7"/>
          <p:cNvSpPr/>
          <p:nvPr/>
        </p:nvSpPr>
        <p:spPr>
          <a:xfrm flipH="false" flipV="false" rot="0">
            <a:off x="5853356" y="3851215"/>
            <a:ext cx="7296669" cy="2280209"/>
          </a:xfrm>
          <a:custGeom>
            <a:avLst/>
            <a:gdLst/>
            <a:ahLst/>
            <a:cxnLst/>
            <a:rect r="r" b="b" t="t" l="l"/>
            <a:pathLst>
              <a:path h="2280209" w="7296669">
                <a:moveTo>
                  <a:pt x="0" y="0"/>
                </a:moveTo>
                <a:lnTo>
                  <a:pt x="7296670" y="0"/>
                </a:lnTo>
                <a:lnTo>
                  <a:pt x="7296670" y="2280209"/>
                </a:lnTo>
                <a:lnTo>
                  <a:pt x="0" y="2280209"/>
                </a:lnTo>
                <a:lnTo>
                  <a:pt x="0" y="0"/>
                </a:lnTo>
                <a:close/>
              </a:path>
            </a:pathLst>
          </a:custGeom>
          <a:blipFill>
            <a:blip r:embed="rId7"/>
            <a:stretch>
              <a:fillRect l="0" t="0" r="0" b="0"/>
            </a:stretch>
          </a:blipFill>
        </p:spPr>
      </p:sp>
      <p:sp>
        <p:nvSpPr>
          <p:cNvPr name="Freeform 8" id="8"/>
          <p:cNvSpPr/>
          <p:nvPr/>
        </p:nvSpPr>
        <p:spPr>
          <a:xfrm flipH="false" flipV="false" rot="0">
            <a:off x="6011530" y="6245724"/>
            <a:ext cx="4630153" cy="2870695"/>
          </a:xfrm>
          <a:custGeom>
            <a:avLst/>
            <a:gdLst/>
            <a:ahLst/>
            <a:cxnLst/>
            <a:rect r="r" b="b" t="t" l="l"/>
            <a:pathLst>
              <a:path h="2870695" w="4630153">
                <a:moveTo>
                  <a:pt x="0" y="0"/>
                </a:moveTo>
                <a:lnTo>
                  <a:pt x="4630153" y="0"/>
                </a:lnTo>
                <a:lnTo>
                  <a:pt x="4630153" y="2870695"/>
                </a:lnTo>
                <a:lnTo>
                  <a:pt x="0" y="2870695"/>
                </a:lnTo>
                <a:lnTo>
                  <a:pt x="0" y="0"/>
                </a:lnTo>
                <a:close/>
              </a:path>
            </a:pathLst>
          </a:custGeom>
          <a:blipFill>
            <a:blip r:embed="rId8"/>
            <a:stretch>
              <a:fillRect l="0" t="0" r="0" b="0"/>
            </a:stretch>
          </a:blipFill>
        </p:spPr>
      </p:sp>
      <p:sp>
        <p:nvSpPr>
          <p:cNvPr name="Freeform 9" id="9"/>
          <p:cNvSpPr/>
          <p:nvPr/>
        </p:nvSpPr>
        <p:spPr>
          <a:xfrm flipH="false" flipV="false" rot="0">
            <a:off x="10641683" y="6346369"/>
            <a:ext cx="6228810" cy="3846290"/>
          </a:xfrm>
          <a:custGeom>
            <a:avLst/>
            <a:gdLst/>
            <a:ahLst/>
            <a:cxnLst/>
            <a:rect r="r" b="b" t="t" l="l"/>
            <a:pathLst>
              <a:path h="3846290" w="6228810">
                <a:moveTo>
                  <a:pt x="0" y="0"/>
                </a:moveTo>
                <a:lnTo>
                  <a:pt x="6228810" y="0"/>
                </a:lnTo>
                <a:lnTo>
                  <a:pt x="6228810" y="3846290"/>
                </a:lnTo>
                <a:lnTo>
                  <a:pt x="0" y="3846290"/>
                </a:lnTo>
                <a:lnTo>
                  <a:pt x="0" y="0"/>
                </a:lnTo>
                <a:close/>
              </a:path>
            </a:pathLst>
          </a:custGeom>
          <a:blipFill>
            <a:blip r:embed="rId9"/>
            <a:stretch>
              <a:fillRect l="0" t="0" r="0" b="0"/>
            </a:stretch>
          </a:blipFill>
        </p:spPr>
      </p:sp>
      <p:sp>
        <p:nvSpPr>
          <p:cNvPr name="TextBox 10" id="10"/>
          <p:cNvSpPr txBox="true"/>
          <p:nvPr/>
        </p:nvSpPr>
        <p:spPr>
          <a:xfrm rot="0">
            <a:off x="7159005" y="477346"/>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0" y="2043890"/>
            <a:ext cx="4415749" cy="2715685"/>
          </a:xfrm>
          <a:custGeom>
            <a:avLst/>
            <a:gdLst/>
            <a:ahLst/>
            <a:cxnLst/>
            <a:rect r="r" b="b" t="t" l="l"/>
            <a:pathLst>
              <a:path h="2715685" w="4415749">
                <a:moveTo>
                  <a:pt x="0" y="0"/>
                </a:moveTo>
                <a:lnTo>
                  <a:pt x="4415749" y="0"/>
                </a:lnTo>
                <a:lnTo>
                  <a:pt x="4415749" y="2715686"/>
                </a:lnTo>
                <a:lnTo>
                  <a:pt x="0" y="2715686"/>
                </a:lnTo>
                <a:lnTo>
                  <a:pt x="0" y="0"/>
                </a:lnTo>
                <a:close/>
              </a:path>
            </a:pathLst>
          </a:custGeom>
          <a:blipFill>
            <a:blip r:embed="rId2"/>
            <a:stretch>
              <a:fillRect l="0" t="0" r="0" b="0"/>
            </a:stretch>
          </a:blipFill>
        </p:spPr>
      </p:sp>
      <p:sp>
        <p:nvSpPr>
          <p:cNvPr name="Freeform 3" id="3"/>
          <p:cNvSpPr/>
          <p:nvPr/>
        </p:nvSpPr>
        <p:spPr>
          <a:xfrm flipH="false" flipV="false" rot="0">
            <a:off x="208248" y="5143500"/>
            <a:ext cx="3999252" cy="2480191"/>
          </a:xfrm>
          <a:custGeom>
            <a:avLst/>
            <a:gdLst/>
            <a:ahLst/>
            <a:cxnLst/>
            <a:rect r="r" b="b" t="t" l="l"/>
            <a:pathLst>
              <a:path h="2480191" w="3999252">
                <a:moveTo>
                  <a:pt x="0" y="0"/>
                </a:moveTo>
                <a:lnTo>
                  <a:pt x="3999252" y="0"/>
                </a:lnTo>
                <a:lnTo>
                  <a:pt x="3999252" y="2480191"/>
                </a:lnTo>
                <a:lnTo>
                  <a:pt x="0" y="2480191"/>
                </a:lnTo>
                <a:lnTo>
                  <a:pt x="0" y="0"/>
                </a:lnTo>
                <a:close/>
              </a:path>
            </a:pathLst>
          </a:custGeom>
          <a:blipFill>
            <a:blip r:embed="rId3"/>
            <a:stretch>
              <a:fillRect l="-1572" t="0" r="-1572" b="0"/>
            </a:stretch>
          </a:blipFill>
        </p:spPr>
      </p:sp>
      <p:sp>
        <p:nvSpPr>
          <p:cNvPr name="Freeform 4" id="4"/>
          <p:cNvSpPr/>
          <p:nvPr/>
        </p:nvSpPr>
        <p:spPr>
          <a:xfrm flipH="false" flipV="false" rot="0">
            <a:off x="5185990" y="2381300"/>
            <a:ext cx="5806254" cy="3570846"/>
          </a:xfrm>
          <a:custGeom>
            <a:avLst/>
            <a:gdLst/>
            <a:ahLst/>
            <a:cxnLst/>
            <a:rect r="r" b="b" t="t" l="l"/>
            <a:pathLst>
              <a:path h="3570846" w="5806254">
                <a:moveTo>
                  <a:pt x="0" y="0"/>
                </a:moveTo>
                <a:lnTo>
                  <a:pt x="5806255" y="0"/>
                </a:lnTo>
                <a:lnTo>
                  <a:pt x="5806255" y="3570846"/>
                </a:lnTo>
                <a:lnTo>
                  <a:pt x="0" y="3570846"/>
                </a:lnTo>
                <a:lnTo>
                  <a:pt x="0" y="0"/>
                </a:lnTo>
                <a:close/>
              </a:path>
            </a:pathLst>
          </a:custGeom>
          <a:blipFill>
            <a:blip r:embed="rId4"/>
            <a:stretch>
              <a:fillRect l="0" t="0" r="0" b="0"/>
            </a:stretch>
          </a:blipFill>
        </p:spPr>
      </p:sp>
      <p:sp>
        <p:nvSpPr>
          <p:cNvPr name="Freeform 5" id="5"/>
          <p:cNvSpPr/>
          <p:nvPr/>
        </p:nvSpPr>
        <p:spPr>
          <a:xfrm flipH="false" flipV="false" rot="0">
            <a:off x="5185990" y="6383596"/>
            <a:ext cx="6003038" cy="3744395"/>
          </a:xfrm>
          <a:custGeom>
            <a:avLst/>
            <a:gdLst/>
            <a:ahLst/>
            <a:cxnLst/>
            <a:rect r="r" b="b" t="t" l="l"/>
            <a:pathLst>
              <a:path h="3744395" w="6003038">
                <a:moveTo>
                  <a:pt x="0" y="0"/>
                </a:moveTo>
                <a:lnTo>
                  <a:pt x="6003038" y="0"/>
                </a:lnTo>
                <a:lnTo>
                  <a:pt x="6003038" y="3744395"/>
                </a:lnTo>
                <a:lnTo>
                  <a:pt x="0" y="3744395"/>
                </a:lnTo>
                <a:lnTo>
                  <a:pt x="0" y="0"/>
                </a:lnTo>
                <a:close/>
              </a:path>
            </a:pathLst>
          </a:custGeom>
          <a:blipFill>
            <a:blip r:embed="rId5"/>
            <a:stretch>
              <a:fillRect l="0" t="0" r="0" b="0"/>
            </a:stretch>
          </a:blipFill>
        </p:spPr>
      </p:sp>
      <p:sp>
        <p:nvSpPr>
          <p:cNvPr name="Freeform 6" id="6"/>
          <p:cNvSpPr/>
          <p:nvPr/>
        </p:nvSpPr>
        <p:spPr>
          <a:xfrm flipH="false" flipV="false" rot="0">
            <a:off x="11284350" y="2591293"/>
            <a:ext cx="6420202" cy="1982237"/>
          </a:xfrm>
          <a:custGeom>
            <a:avLst/>
            <a:gdLst/>
            <a:ahLst/>
            <a:cxnLst/>
            <a:rect r="r" b="b" t="t" l="l"/>
            <a:pathLst>
              <a:path h="1982237" w="6420202">
                <a:moveTo>
                  <a:pt x="0" y="0"/>
                </a:moveTo>
                <a:lnTo>
                  <a:pt x="6420202" y="0"/>
                </a:lnTo>
                <a:lnTo>
                  <a:pt x="6420202" y="1982237"/>
                </a:lnTo>
                <a:lnTo>
                  <a:pt x="0" y="1982237"/>
                </a:lnTo>
                <a:lnTo>
                  <a:pt x="0" y="0"/>
                </a:lnTo>
                <a:close/>
              </a:path>
            </a:pathLst>
          </a:custGeom>
          <a:blipFill>
            <a:blip r:embed="rId6"/>
            <a:stretch>
              <a:fillRect l="0" t="0" r="0" b="0"/>
            </a:stretch>
          </a:blipFill>
        </p:spPr>
      </p:sp>
      <p:sp>
        <p:nvSpPr>
          <p:cNvPr name="Freeform 7" id="7"/>
          <p:cNvSpPr/>
          <p:nvPr/>
        </p:nvSpPr>
        <p:spPr>
          <a:xfrm flipH="false" flipV="false" rot="0">
            <a:off x="11617168" y="4991640"/>
            <a:ext cx="5411300" cy="1921011"/>
          </a:xfrm>
          <a:custGeom>
            <a:avLst/>
            <a:gdLst/>
            <a:ahLst/>
            <a:cxnLst/>
            <a:rect r="r" b="b" t="t" l="l"/>
            <a:pathLst>
              <a:path h="1921011" w="5411300">
                <a:moveTo>
                  <a:pt x="0" y="0"/>
                </a:moveTo>
                <a:lnTo>
                  <a:pt x="5411300" y="0"/>
                </a:lnTo>
                <a:lnTo>
                  <a:pt x="5411300" y="1921012"/>
                </a:lnTo>
                <a:lnTo>
                  <a:pt x="0" y="1921012"/>
                </a:lnTo>
                <a:lnTo>
                  <a:pt x="0" y="0"/>
                </a:lnTo>
                <a:close/>
              </a:path>
            </a:pathLst>
          </a:custGeom>
          <a:blipFill>
            <a:blip r:embed="rId7"/>
            <a:stretch>
              <a:fillRect l="0" t="0" r="0" b="0"/>
            </a:stretch>
          </a:blipFill>
        </p:spPr>
      </p:sp>
      <p:sp>
        <p:nvSpPr>
          <p:cNvPr name="TextBox 8" id="8"/>
          <p:cNvSpPr txBox="true"/>
          <p:nvPr/>
        </p:nvSpPr>
        <p:spPr>
          <a:xfrm rot="0">
            <a:off x="5185990" y="477346"/>
            <a:ext cx="7916019"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 contd.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066468" y="3142020"/>
            <a:ext cx="16192832" cy="4291101"/>
          </a:xfrm>
          <a:custGeom>
            <a:avLst/>
            <a:gdLst/>
            <a:ahLst/>
            <a:cxnLst/>
            <a:rect r="r" b="b" t="t" l="l"/>
            <a:pathLst>
              <a:path h="4291101" w="16192832">
                <a:moveTo>
                  <a:pt x="0" y="0"/>
                </a:moveTo>
                <a:lnTo>
                  <a:pt x="16192832" y="0"/>
                </a:lnTo>
                <a:lnTo>
                  <a:pt x="16192832" y="4291100"/>
                </a:lnTo>
                <a:lnTo>
                  <a:pt x="0" y="4291100"/>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527801" y="295809"/>
            <a:ext cx="3232398" cy="1566544"/>
          </a:xfrm>
          <a:prstGeom prst="rect">
            <a:avLst/>
          </a:prstGeom>
        </p:spPr>
        <p:txBody>
          <a:bodyPr anchor="t" rtlCol="false" tIns="0" lIns="0" bIns="0" rIns="0">
            <a:spAutoFit/>
          </a:bodyPr>
          <a:lstStyle/>
          <a:p>
            <a:pPr algn="ctr">
              <a:lnSpc>
                <a:spcPts val="12880"/>
              </a:lnSpc>
            </a:pPr>
            <a:r>
              <a:rPr lang="en-US" sz="9200" b="true">
                <a:solidFill>
                  <a:srgbClr val="7B9F47"/>
                </a:solidFill>
                <a:latin typeface="Canva Sans Bold"/>
                <a:ea typeface="Canva Sans Bold"/>
                <a:cs typeface="Canva Sans Bold"/>
                <a:sym typeface="Canva Sans Bold"/>
              </a:rPr>
              <a:t>23-30</a:t>
            </a:r>
          </a:p>
        </p:txBody>
      </p:sp>
      <p:sp>
        <p:nvSpPr>
          <p:cNvPr name="TextBox 3" id="3"/>
          <p:cNvSpPr txBox="true"/>
          <p:nvPr/>
        </p:nvSpPr>
        <p:spPr>
          <a:xfrm rot="0">
            <a:off x="0" y="3460115"/>
            <a:ext cx="18288000" cy="3195319"/>
          </a:xfrm>
          <a:prstGeom prst="rect">
            <a:avLst/>
          </a:prstGeom>
        </p:spPr>
        <p:txBody>
          <a:bodyPr anchor="t" rtlCol="false" tIns="0" lIns="0" bIns="0" rIns="0">
            <a:spAutoFit/>
          </a:bodyPr>
          <a:lstStyle/>
          <a:p>
            <a:pPr algn="ctr">
              <a:lnSpc>
                <a:spcPts val="12880"/>
              </a:lnSpc>
              <a:spcBef>
                <a:spcPct val="0"/>
              </a:spcBef>
            </a:pPr>
            <a:r>
              <a:rPr lang="en-US" b="true" sz="9200">
                <a:solidFill>
                  <a:srgbClr val="FFFFFF"/>
                </a:solidFill>
                <a:latin typeface="Canva Sans Bold"/>
                <a:ea typeface="Canva Sans Bold"/>
                <a:cs typeface="Canva Sans Bold"/>
                <a:sym typeface="Canva Sans Bold"/>
              </a:rPr>
              <a:t>Entrepreneurship is in the cards!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597676" y="295809"/>
            <a:ext cx="3092648" cy="1566544"/>
          </a:xfrm>
          <a:prstGeom prst="rect">
            <a:avLst/>
          </a:prstGeom>
        </p:spPr>
        <p:txBody>
          <a:bodyPr anchor="t" rtlCol="false" tIns="0" lIns="0" bIns="0" rIns="0">
            <a:spAutoFit/>
          </a:bodyPr>
          <a:lstStyle/>
          <a:p>
            <a:pPr algn="ctr">
              <a:lnSpc>
                <a:spcPts val="12880"/>
              </a:lnSpc>
            </a:pPr>
            <a:r>
              <a:rPr lang="en-US" sz="9200" b="true">
                <a:solidFill>
                  <a:srgbClr val="7B9F47"/>
                </a:solidFill>
                <a:latin typeface="Canva Sans Bold"/>
                <a:ea typeface="Canva Sans Bold"/>
                <a:cs typeface="Canva Sans Bold"/>
                <a:sym typeface="Canva Sans Bold"/>
              </a:rPr>
              <a:t>16-23</a:t>
            </a:r>
          </a:p>
        </p:txBody>
      </p:sp>
      <p:sp>
        <p:nvSpPr>
          <p:cNvPr name="TextBox 3" id="3"/>
          <p:cNvSpPr txBox="true"/>
          <p:nvPr/>
        </p:nvSpPr>
        <p:spPr>
          <a:xfrm rot="0">
            <a:off x="0" y="3460115"/>
            <a:ext cx="18288000" cy="3195319"/>
          </a:xfrm>
          <a:prstGeom prst="rect">
            <a:avLst/>
          </a:prstGeom>
        </p:spPr>
        <p:txBody>
          <a:bodyPr anchor="t" rtlCol="false" tIns="0" lIns="0" bIns="0" rIns="0">
            <a:spAutoFit/>
          </a:bodyPr>
          <a:lstStyle/>
          <a:p>
            <a:pPr algn="ctr">
              <a:lnSpc>
                <a:spcPts val="12880"/>
              </a:lnSpc>
              <a:spcBef>
                <a:spcPct val="0"/>
              </a:spcBef>
            </a:pPr>
            <a:r>
              <a:rPr lang="en-US" b="true" sz="9200">
                <a:solidFill>
                  <a:srgbClr val="FFFFFF"/>
                </a:solidFill>
                <a:latin typeface="Canva Sans Bold"/>
                <a:ea typeface="Canva Sans Bold"/>
                <a:cs typeface="Canva Sans Bold"/>
                <a:sym typeface="Canva Sans Bold"/>
              </a:rPr>
              <a:t>You ca</a:t>
            </a:r>
            <a:r>
              <a:rPr lang="en-US" b="true" sz="9200">
                <a:solidFill>
                  <a:srgbClr val="FFFFFF"/>
                </a:solidFill>
                <a:latin typeface="Canva Sans Bold"/>
                <a:ea typeface="Canva Sans Bold"/>
                <a:cs typeface="Canva Sans Bold"/>
                <a:sym typeface="Canva Sans Bold"/>
              </a:rPr>
              <a:t>n get there, but it won’t be easy.</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5392192" y="295809"/>
            <a:ext cx="7503616" cy="1566544"/>
          </a:xfrm>
          <a:prstGeom prst="rect">
            <a:avLst/>
          </a:prstGeom>
        </p:spPr>
        <p:txBody>
          <a:bodyPr anchor="t" rtlCol="false" tIns="0" lIns="0" bIns="0" rIns="0">
            <a:spAutoFit/>
          </a:bodyPr>
          <a:lstStyle/>
          <a:p>
            <a:pPr algn="ctr">
              <a:lnSpc>
                <a:spcPts val="12880"/>
              </a:lnSpc>
            </a:pPr>
            <a:r>
              <a:rPr lang="en-US" sz="9200" b="true">
                <a:solidFill>
                  <a:srgbClr val="7B9F47"/>
                </a:solidFill>
                <a:latin typeface="Canva Sans Bold"/>
                <a:ea typeface="Canva Sans Bold"/>
                <a:cs typeface="Canva Sans Bold"/>
                <a:sym typeface="Canva Sans Bold"/>
              </a:rPr>
              <a:t>16 and below</a:t>
            </a:r>
          </a:p>
        </p:txBody>
      </p:sp>
      <p:sp>
        <p:nvSpPr>
          <p:cNvPr name="TextBox 3" id="3"/>
          <p:cNvSpPr txBox="true"/>
          <p:nvPr/>
        </p:nvSpPr>
        <p:spPr>
          <a:xfrm rot="0">
            <a:off x="832046" y="2896108"/>
            <a:ext cx="16623907" cy="4202430"/>
          </a:xfrm>
          <a:prstGeom prst="rect">
            <a:avLst/>
          </a:prstGeom>
        </p:spPr>
        <p:txBody>
          <a:bodyPr anchor="t" rtlCol="false" tIns="0" lIns="0" bIns="0" rIns="0">
            <a:spAutoFit/>
          </a:bodyPr>
          <a:lstStyle/>
          <a:p>
            <a:pPr algn="ctr">
              <a:lnSpc>
                <a:spcPts val="6719"/>
              </a:lnSpc>
              <a:spcBef>
                <a:spcPct val="0"/>
              </a:spcBef>
            </a:pPr>
            <a:r>
              <a:rPr lang="en-US" b="true" sz="4800">
                <a:solidFill>
                  <a:srgbClr val="FFFFFF"/>
                </a:solidFill>
                <a:latin typeface="Canva Sans Bold"/>
                <a:ea typeface="Canva Sans Bold"/>
                <a:cs typeface="Canva Sans Bold"/>
                <a:sym typeface="Canva Sans Bold"/>
              </a:rPr>
              <a:t>We aren't saying that being an e</a:t>
            </a:r>
            <a:r>
              <a:rPr lang="en-US" b="true" sz="4800">
                <a:solidFill>
                  <a:srgbClr val="FFFFFF"/>
                </a:solidFill>
                <a:latin typeface="Canva Sans Bold"/>
                <a:ea typeface="Canva Sans Bold"/>
                <a:cs typeface="Canva Sans Bold"/>
                <a:sym typeface="Canva Sans Bold"/>
              </a:rPr>
              <a:t>ntrepreneur will be impossible for you, but statistically, it may be more challenging than you may have originally expected… make sure that you really put your whole heart into it or entrepreneurship may be challenging for you.</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869132" y="1028700"/>
            <a:ext cx="14549736" cy="2018776"/>
          </a:xfrm>
          <a:custGeom>
            <a:avLst/>
            <a:gdLst/>
            <a:ahLst/>
            <a:cxnLst/>
            <a:rect r="r" b="b" t="t" l="l"/>
            <a:pathLst>
              <a:path h="2018776" w="14549736">
                <a:moveTo>
                  <a:pt x="0" y="0"/>
                </a:moveTo>
                <a:lnTo>
                  <a:pt x="14549736" y="0"/>
                </a:lnTo>
                <a:lnTo>
                  <a:pt x="14549736" y="2018776"/>
                </a:lnTo>
                <a:lnTo>
                  <a:pt x="0" y="2018776"/>
                </a:lnTo>
                <a:lnTo>
                  <a:pt x="0" y="0"/>
                </a:lnTo>
                <a:close/>
              </a:path>
            </a:pathLst>
          </a:custGeom>
          <a:blipFill>
            <a:blip r:embed="rId2"/>
            <a:stretch>
              <a:fillRect l="0" t="0" r="0" b="0"/>
            </a:stretch>
          </a:blipFill>
        </p:spPr>
      </p:sp>
      <p:sp>
        <p:nvSpPr>
          <p:cNvPr name="Freeform 3" id="3"/>
          <p:cNvSpPr/>
          <p:nvPr/>
        </p:nvSpPr>
        <p:spPr>
          <a:xfrm flipH="false" flipV="false" rot="0">
            <a:off x="4112915" y="3047476"/>
            <a:ext cx="10062171" cy="6716860"/>
          </a:xfrm>
          <a:custGeom>
            <a:avLst/>
            <a:gdLst/>
            <a:ahLst/>
            <a:cxnLst/>
            <a:rect r="r" b="b" t="t" l="l"/>
            <a:pathLst>
              <a:path h="6716860" w="10062171">
                <a:moveTo>
                  <a:pt x="0" y="0"/>
                </a:moveTo>
                <a:lnTo>
                  <a:pt x="10062170" y="0"/>
                </a:lnTo>
                <a:lnTo>
                  <a:pt x="10062170" y="6716859"/>
                </a:lnTo>
                <a:lnTo>
                  <a:pt x="0" y="6716859"/>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1490119" y="7450305"/>
            <a:ext cx="15307761" cy="8153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In this video, a group of MORTAR Alumni share their biggest challenges as entrepreneurs and how MORTAR is set up to respond to those challenges. Sit back and take notes</a:t>
            </a:r>
          </a:p>
        </p:txBody>
      </p:sp>
      <p:pic>
        <p:nvPicPr>
          <p:cNvPr name="Picture 3" id="3"/>
          <p:cNvPicPr>
            <a:picLocks noChangeAspect="true"/>
          </p:cNvPicPr>
          <p:nvPr>
            <a:videoFile r:link="rId3"/>
          </p:nvPr>
        </p:nvPicPr>
        <p:blipFill>
          <a:blip r:embed="rId2"/>
          <a:stretch>
            <a:fillRect/>
          </a:stretch>
        </p:blipFill>
        <p:spPr>
          <a:xfrm rot="0">
            <a:off x="3653314" y="937919"/>
            <a:ext cx="10981372" cy="6172200"/>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3544384" y="3874837"/>
            <a:ext cx="11199231" cy="2537326"/>
          </a:xfrm>
          <a:custGeom>
            <a:avLst/>
            <a:gdLst/>
            <a:ahLst/>
            <a:cxnLst/>
            <a:rect r="r" b="b" t="t" l="l"/>
            <a:pathLst>
              <a:path h="2537326" w="11199231">
                <a:moveTo>
                  <a:pt x="0" y="0"/>
                </a:moveTo>
                <a:lnTo>
                  <a:pt x="11199232" y="0"/>
                </a:lnTo>
                <a:lnTo>
                  <a:pt x="11199232" y="2537326"/>
                </a:lnTo>
                <a:lnTo>
                  <a:pt x="0" y="2537326"/>
                </a:lnTo>
                <a:lnTo>
                  <a:pt x="0" y="0"/>
                </a:lnTo>
                <a:close/>
              </a:path>
            </a:pathLst>
          </a:custGeom>
          <a:blipFill>
            <a:blip r:embed="rId2"/>
            <a:stretch>
              <a:fillRect l="0" t="0" r="0" b="0"/>
            </a:stretch>
          </a:blipFill>
        </p:spPr>
      </p:sp>
      <p:sp>
        <p:nvSpPr>
          <p:cNvPr name="TextBox 3" id="3"/>
          <p:cNvSpPr txBox="true"/>
          <p:nvPr/>
        </p:nvSpPr>
        <p:spPr>
          <a:xfrm rot="0">
            <a:off x="7159005" y="857250"/>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201706" y="1289846"/>
            <a:ext cx="15884588" cy="6850229"/>
          </a:xfrm>
          <a:custGeom>
            <a:avLst/>
            <a:gdLst/>
            <a:ahLst/>
            <a:cxnLst/>
            <a:rect r="r" b="b" t="t" l="l"/>
            <a:pathLst>
              <a:path h="6850229" w="15884588">
                <a:moveTo>
                  <a:pt x="0" y="0"/>
                </a:moveTo>
                <a:lnTo>
                  <a:pt x="15884588" y="0"/>
                </a:lnTo>
                <a:lnTo>
                  <a:pt x="15884588" y="6850228"/>
                </a:lnTo>
                <a:lnTo>
                  <a:pt x="0" y="6850228"/>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1188367"/>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3472849" y="4333913"/>
            <a:ext cx="11675120" cy="20726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Think about it:</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What does failure mean to you now that you’ve had a chance to think about it? </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What have you learned from the failures in your life?</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Submit your assignment</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You may only submit one file with maximum 100 MB in size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345057" y="666954"/>
            <a:ext cx="13597886" cy="2430622"/>
          </a:xfrm>
          <a:custGeom>
            <a:avLst/>
            <a:gdLst/>
            <a:ahLst/>
            <a:cxnLst/>
            <a:rect r="r" b="b" t="t" l="l"/>
            <a:pathLst>
              <a:path h="2430622" w="13597886">
                <a:moveTo>
                  <a:pt x="0" y="0"/>
                </a:moveTo>
                <a:lnTo>
                  <a:pt x="13597886" y="0"/>
                </a:lnTo>
                <a:lnTo>
                  <a:pt x="13597886" y="2430622"/>
                </a:lnTo>
                <a:lnTo>
                  <a:pt x="0" y="2430622"/>
                </a:lnTo>
                <a:lnTo>
                  <a:pt x="0" y="0"/>
                </a:lnTo>
                <a:close/>
              </a:path>
            </a:pathLst>
          </a:custGeom>
          <a:blipFill>
            <a:blip r:embed="rId2"/>
            <a:stretch>
              <a:fillRect l="0" t="0" r="0" b="0"/>
            </a:stretch>
          </a:blipFill>
        </p:spPr>
      </p:sp>
      <p:sp>
        <p:nvSpPr>
          <p:cNvPr name="Freeform 3" id="3"/>
          <p:cNvSpPr/>
          <p:nvPr/>
        </p:nvSpPr>
        <p:spPr>
          <a:xfrm flipH="false" flipV="false" rot="0">
            <a:off x="4603734" y="3097576"/>
            <a:ext cx="9080533" cy="4994293"/>
          </a:xfrm>
          <a:custGeom>
            <a:avLst/>
            <a:gdLst/>
            <a:ahLst/>
            <a:cxnLst/>
            <a:rect r="r" b="b" t="t" l="l"/>
            <a:pathLst>
              <a:path h="4994293" w="9080533">
                <a:moveTo>
                  <a:pt x="0" y="0"/>
                </a:moveTo>
                <a:lnTo>
                  <a:pt x="9080532" y="0"/>
                </a:lnTo>
                <a:lnTo>
                  <a:pt x="9080532" y="4994293"/>
                </a:lnTo>
                <a:lnTo>
                  <a:pt x="0" y="4994293"/>
                </a:lnTo>
                <a:lnTo>
                  <a:pt x="0" y="0"/>
                </a:lnTo>
                <a:close/>
              </a:path>
            </a:pathLst>
          </a:custGeom>
          <a:blipFill>
            <a:blip r:embed="rId3"/>
            <a:stretch>
              <a:fillRect l="0" t="0" r="0" b="0"/>
            </a:stretch>
          </a:blipFill>
        </p:spPr>
      </p:sp>
      <p:sp>
        <p:nvSpPr>
          <p:cNvPr name="TextBox 4" id="4"/>
          <p:cNvSpPr txBox="true"/>
          <p:nvPr/>
        </p:nvSpPr>
        <p:spPr>
          <a:xfrm rot="0">
            <a:off x="1891014" y="8781579"/>
            <a:ext cx="14505971" cy="1234440"/>
          </a:xfrm>
          <a:prstGeom prst="rect">
            <a:avLst/>
          </a:prstGeom>
        </p:spPr>
        <p:txBody>
          <a:bodyPr anchor="t" rtlCol="false" tIns="0" lIns="0" bIns="0" rIns="0">
            <a:spAutoFit/>
          </a:bodyPr>
          <a:lstStyle/>
          <a:p>
            <a:pPr algn="ctr">
              <a:lnSpc>
                <a:spcPts val="3359"/>
              </a:lnSpc>
              <a:spcBef>
                <a:spcPct val="0"/>
              </a:spcBef>
            </a:pPr>
            <a:r>
              <a:rPr lang="en-US" sz="2400">
                <a:solidFill>
                  <a:srgbClr val="FFFFFF"/>
                </a:solidFill>
                <a:latin typeface="Canva Sans"/>
                <a:ea typeface="Canva Sans"/>
                <a:cs typeface="Canva Sans"/>
                <a:sym typeface="Canva Sans"/>
              </a:rPr>
              <a:t>Identify your kryptonite. These can be gaps you need to work on or skills you need to develop. Use art supplies to create your superhero logo. Create your superhero squad. This can include friends, family, and mentors. What is your squad’s name? How will you work together?</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1082471"/>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4174331" y="3638020"/>
            <a:ext cx="9939338" cy="33299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Think about it:</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Has your definition of success and failure changed at all? </a:t>
            </a:r>
          </a:p>
          <a:p>
            <a:pPr algn="ctr">
              <a:lnSpc>
                <a:spcPts val="3359"/>
              </a:lnSpc>
              <a:spcBef>
                <a:spcPct val="0"/>
              </a:spcBef>
            </a:pPr>
          </a:p>
          <a:p>
            <a:pPr algn="ctr">
              <a:lnSpc>
                <a:spcPts val="3359"/>
              </a:lnSpc>
              <a:spcBef>
                <a:spcPct val="0"/>
              </a:spcBef>
            </a:pPr>
            <a:r>
              <a:rPr lang="en-US" b="true" sz="2400">
                <a:solidFill>
                  <a:srgbClr val="FFFFFF"/>
                </a:solidFill>
                <a:latin typeface="Canva Sans Bold"/>
                <a:ea typeface="Canva Sans Bold"/>
                <a:cs typeface="Canva Sans Bold"/>
                <a:sym typeface="Canva Sans Bold"/>
              </a:rPr>
              <a:t>What does success look like now, personally and for your business?</a:t>
            </a:r>
          </a:p>
          <a:p>
            <a:pPr algn="ctr">
              <a:lnSpc>
                <a:spcPts val="3359"/>
              </a:lnSpc>
              <a:spcBef>
                <a:spcPct val="0"/>
              </a:spcBef>
            </a:pPr>
          </a:p>
          <a:p>
            <a:pPr algn="ctr">
              <a:lnSpc>
                <a:spcPts val="3359"/>
              </a:lnSpc>
              <a:spcBef>
                <a:spcPct val="0"/>
              </a:spcBef>
            </a:pPr>
            <a:r>
              <a:rPr lang="en-US" b="true" sz="2400">
                <a:solidFill>
                  <a:srgbClr val="FFFFFF"/>
                </a:solidFill>
                <a:latin typeface="Canva Sans Bold"/>
                <a:ea typeface="Canva Sans Bold"/>
                <a:cs typeface="Canva Sans Bold"/>
                <a:sym typeface="Canva Sans Bold"/>
              </a:rPr>
              <a:t>What does failure look like now, personally and for your business?</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Submit your assignment</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You may only submit one file with maximum 100 MB in size</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875538" y="1264008"/>
            <a:ext cx="2536924"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Quiz</a:t>
            </a:r>
          </a:p>
        </p:txBody>
      </p:sp>
      <p:sp>
        <p:nvSpPr>
          <p:cNvPr name="TextBox 3" id="3"/>
          <p:cNvSpPr txBox="true"/>
          <p:nvPr/>
        </p:nvSpPr>
        <p:spPr>
          <a:xfrm rot="0">
            <a:off x="473262" y="3032896"/>
            <a:ext cx="8446145" cy="2910840"/>
          </a:xfrm>
          <a:prstGeom prst="rect">
            <a:avLst/>
          </a:prstGeom>
        </p:spPr>
        <p:txBody>
          <a:bodyPr anchor="t" rtlCol="false" tIns="0" lIns="0" bIns="0" rIns="0">
            <a:spAutoFit/>
          </a:bodyPr>
          <a:lstStyle/>
          <a:p>
            <a:pPr algn="l" marL="518160" indent="-259080" lvl="1">
              <a:lnSpc>
                <a:spcPts val="3359"/>
              </a:lnSpc>
              <a:spcBef>
                <a:spcPct val="0"/>
              </a:spcBef>
              <a:buAutoNum type="arabicPeriod" startAt="1"/>
            </a:pPr>
            <a:r>
              <a:rPr lang="en-US" b="true" sz="2400">
                <a:solidFill>
                  <a:srgbClr val="FFFFFF"/>
                </a:solidFill>
                <a:latin typeface="Canva Sans Bold"/>
                <a:ea typeface="Canva Sans Bold"/>
                <a:cs typeface="Canva Sans Bold"/>
                <a:sym typeface="Canva Sans Bold"/>
              </a:rPr>
              <a:t>True or false: Success looks the same for everyone</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Choose only ONE best answer.</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A</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True - Everyone wants to make lots of money! </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B</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False - Everyone can have their own definition of success</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This answer is correct.</a:t>
            </a:r>
          </a:p>
        </p:txBody>
      </p:sp>
      <p:sp>
        <p:nvSpPr>
          <p:cNvPr name="TextBox 4" id="4"/>
          <p:cNvSpPr txBox="true"/>
          <p:nvPr/>
        </p:nvSpPr>
        <p:spPr>
          <a:xfrm rot="0">
            <a:off x="10031983" y="2621280"/>
            <a:ext cx="7227317" cy="5006340"/>
          </a:xfrm>
          <a:prstGeom prst="rect">
            <a:avLst/>
          </a:prstGeom>
        </p:spPr>
        <p:txBody>
          <a:bodyPr anchor="t" rtlCol="false" tIns="0" lIns="0" bIns="0" rIns="0">
            <a:spAutoFit/>
          </a:bodyPr>
          <a:lstStyle/>
          <a:p>
            <a:pPr algn="l" marL="518160" indent="-259080" lvl="1">
              <a:lnSpc>
                <a:spcPts val="3359"/>
              </a:lnSpc>
              <a:spcBef>
                <a:spcPct val="0"/>
              </a:spcBef>
              <a:buAutoNum type="arabicPeriod" startAt="1"/>
            </a:pPr>
            <a:r>
              <a:rPr lang="en-US" sz="2400">
                <a:solidFill>
                  <a:srgbClr val="FFFFFF"/>
                </a:solidFill>
                <a:latin typeface="Canva Sans"/>
                <a:ea typeface="Canva Sans"/>
                <a:cs typeface="Canva Sans"/>
                <a:sym typeface="Canva Sans"/>
              </a:rPr>
              <a:t>According to panelist, Donny Harper, from this lesson’s panel discussion, the best way to manage expectations is by:</a:t>
            </a:r>
          </a:p>
          <a:p>
            <a:pPr algn="ctr">
              <a:lnSpc>
                <a:spcPts val="3359"/>
              </a:lnSpc>
              <a:spcBef>
                <a:spcPct val="0"/>
              </a:spcBef>
            </a:pPr>
            <a:r>
              <a:rPr lang="en-US" sz="2400">
                <a:solidFill>
                  <a:srgbClr val="FFFFFF"/>
                </a:solidFill>
                <a:latin typeface="Canva Sans"/>
                <a:ea typeface="Canva Sans"/>
                <a:cs typeface="Canva Sans"/>
                <a:sym typeface="Canva Sans"/>
              </a:rPr>
              <a:t>Choose only ONE best answer.</a:t>
            </a:r>
          </a:p>
          <a:p>
            <a:pPr algn="ctr">
              <a:lnSpc>
                <a:spcPts val="3359"/>
              </a:lnSpc>
              <a:spcBef>
                <a:spcPct val="0"/>
              </a:spcBef>
            </a:pPr>
            <a:r>
              <a:rPr lang="en-US" sz="2400">
                <a:solidFill>
                  <a:srgbClr val="FFFFFF"/>
                </a:solidFill>
                <a:latin typeface="Canva Sans"/>
                <a:ea typeface="Canva Sans"/>
                <a:cs typeface="Canva Sans"/>
                <a:sym typeface="Canva Sans"/>
              </a:rPr>
              <a:t>A</a:t>
            </a:r>
          </a:p>
          <a:p>
            <a:pPr algn="ctr">
              <a:lnSpc>
                <a:spcPts val="3359"/>
              </a:lnSpc>
              <a:spcBef>
                <a:spcPct val="0"/>
              </a:spcBef>
            </a:pPr>
            <a:r>
              <a:rPr lang="en-US" sz="2400">
                <a:solidFill>
                  <a:srgbClr val="FFFFFF"/>
                </a:solidFill>
                <a:latin typeface="Canva Sans"/>
                <a:ea typeface="Canva Sans"/>
                <a:cs typeface="Canva Sans"/>
                <a:sym typeface="Canva Sans"/>
              </a:rPr>
              <a:t>Setting clear business goals and being flexible</a:t>
            </a:r>
          </a:p>
          <a:p>
            <a:pPr algn="ctr">
              <a:lnSpc>
                <a:spcPts val="3359"/>
              </a:lnSpc>
              <a:spcBef>
                <a:spcPct val="0"/>
              </a:spcBef>
            </a:pPr>
            <a:r>
              <a:rPr lang="en-US" sz="2400">
                <a:solidFill>
                  <a:srgbClr val="FFFFFF"/>
                </a:solidFill>
                <a:latin typeface="Canva Sans"/>
                <a:ea typeface="Canva Sans"/>
                <a:cs typeface="Canva Sans"/>
                <a:sym typeface="Canva Sans"/>
              </a:rPr>
              <a:t>B</a:t>
            </a:r>
          </a:p>
          <a:p>
            <a:pPr algn="ctr">
              <a:lnSpc>
                <a:spcPts val="3359"/>
              </a:lnSpc>
              <a:spcBef>
                <a:spcPct val="0"/>
              </a:spcBef>
            </a:pPr>
            <a:r>
              <a:rPr lang="en-US" sz="2400">
                <a:solidFill>
                  <a:srgbClr val="FFFFFF"/>
                </a:solidFill>
                <a:latin typeface="Canva Sans"/>
                <a:ea typeface="Canva Sans"/>
                <a:cs typeface="Canva Sans"/>
                <a:sym typeface="Canva Sans"/>
              </a:rPr>
              <a:t>Don’t have any!</a:t>
            </a:r>
          </a:p>
          <a:p>
            <a:pPr algn="ctr">
              <a:lnSpc>
                <a:spcPts val="3359"/>
              </a:lnSpc>
              <a:spcBef>
                <a:spcPct val="0"/>
              </a:spcBef>
            </a:pPr>
            <a:r>
              <a:rPr lang="en-US" sz="2400">
                <a:solidFill>
                  <a:srgbClr val="FFFFFF"/>
                </a:solidFill>
                <a:latin typeface="Canva Sans"/>
                <a:ea typeface="Canva Sans"/>
                <a:cs typeface="Canva Sans"/>
                <a:sym typeface="Canva Sans"/>
              </a:rPr>
              <a:t>C</a:t>
            </a:r>
          </a:p>
          <a:p>
            <a:pPr algn="ctr">
              <a:lnSpc>
                <a:spcPts val="3359"/>
              </a:lnSpc>
              <a:spcBef>
                <a:spcPct val="0"/>
              </a:spcBef>
            </a:pPr>
            <a:r>
              <a:rPr lang="en-US" sz="2400">
                <a:solidFill>
                  <a:srgbClr val="FFFFFF"/>
                </a:solidFill>
                <a:latin typeface="Canva Sans"/>
                <a:ea typeface="Canva Sans"/>
                <a:cs typeface="Canva Sans"/>
                <a:sym typeface="Canva Sans"/>
              </a:rPr>
              <a:t>Make sure expectations are low so that you don’t let yourself down</a:t>
            </a:r>
          </a:p>
          <a:p>
            <a:pPr algn="ctr">
              <a:lnSpc>
                <a:spcPts val="3359"/>
              </a:lnSpc>
              <a:spcBef>
                <a:spcPct val="0"/>
              </a:spcBef>
            </a:pPr>
            <a:r>
              <a:rPr lang="en-US" sz="2400">
                <a:solidFill>
                  <a:srgbClr val="FFFFFF"/>
                </a:solidFill>
                <a:latin typeface="Canva Sans"/>
                <a:ea typeface="Canva Sans"/>
                <a:cs typeface="Canva Sans"/>
                <a:sym typeface="Canva Sans"/>
              </a:rPr>
              <a:t>This answer is correct.</a:t>
            </a:r>
          </a:p>
        </p:txBody>
      </p:sp>
      <p:sp>
        <p:nvSpPr>
          <p:cNvPr name="TextBox 5" id="5"/>
          <p:cNvSpPr txBox="true"/>
          <p:nvPr/>
        </p:nvSpPr>
        <p:spPr>
          <a:xfrm rot="0">
            <a:off x="308955" y="6709027"/>
            <a:ext cx="9978033" cy="2910840"/>
          </a:xfrm>
          <a:prstGeom prst="rect">
            <a:avLst/>
          </a:prstGeom>
        </p:spPr>
        <p:txBody>
          <a:bodyPr anchor="t" rtlCol="false" tIns="0" lIns="0" bIns="0" rIns="0">
            <a:spAutoFit/>
          </a:bodyPr>
          <a:lstStyle/>
          <a:p>
            <a:pPr algn="l" marL="518160" indent="-259080" lvl="1">
              <a:lnSpc>
                <a:spcPts val="3359"/>
              </a:lnSpc>
              <a:spcBef>
                <a:spcPct val="0"/>
              </a:spcBef>
              <a:buAutoNum type="arabicPeriod" startAt="1"/>
            </a:pPr>
            <a:r>
              <a:rPr lang="en-US" b="true" sz="2400">
                <a:solidFill>
                  <a:srgbClr val="FFFFFF"/>
                </a:solidFill>
                <a:latin typeface="Canva Sans Bold"/>
                <a:ea typeface="Canva Sans Bold"/>
                <a:cs typeface="Canva Sans Bold"/>
                <a:sym typeface="Canva Sans Bold"/>
              </a:rPr>
              <a:t>Who can you reach out to for support in building your business?</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Choose only ONE best answer.</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A</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Friends, family, community members, and professionals</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B</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No one! It’s all on me!</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This answer is correct.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5310688" y="351861"/>
            <a:ext cx="7666623" cy="9583279"/>
          </a:xfrm>
          <a:custGeom>
            <a:avLst/>
            <a:gdLst/>
            <a:ahLst/>
            <a:cxnLst/>
            <a:rect r="r" b="b" t="t" l="l"/>
            <a:pathLst>
              <a:path h="9583279" w="7666623">
                <a:moveTo>
                  <a:pt x="0" y="0"/>
                </a:moveTo>
                <a:lnTo>
                  <a:pt x="7666624" y="0"/>
                </a:lnTo>
                <a:lnTo>
                  <a:pt x="7666624" y="9583278"/>
                </a:lnTo>
                <a:lnTo>
                  <a:pt x="0" y="9583278"/>
                </a:lnTo>
                <a:lnTo>
                  <a:pt x="0" y="0"/>
                </a:lnTo>
                <a:close/>
              </a:path>
            </a:pathLst>
          </a:custGeom>
          <a:blipFill>
            <a:blip r:embed="rId2"/>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635800" y="3048689"/>
            <a:ext cx="13016401" cy="3305753"/>
          </a:xfrm>
          <a:custGeom>
            <a:avLst/>
            <a:gdLst/>
            <a:ahLst/>
            <a:cxnLst/>
            <a:rect r="r" b="b" t="t" l="l"/>
            <a:pathLst>
              <a:path h="3305753" w="13016401">
                <a:moveTo>
                  <a:pt x="0" y="0"/>
                </a:moveTo>
                <a:lnTo>
                  <a:pt x="13016400" y="0"/>
                </a:lnTo>
                <a:lnTo>
                  <a:pt x="13016400" y="3305753"/>
                </a:lnTo>
                <a:lnTo>
                  <a:pt x="0" y="3305753"/>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DAHK-6pwWM0</dc:identifier>
  <dcterms:modified xsi:type="dcterms:W3CDTF">2011-08-01T06:04:30Z</dcterms:modified>
  <cp:revision>1</cp:revision>
  <dc:title>Lesson 2</dc:title>
</cp:coreProperties>
</file>