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x="18288000" cy="10287000"/>
  <p:notesSz cx="6858000" cy="9144000"/>
  <p:embeddedFontLst>
    <p:embeddedFont>
      <p:font typeface="Montserrat Bold" charset="1" panose="00000800000000000000"/>
      <p:regular r:id="rId33"/>
    </p:embeddedFont>
    <p:embeddedFont>
      <p:font typeface="Montserrat" charset="1" panose="00000500000000000000"/>
      <p:regular r:id="rId34"/>
    </p:embeddedFont>
    <p:embeddedFont>
      <p:font typeface="Canva Sans Bold" charset="1" panose="020B0803030501040103"/>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https://youtu.be/l0qm878N_o4?si=wG1PFO-2Ifl0gyQz" TargetMode="External" Type="http://schemas.openxmlformats.org/officeDocument/2006/relationships/video"/></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https://youtu.be/3Lh54ugZqIo?si=u0weBRJlu2_aLp82" TargetMode="External" Type="http://schemas.openxmlformats.org/officeDocument/2006/relationships/video"/></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https://youtu.be/nopWOC4SRm4?si=vwp6xMwGj4_mp077" TargetMode="External" Type="http://schemas.openxmlformats.org/officeDocument/2006/relationships/video"/></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910352" y="1458942"/>
            <a:ext cx="16467297" cy="7369115"/>
          </a:xfrm>
          <a:custGeom>
            <a:avLst/>
            <a:gdLst/>
            <a:ahLst/>
            <a:cxnLst/>
            <a:rect r="r" b="b" t="t" l="l"/>
            <a:pathLst>
              <a:path h="7369115" w="16467297">
                <a:moveTo>
                  <a:pt x="0" y="0"/>
                </a:moveTo>
                <a:lnTo>
                  <a:pt x="16467296" y="0"/>
                </a:lnTo>
                <a:lnTo>
                  <a:pt x="16467296" y="7369116"/>
                </a:lnTo>
                <a:lnTo>
                  <a:pt x="0" y="7369116"/>
                </a:lnTo>
                <a:lnTo>
                  <a:pt x="0" y="0"/>
                </a:lnTo>
                <a:close/>
              </a:path>
            </a:pathLst>
          </a:custGeom>
          <a:blipFill>
            <a:blip r:embed="rId2"/>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2602036" y="3658259"/>
            <a:ext cx="13083928" cy="1885950"/>
          </a:xfrm>
          <a:prstGeom prst="rect">
            <a:avLst/>
          </a:prstGeom>
        </p:spPr>
        <p:txBody>
          <a:bodyPr anchor="t" rtlCol="false" tIns="0" lIns="0" bIns="0" rIns="0">
            <a:spAutoFit/>
          </a:bodyPr>
          <a:lstStyle/>
          <a:p>
            <a:pPr algn="ctr">
              <a:lnSpc>
                <a:spcPts val="5040"/>
              </a:lnSpc>
              <a:spcBef>
                <a:spcPct val="0"/>
              </a:spcBef>
            </a:pPr>
            <a:r>
              <a:rPr lang="en-US" b="true" sz="3600">
                <a:solidFill>
                  <a:srgbClr val="FAC51C"/>
                </a:solidFill>
                <a:latin typeface="Montserrat Bold"/>
                <a:ea typeface="Montserrat Bold"/>
                <a:cs typeface="Montserrat Bold"/>
                <a:sym typeface="Montserrat Bold"/>
              </a:rPr>
              <a:t>The Four-One-One</a:t>
            </a:r>
          </a:p>
          <a:p>
            <a:pPr algn="ctr">
              <a:lnSpc>
                <a:spcPts val="3359"/>
              </a:lnSpc>
              <a:spcBef>
                <a:spcPct val="0"/>
              </a:spcBef>
            </a:pPr>
            <a:r>
              <a:rPr lang="en-US" sz="2400">
                <a:solidFill>
                  <a:srgbClr val="FFFFFF"/>
                </a:solidFill>
                <a:latin typeface="Montserrat"/>
                <a:ea typeface="Montserrat"/>
                <a:cs typeface="Montserrat"/>
                <a:sym typeface="Montserrat"/>
              </a:rPr>
              <a:t>This is when things get real. We’re going to dive into the more technical aspects of starting or growing a business. To balance out the cut-and-dry, we’ll also be dissecting the creative aspects of a business including branding and storytelling.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554168" y="3265017"/>
            <a:ext cx="15179664" cy="3756967"/>
          </a:xfrm>
          <a:custGeom>
            <a:avLst/>
            <a:gdLst/>
            <a:ahLst/>
            <a:cxnLst/>
            <a:rect r="r" b="b" t="t" l="l"/>
            <a:pathLst>
              <a:path h="3756967" w="15179664">
                <a:moveTo>
                  <a:pt x="0" y="0"/>
                </a:moveTo>
                <a:lnTo>
                  <a:pt x="15179664" y="0"/>
                </a:lnTo>
                <a:lnTo>
                  <a:pt x="15179664" y="3756966"/>
                </a:lnTo>
                <a:lnTo>
                  <a:pt x="0" y="3756966"/>
                </a:lnTo>
                <a:lnTo>
                  <a:pt x="0" y="0"/>
                </a:lnTo>
                <a:close/>
              </a:path>
            </a:pathLst>
          </a:custGeom>
          <a:blipFill>
            <a:blip r:embed="rId2"/>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403164" y="3094387"/>
            <a:ext cx="15481672" cy="3909122"/>
          </a:xfrm>
          <a:custGeom>
            <a:avLst/>
            <a:gdLst/>
            <a:ahLst/>
            <a:cxnLst/>
            <a:rect r="r" b="b" t="t" l="l"/>
            <a:pathLst>
              <a:path h="3909122" w="15481672">
                <a:moveTo>
                  <a:pt x="0" y="0"/>
                </a:moveTo>
                <a:lnTo>
                  <a:pt x="15481672" y="0"/>
                </a:lnTo>
                <a:lnTo>
                  <a:pt x="15481672" y="3909122"/>
                </a:lnTo>
                <a:lnTo>
                  <a:pt x="0" y="3909122"/>
                </a:lnTo>
                <a:lnTo>
                  <a:pt x="0" y="0"/>
                </a:lnTo>
                <a:close/>
              </a:path>
            </a:pathLst>
          </a:custGeom>
          <a:blipFill>
            <a:blip r:embed="rId2"/>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816906" y="1028700"/>
            <a:ext cx="11301259" cy="1214885"/>
          </a:xfrm>
          <a:custGeom>
            <a:avLst/>
            <a:gdLst/>
            <a:ahLst/>
            <a:cxnLst/>
            <a:rect r="r" b="b" t="t" l="l"/>
            <a:pathLst>
              <a:path h="1214885" w="11301259">
                <a:moveTo>
                  <a:pt x="0" y="0"/>
                </a:moveTo>
                <a:lnTo>
                  <a:pt x="11301259" y="0"/>
                </a:lnTo>
                <a:lnTo>
                  <a:pt x="11301259" y="1214885"/>
                </a:lnTo>
                <a:lnTo>
                  <a:pt x="0" y="1214885"/>
                </a:lnTo>
                <a:lnTo>
                  <a:pt x="0" y="0"/>
                </a:lnTo>
                <a:close/>
              </a:path>
            </a:pathLst>
          </a:custGeom>
          <a:blipFill>
            <a:blip r:embed="rId2"/>
            <a:stretch>
              <a:fillRect l="0" t="0" r="0" b="0"/>
            </a:stretch>
          </a:blipFill>
        </p:spPr>
      </p:sp>
      <p:sp>
        <p:nvSpPr>
          <p:cNvPr name="Freeform 3" id="3"/>
          <p:cNvSpPr/>
          <p:nvPr/>
        </p:nvSpPr>
        <p:spPr>
          <a:xfrm flipH="false" flipV="false" rot="0">
            <a:off x="1394187" y="3254225"/>
            <a:ext cx="7749813" cy="2619655"/>
          </a:xfrm>
          <a:custGeom>
            <a:avLst/>
            <a:gdLst/>
            <a:ahLst/>
            <a:cxnLst/>
            <a:rect r="r" b="b" t="t" l="l"/>
            <a:pathLst>
              <a:path h="2619655" w="7749813">
                <a:moveTo>
                  <a:pt x="0" y="0"/>
                </a:moveTo>
                <a:lnTo>
                  <a:pt x="7749813" y="0"/>
                </a:lnTo>
                <a:lnTo>
                  <a:pt x="7749813" y="2619655"/>
                </a:lnTo>
                <a:lnTo>
                  <a:pt x="0" y="2619655"/>
                </a:lnTo>
                <a:lnTo>
                  <a:pt x="0" y="0"/>
                </a:lnTo>
                <a:close/>
              </a:path>
            </a:pathLst>
          </a:custGeom>
          <a:blipFill>
            <a:blip r:embed="rId3"/>
            <a:stretch>
              <a:fillRect l="0" t="0" r="0" b="0"/>
            </a:stretch>
          </a:blipFill>
        </p:spPr>
      </p:sp>
      <p:sp>
        <p:nvSpPr>
          <p:cNvPr name="Freeform 4" id="4"/>
          <p:cNvSpPr/>
          <p:nvPr/>
        </p:nvSpPr>
        <p:spPr>
          <a:xfrm flipH="false" flipV="false" rot="0">
            <a:off x="11338226" y="2038746"/>
            <a:ext cx="4040490" cy="5050613"/>
          </a:xfrm>
          <a:custGeom>
            <a:avLst/>
            <a:gdLst/>
            <a:ahLst/>
            <a:cxnLst/>
            <a:rect r="r" b="b" t="t" l="l"/>
            <a:pathLst>
              <a:path h="5050613" w="4040490">
                <a:moveTo>
                  <a:pt x="0" y="0"/>
                </a:moveTo>
                <a:lnTo>
                  <a:pt x="4040491" y="0"/>
                </a:lnTo>
                <a:lnTo>
                  <a:pt x="4040491" y="5050613"/>
                </a:lnTo>
                <a:lnTo>
                  <a:pt x="0" y="5050613"/>
                </a:lnTo>
                <a:lnTo>
                  <a:pt x="0" y="0"/>
                </a:lnTo>
                <a:close/>
              </a:path>
            </a:pathLst>
          </a:custGeom>
          <a:blipFill>
            <a:blip r:embed="rId4"/>
            <a:stretch>
              <a:fillRect l="0" t="0" r="0" b="0"/>
            </a:stretch>
          </a:blipFill>
        </p:spPr>
      </p:sp>
      <p:sp>
        <p:nvSpPr>
          <p:cNvPr name="Freeform 5" id="5"/>
          <p:cNvSpPr/>
          <p:nvPr/>
        </p:nvSpPr>
        <p:spPr>
          <a:xfrm flipH="false" flipV="false" rot="0">
            <a:off x="937931" y="7508459"/>
            <a:ext cx="14623626" cy="2924725"/>
          </a:xfrm>
          <a:custGeom>
            <a:avLst/>
            <a:gdLst/>
            <a:ahLst/>
            <a:cxnLst/>
            <a:rect r="r" b="b" t="t" l="l"/>
            <a:pathLst>
              <a:path h="2924725" w="14623626">
                <a:moveTo>
                  <a:pt x="0" y="0"/>
                </a:moveTo>
                <a:lnTo>
                  <a:pt x="14623626" y="0"/>
                </a:lnTo>
                <a:lnTo>
                  <a:pt x="14623626" y="2924725"/>
                </a:lnTo>
                <a:lnTo>
                  <a:pt x="0" y="2924725"/>
                </a:lnTo>
                <a:lnTo>
                  <a:pt x="0" y="0"/>
                </a:lnTo>
                <a:close/>
              </a:path>
            </a:pathLst>
          </a:custGeom>
          <a:blipFill>
            <a:blip r:embed="rId5"/>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pic>
        <p:nvPicPr>
          <p:cNvPr name="Picture 2" id="2"/>
          <p:cNvPicPr>
            <a:picLocks noChangeAspect="true"/>
          </p:cNvPicPr>
          <p:nvPr>
            <a:videoFile r:link="rId3"/>
          </p:nvPr>
        </p:nvPicPr>
        <p:blipFill>
          <a:blip r:embed="rId2"/>
          <a:stretch>
            <a:fillRect/>
          </a:stretch>
        </p:blipFill>
        <p:spPr>
          <a:xfrm rot="0">
            <a:off x="3653314" y="2057400"/>
            <a:ext cx="10981372" cy="6172200"/>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7159005" y="1082471"/>
            <a:ext cx="3969990"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Survey</a:t>
            </a:r>
          </a:p>
        </p:txBody>
      </p:sp>
      <p:sp>
        <p:nvSpPr>
          <p:cNvPr name="TextBox 3" id="3"/>
          <p:cNvSpPr txBox="true"/>
          <p:nvPr/>
        </p:nvSpPr>
        <p:spPr>
          <a:xfrm rot="0">
            <a:off x="3418954" y="3669030"/>
            <a:ext cx="11128995" cy="291084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Canva Sans Bold"/>
                <a:ea typeface="Canva Sans Bold"/>
                <a:cs typeface="Canva Sans Bold"/>
                <a:sym typeface="Canva Sans Bold"/>
              </a:rPr>
              <a:t>Before we go any further:</a:t>
            </a:r>
          </a:p>
          <a:p>
            <a:pPr algn="ctr">
              <a:lnSpc>
                <a:spcPts val="3359"/>
              </a:lnSpc>
              <a:spcBef>
                <a:spcPct val="0"/>
              </a:spcBef>
            </a:pPr>
          </a:p>
          <a:p>
            <a:pPr algn="ctr">
              <a:lnSpc>
                <a:spcPts val="3359"/>
              </a:lnSpc>
              <a:spcBef>
                <a:spcPct val="0"/>
              </a:spcBef>
            </a:pPr>
            <a:r>
              <a:rPr lang="en-US" b="true" sz="2400">
                <a:solidFill>
                  <a:srgbClr val="FFFFFF"/>
                </a:solidFill>
                <a:latin typeface="Canva Sans Bold"/>
                <a:ea typeface="Canva Sans Bold"/>
                <a:cs typeface="Canva Sans Bold"/>
                <a:sym typeface="Canva Sans Bold"/>
              </a:rPr>
              <a:t>What does the word “brand” mean to you? How would you describe your brand? What have you done to build your brand? How would someone else depict your brand?</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Submit your assignment</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You may only submit one file with maximum 100 MB in size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5245010" y="395031"/>
            <a:ext cx="7797979" cy="9747474"/>
          </a:xfrm>
          <a:custGeom>
            <a:avLst/>
            <a:gdLst/>
            <a:ahLst/>
            <a:cxnLst/>
            <a:rect r="r" b="b" t="t" l="l"/>
            <a:pathLst>
              <a:path h="9747474" w="7797979">
                <a:moveTo>
                  <a:pt x="0" y="0"/>
                </a:moveTo>
                <a:lnTo>
                  <a:pt x="7797980" y="0"/>
                </a:lnTo>
                <a:lnTo>
                  <a:pt x="7797980" y="9747474"/>
                </a:lnTo>
                <a:lnTo>
                  <a:pt x="0" y="9747474"/>
                </a:lnTo>
                <a:lnTo>
                  <a:pt x="0" y="0"/>
                </a:lnTo>
                <a:close/>
              </a:path>
            </a:pathLst>
          </a:custGeom>
          <a:blipFill>
            <a:blip r:embed="rId2"/>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673833" y="661400"/>
            <a:ext cx="14940334" cy="4482100"/>
          </a:xfrm>
          <a:custGeom>
            <a:avLst/>
            <a:gdLst/>
            <a:ahLst/>
            <a:cxnLst/>
            <a:rect r="r" b="b" t="t" l="l"/>
            <a:pathLst>
              <a:path h="4482100" w="14940334">
                <a:moveTo>
                  <a:pt x="0" y="0"/>
                </a:moveTo>
                <a:lnTo>
                  <a:pt x="14940334" y="0"/>
                </a:lnTo>
                <a:lnTo>
                  <a:pt x="14940334" y="4482100"/>
                </a:lnTo>
                <a:lnTo>
                  <a:pt x="0" y="4482100"/>
                </a:lnTo>
                <a:lnTo>
                  <a:pt x="0" y="0"/>
                </a:lnTo>
                <a:close/>
              </a:path>
            </a:pathLst>
          </a:custGeom>
          <a:blipFill>
            <a:blip r:embed="rId2"/>
            <a:stretch>
              <a:fillRect l="0" t="0" r="0" b="0"/>
            </a:stretch>
          </a:blipFill>
        </p:spPr>
      </p:sp>
      <p:sp>
        <p:nvSpPr>
          <p:cNvPr name="Freeform 3" id="3"/>
          <p:cNvSpPr/>
          <p:nvPr/>
        </p:nvSpPr>
        <p:spPr>
          <a:xfrm flipH="false" flipV="false" rot="0">
            <a:off x="4664672" y="5238801"/>
            <a:ext cx="8958657" cy="4535320"/>
          </a:xfrm>
          <a:custGeom>
            <a:avLst/>
            <a:gdLst/>
            <a:ahLst/>
            <a:cxnLst/>
            <a:rect r="r" b="b" t="t" l="l"/>
            <a:pathLst>
              <a:path h="4535320" w="8958657">
                <a:moveTo>
                  <a:pt x="0" y="0"/>
                </a:moveTo>
                <a:lnTo>
                  <a:pt x="8958656" y="0"/>
                </a:lnTo>
                <a:lnTo>
                  <a:pt x="8958656" y="4535320"/>
                </a:lnTo>
                <a:lnTo>
                  <a:pt x="0" y="4535320"/>
                </a:lnTo>
                <a:lnTo>
                  <a:pt x="0" y="0"/>
                </a:lnTo>
                <a:close/>
              </a:path>
            </a:pathLst>
          </a:custGeom>
          <a:blipFill>
            <a:blip r:embed="rId3"/>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655741"/>
            <a:ext cx="9059036" cy="6432363"/>
          </a:xfrm>
          <a:custGeom>
            <a:avLst/>
            <a:gdLst/>
            <a:ahLst/>
            <a:cxnLst/>
            <a:rect r="r" b="b" t="t" l="l"/>
            <a:pathLst>
              <a:path h="6432363" w="9059036">
                <a:moveTo>
                  <a:pt x="0" y="0"/>
                </a:moveTo>
                <a:lnTo>
                  <a:pt x="9059036" y="0"/>
                </a:lnTo>
                <a:lnTo>
                  <a:pt x="9059036" y="6432363"/>
                </a:lnTo>
                <a:lnTo>
                  <a:pt x="0" y="6432363"/>
                </a:lnTo>
                <a:lnTo>
                  <a:pt x="0" y="0"/>
                </a:lnTo>
                <a:close/>
              </a:path>
            </a:pathLst>
          </a:custGeom>
          <a:blipFill>
            <a:blip r:embed="rId2"/>
            <a:stretch>
              <a:fillRect l="0" t="0" r="0" b="0"/>
            </a:stretch>
          </a:blipFill>
        </p:spPr>
      </p:sp>
      <p:sp>
        <p:nvSpPr>
          <p:cNvPr name="Freeform 3" id="3"/>
          <p:cNvSpPr/>
          <p:nvPr/>
        </p:nvSpPr>
        <p:spPr>
          <a:xfrm flipH="false" flipV="false" rot="0">
            <a:off x="1028700" y="7302447"/>
            <a:ext cx="16230600" cy="1967960"/>
          </a:xfrm>
          <a:custGeom>
            <a:avLst/>
            <a:gdLst/>
            <a:ahLst/>
            <a:cxnLst/>
            <a:rect r="r" b="b" t="t" l="l"/>
            <a:pathLst>
              <a:path h="1967960" w="16230600">
                <a:moveTo>
                  <a:pt x="0" y="0"/>
                </a:moveTo>
                <a:lnTo>
                  <a:pt x="16230600" y="0"/>
                </a:lnTo>
                <a:lnTo>
                  <a:pt x="16230600" y="1967960"/>
                </a:lnTo>
                <a:lnTo>
                  <a:pt x="0" y="1967960"/>
                </a:lnTo>
                <a:lnTo>
                  <a:pt x="0" y="0"/>
                </a:lnTo>
                <a:close/>
              </a:path>
            </a:pathLst>
          </a:custGeom>
          <a:blipFill>
            <a:blip r:embed="rId3"/>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7159005" y="857250"/>
            <a:ext cx="3969990"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Survey</a:t>
            </a:r>
          </a:p>
        </p:txBody>
      </p:sp>
      <p:sp>
        <p:nvSpPr>
          <p:cNvPr name="TextBox 3" id="3"/>
          <p:cNvSpPr txBox="true"/>
          <p:nvPr/>
        </p:nvSpPr>
        <p:spPr>
          <a:xfrm rot="0">
            <a:off x="3645876" y="2488283"/>
            <a:ext cx="11265148" cy="584454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Canva Sans Bold"/>
                <a:ea typeface="Canva Sans Bold"/>
                <a:cs typeface="Canva Sans Bold"/>
                <a:sym typeface="Canva Sans Bold"/>
              </a:rPr>
              <a:t>Brand Personified</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What are the most important parts of a brand’s anatomy? As you start to think about some of the valuable contributions our physical body parts add to the quality of our lives, we can think similarly about the different elements of your brand.</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 </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Different parts of your body provide different functions to make YOU work. If one part of your body is out of commission, it makes it hard for the whole body to function and thrive. This is very similar to your business. You need different components to make sure your business is a well-oiled machine. The right body parts have been laid out that correspond with different aspects of your business. Your job is to identify how that aspect relates to YOUR business specifically. Write your findings in each of the white boxes next to the corresponding body part.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701202" y="3391619"/>
            <a:ext cx="16885596" cy="3503761"/>
          </a:xfrm>
          <a:custGeom>
            <a:avLst/>
            <a:gdLst/>
            <a:ahLst/>
            <a:cxnLst/>
            <a:rect r="r" b="b" t="t" l="l"/>
            <a:pathLst>
              <a:path h="3503761" w="16885596">
                <a:moveTo>
                  <a:pt x="0" y="0"/>
                </a:moveTo>
                <a:lnTo>
                  <a:pt x="16885596" y="0"/>
                </a:lnTo>
                <a:lnTo>
                  <a:pt x="16885596" y="3503762"/>
                </a:lnTo>
                <a:lnTo>
                  <a:pt x="0" y="3503762"/>
                </a:lnTo>
                <a:lnTo>
                  <a:pt x="0" y="0"/>
                </a:lnTo>
                <a:close/>
              </a:path>
            </a:pathLst>
          </a:custGeom>
          <a:blipFill>
            <a:blip r:embed="rId2"/>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4421610" y="527060"/>
            <a:ext cx="9444780" cy="9232880"/>
          </a:xfrm>
          <a:custGeom>
            <a:avLst/>
            <a:gdLst/>
            <a:ahLst/>
            <a:cxnLst/>
            <a:rect r="r" b="b" t="t" l="l"/>
            <a:pathLst>
              <a:path h="9232880" w="9444780">
                <a:moveTo>
                  <a:pt x="0" y="0"/>
                </a:moveTo>
                <a:lnTo>
                  <a:pt x="9444780" y="0"/>
                </a:lnTo>
                <a:lnTo>
                  <a:pt x="9444780" y="9232880"/>
                </a:lnTo>
                <a:lnTo>
                  <a:pt x="0" y="9232880"/>
                </a:lnTo>
                <a:lnTo>
                  <a:pt x="0" y="0"/>
                </a:lnTo>
                <a:close/>
              </a:path>
            </a:pathLst>
          </a:custGeom>
          <a:blipFill>
            <a:blip r:embed="rId2"/>
            <a:stretch>
              <a:fillRect l="0" t="0" r="0" b="-1399"/>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3119197" y="6724156"/>
            <a:ext cx="12049605" cy="165354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Canva Sans Bold"/>
                <a:ea typeface="Canva Sans Bold"/>
                <a:cs typeface="Canva Sans Bold"/>
                <a:sym typeface="Canva Sans Bold"/>
              </a:rPr>
              <a:t>The Studio</a:t>
            </a:r>
          </a:p>
          <a:p>
            <a:pPr algn="ctr">
              <a:lnSpc>
                <a:spcPts val="3359"/>
              </a:lnSpc>
              <a:spcBef>
                <a:spcPct val="0"/>
              </a:spcBef>
            </a:pPr>
          </a:p>
          <a:p>
            <a:pPr algn="ctr">
              <a:lnSpc>
                <a:spcPts val="3359"/>
              </a:lnSpc>
              <a:spcBef>
                <a:spcPct val="0"/>
              </a:spcBef>
            </a:pPr>
            <a:r>
              <a:rPr lang="en-US" b="true" sz="2400">
                <a:solidFill>
                  <a:srgbClr val="FFFFFF"/>
                </a:solidFill>
                <a:latin typeface="Canva Sans Bold"/>
                <a:ea typeface="Canva Sans Bold"/>
                <a:cs typeface="Canva Sans Bold"/>
                <a:sym typeface="Canva Sans Bold"/>
              </a:rPr>
              <a:t>Let's watch a video of entrepreneurs describing what branding means to them and how it relates to you AND your business:</a:t>
            </a:r>
          </a:p>
        </p:txBody>
      </p:sp>
      <p:pic>
        <p:nvPicPr>
          <p:cNvPr name="Picture 3" id="3"/>
          <p:cNvPicPr>
            <a:picLocks noChangeAspect="true"/>
          </p:cNvPicPr>
          <p:nvPr>
            <a:videoFile r:link="rId3"/>
          </p:nvPr>
        </p:nvPicPr>
        <p:blipFill>
          <a:blip r:embed="rId2"/>
          <a:stretch>
            <a:fillRect/>
          </a:stretch>
        </p:blipFill>
        <p:spPr>
          <a:xfrm rot="0">
            <a:off x="3653314" y="1028700"/>
            <a:ext cx="10981372" cy="6172200"/>
          </a:xfrm>
          <a:prstGeom prst="rect">
            <a:avLst/>
          </a:prstGeom>
        </p:spPr>
      </p:pic>
    </p:spTree>
  </p:cSld>
  <p:clrMapOvr>
    <a:masterClrMapping/>
  </p:clrMapOvr>
</p:sld>
</file>

<file path=ppt/slides/slide15.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7159005" y="1536314"/>
            <a:ext cx="3969990"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Survey</a:t>
            </a:r>
          </a:p>
        </p:txBody>
      </p:sp>
      <p:sp>
        <p:nvSpPr>
          <p:cNvPr name="TextBox 3" id="3"/>
          <p:cNvSpPr txBox="true"/>
          <p:nvPr/>
        </p:nvSpPr>
        <p:spPr>
          <a:xfrm rot="0">
            <a:off x="4356897" y="4848269"/>
            <a:ext cx="9770871" cy="123444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Canva Sans Bold"/>
                <a:ea typeface="Canva Sans Bold"/>
                <a:cs typeface="Canva Sans Bold"/>
                <a:sym typeface="Canva Sans Bold"/>
              </a:rPr>
              <a:t>Here are some good questions: What is a brand? What do certain colors and fonts communicate to customers? What makes a good tagline? Write down five things you learned?</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2301261" y="1457921"/>
            <a:ext cx="13685478" cy="2822630"/>
          </a:xfrm>
          <a:custGeom>
            <a:avLst/>
            <a:gdLst/>
            <a:ahLst/>
            <a:cxnLst/>
            <a:rect r="r" b="b" t="t" l="l"/>
            <a:pathLst>
              <a:path h="2822630" w="13685478">
                <a:moveTo>
                  <a:pt x="0" y="0"/>
                </a:moveTo>
                <a:lnTo>
                  <a:pt x="13685478" y="0"/>
                </a:lnTo>
                <a:lnTo>
                  <a:pt x="13685478" y="2822629"/>
                </a:lnTo>
                <a:lnTo>
                  <a:pt x="0" y="2822629"/>
                </a:lnTo>
                <a:lnTo>
                  <a:pt x="0" y="0"/>
                </a:lnTo>
                <a:close/>
              </a:path>
            </a:pathLst>
          </a:custGeom>
          <a:blipFill>
            <a:blip r:embed="rId2"/>
            <a:stretch>
              <a:fillRect l="0" t="0" r="0" b="0"/>
            </a:stretch>
          </a:blipFill>
        </p:spPr>
      </p:sp>
      <p:sp>
        <p:nvSpPr>
          <p:cNvPr name="Freeform 3" id="3"/>
          <p:cNvSpPr/>
          <p:nvPr/>
        </p:nvSpPr>
        <p:spPr>
          <a:xfrm flipH="false" flipV="false" rot="0">
            <a:off x="2301261" y="4394828"/>
            <a:ext cx="13685478" cy="3284515"/>
          </a:xfrm>
          <a:custGeom>
            <a:avLst/>
            <a:gdLst/>
            <a:ahLst/>
            <a:cxnLst/>
            <a:rect r="r" b="b" t="t" l="l"/>
            <a:pathLst>
              <a:path h="3284515" w="13685478">
                <a:moveTo>
                  <a:pt x="0" y="0"/>
                </a:moveTo>
                <a:lnTo>
                  <a:pt x="13685478" y="0"/>
                </a:lnTo>
                <a:lnTo>
                  <a:pt x="13685478" y="3284515"/>
                </a:lnTo>
                <a:lnTo>
                  <a:pt x="0" y="3284515"/>
                </a:lnTo>
                <a:lnTo>
                  <a:pt x="0" y="0"/>
                </a:lnTo>
                <a:close/>
              </a:path>
            </a:pathLst>
          </a:custGeom>
          <a:blipFill>
            <a:blip r:embed="rId3"/>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569827" y="1353877"/>
            <a:ext cx="15148346" cy="7328013"/>
          </a:xfrm>
          <a:custGeom>
            <a:avLst/>
            <a:gdLst/>
            <a:ahLst/>
            <a:cxnLst/>
            <a:rect r="r" b="b" t="t" l="l"/>
            <a:pathLst>
              <a:path h="7328013" w="15148346">
                <a:moveTo>
                  <a:pt x="0" y="0"/>
                </a:moveTo>
                <a:lnTo>
                  <a:pt x="15148346" y="0"/>
                </a:lnTo>
                <a:lnTo>
                  <a:pt x="15148346" y="7328012"/>
                </a:lnTo>
                <a:lnTo>
                  <a:pt x="0" y="7328012"/>
                </a:lnTo>
                <a:lnTo>
                  <a:pt x="0" y="0"/>
                </a:lnTo>
                <a:close/>
              </a:path>
            </a:pathLst>
          </a:custGeom>
          <a:blipFill>
            <a:blip r:embed="rId2"/>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pic>
        <p:nvPicPr>
          <p:cNvPr name="Picture 2" id="2"/>
          <p:cNvPicPr>
            <a:picLocks noChangeAspect="true"/>
          </p:cNvPicPr>
          <p:nvPr>
            <a:videoFile r:link="rId3"/>
          </p:nvPr>
        </p:nvPicPr>
        <p:blipFill>
          <a:blip r:embed="rId2"/>
          <a:stretch>
            <a:fillRect/>
          </a:stretch>
        </p:blipFill>
        <p:spPr>
          <a:xfrm rot="0">
            <a:off x="3653314" y="2057400"/>
            <a:ext cx="10981372" cy="6172200"/>
          </a:xfrm>
          <a:prstGeom prst="rect">
            <a:avLst/>
          </a:prstGeom>
        </p:spPr>
      </p:pic>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1289417" y="2181416"/>
            <a:ext cx="15709166" cy="5733846"/>
          </a:xfrm>
          <a:custGeom>
            <a:avLst/>
            <a:gdLst/>
            <a:ahLst/>
            <a:cxnLst/>
            <a:rect r="r" b="b" t="t" l="l"/>
            <a:pathLst>
              <a:path h="5733846" w="15709166">
                <a:moveTo>
                  <a:pt x="0" y="0"/>
                </a:moveTo>
                <a:lnTo>
                  <a:pt x="15709166" y="0"/>
                </a:lnTo>
                <a:lnTo>
                  <a:pt x="15709166" y="5733845"/>
                </a:lnTo>
                <a:lnTo>
                  <a:pt x="0" y="5733845"/>
                </a:lnTo>
                <a:lnTo>
                  <a:pt x="0" y="0"/>
                </a:lnTo>
                <a:close/>
              </a:path>
            </a:pathLst>
          </a:custGeom>
          <a:blipFill>
            <a:blip r:embed="rId2"/>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7159005" y="857250"/>
            <a:ext cx="3969990"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Survey</a:t>
            </a:r>
          </a:p>
        </p:txBody>
      </p:sp>
      <p:sp>
        <p:nvSpPr>
          <p:cNvPr name="TextBox 3" id="3"/>
          <p:cNvSpPr txBox="true"/>
          <p:nvPr/>
        </p:nvSpPr>
        <p:spPr>
          <a:xfrm rot="0">
            <a:off x="4939330" y="3138792"/>
            <a:ext cx="8409341" cy="2213610"/>
          </a:xfrm>
          <a:prstGeom prst="rect">
            <a:avLst/>
          </a:prstGeom>
        </p:spPr>
        <p:txBody>
          <a:bodyPr anchor="t" rtlCol="false" tIns="0" lIns="0" bIns="0" rIns="0">
            <a:spAutoFit/>
          </a:bodyPr>
          <a:lstStyle/>
          <a:p>
            <a:pPr algn="ctr">
              <a:lnSpc>
                <a:spcPts val="2940"/>
              </a:lnSpc>
              <a:spcBef>
                <a:spcPct val="0"/>
              </a:spcBef>
            </a:pPr>
            <a:r>
              <a:rPr lang="en-US" b="true" sz="2100">
                <a:solidFill>
                  <a:srgbClr val="FFFFFF"/>
                </a:solidFill>
                <a:latin typeface="Canva Sans Bold"/>
                <a:ea typeface="Canva Sans Bold"/>
                <a:cs typeface="Canva Sans Bold"/>
                <a:sym typeface="Canva Sans Bold"/>
              </a:rPr>
              <a:t>What does the word “brand” mean to you? How would you describe your brand? What have you done to build your brand? How would someone else depict your brand? Have your answers changed from the beginning of class? Why or why not?</a:t>
            </a:r>
          </a:p>
          <a:p>
            <a:pPr algn="ctr">
              <a:lnSpc>
                <a:spcPts val="2940"/>
              </a:lnSpc>
              <a:spcBef>
                <a:spcPct val="0"/>
              </a:spcBef>
            </a:pPr>
            <a:r>
              <a:rPr lang="en-US" b="true" sz="2100">
                <a:solidFill>
                  <a:srgbClr val="FFFFFF"/>
                </a:solidFill>
                <a:latin typeface="Canva Sans Bold"/>
                <a:ea typeface="Canva Sans Bold"/>
                <a:cs typeface="Canva Sans Bold"/>
                <a:sym typeface="Canva Sans Bold"/>
              </a:rPr>
              <a:t>Submit your assignment</a:t>
            </a:r>
          </a:p>
          <a:p>
            <a:pPr algn="ctr">
              <a:lnSpc>
                <a:spcPts val="2940"/>
              </a:lnSpc>
              <a:spcBef>
                <a:spcPct val="0"/>
              </a:spcBef>
            </a:pPr>
            <a:r>
              <a:rPr lang="en-US" b="true" sz="2100">
                <a:solidFill>
                  <a:srgbClr val="FFFFFF"/>
                </a:solidFill>
                <a:latin typeface="Canva Sans Bold"/>
                <a:ea typeface="Canva Sans Bold"/>
                <a:cs typeface="Canva Sans Bold"/>
                <a:sym typeface="Canva Sans Bold"/>
              </a:rPr>
              <a:t>You may only submit one file with maximum 100 MB in size</a:t>
            </a:r>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2646238" y="3093408"/>
            <a:ext cx="12995523" cy="542544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Canva Sans Bold"/>
                <a:ea typeface="Canva Sans Bold"/>
                <a:cs typeface="Canva Sans Bold"/>
                <a:sym typeface="Canva Sans Bold"/>
              </a:rPr>
              <a:t>Putting In Work:</a:t>
            </a:r>
          </a:p>
          <a:p>
            <a:pPr algn="ctr">
              <a:lnSpc>
                <a:spcPts val="3359"/>
              </a:lnSpc>
              <a:spcBef>
                <a:spcPct val="0"/>
              </a:spcBef>
            </a:pPr>
          </a:p>
          <a:p>
            <a:pPr algn="ctr">
              <a:lnSpc>
                <a:spcPts val="3359"/>
              </a:lnSpc>
              <a:spcBef>
                <a:spcPct val="0"/>
              </a:spcBef>
            </a:pPr>
            <a:r>
              <a:rPr lang="en-US" b="true" sz="2400">
                <a:solidFill>
                  <a:srgbClr val="FFFFFF"/>
                </a:solidFill>
                <a:latin typeface="Canva Sans Bold"/>
                <a:ea typeface="Canva Sans Bold"/>
                <a:cs typeface="Canva Sans Bold"/>
                <a:sym typeface="Canva Sans Bold"/>
              </a:rPr>
              <a:t>"About Me"</a:t>
            </a:r>
          </a:p>
          <a:p>
            <a:pPr algn="ctr">
              <a:lnSpc>
                <a:spcPts val="3359"/>
              </a:lnSpc>
              <a:spcBef>
                <a:spcPct val="0"/>
              </a:spcBef>
            </a:pPr>
          </a:p>
          <a:p>
            <a:pPr algn="ctr">
              <a:lnSpc>
                <a:spcPts val="3359"/>
              </a:lnSpc>
              <a:spcBef>
                <a:spcPct val="0"/>
              </a:spcBef>
            </a:pPr>
            <a:r>
              <a:rPr lang="en-US" b="true" sz="2400">
                <a:solidFill>
                  <a:srgbClr val="FFFFFF"/>
                </a:solidFill>
                <a:latin typeface="Canva Sans Bold"/>
                <a:ea typeface="Canva Sans Bold"/>
                <a:cs typeface="Canva Sans Bold"/>
                <a:sym typeface="Canva Sans Bold"/>
              </a:rPr>
              <a:t>Write the “About Me” section for your future or current social media pages and website.</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Submit your assignment</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You may only submit one file with maximum 100 MB in size</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My Device</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Google Drive</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Dropbox</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OneDrive</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Link (URL)</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S</a:t>
            </a:r>
          </a:p>
        </p:txBody>
      </p:sp>
      <p:sp>
        <p:nvSpPr>
          <p:cNvPr name="TextBox 3" id="3"/>
          <p:cNvSpPr txBox="true"/>
          <p:nvPr/>
        </p:nvSpPr>
        <p:spPr>
          <a:xfrm rot="0">
            <a:off x="7159005" y="159703"/>
            <a:ext cx="3969990"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Survey</a:t>
            </a:r>
          </a:p>
        </p:txBody>
      </p:sp>
    </p:spTree>
  </p:cSld>
  <p:clrMapOvr>
    <a:masterClrMapping/>
  </p:clrMapOvr>
</p:sld>
</file>

<file path=ppt/slides/slide22.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7159005" y="1158111"/>
            <a:ext cx="3969990"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Survey</a:t>
            </a:r>
          </a:p>
        </p:txBody>
      </p:sp>
      <p:sp>
        <p:nvSpPr>
          <p:cNvPr name="TextBox 3" id="3"/>
          <p:cNvSpPr txBox="true"/>
          <p:nvPr/>
        </p:nvSpPr>
        <p:spPr>
          <a:xfrm rot="0">
            <a:off x="5968041" y="3728789"/>
            <a:ext cx="6351917" cy="332994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Canva Sans Bold"/>
                <a:ea typeface="Canva Sans Bold"/>
                <a:cs typeface="Canva Sans Bold"/>
                <a:sym typeface="Canva Sans Bold"/>
              </a:rPr>
              <a:t>Research</a:t>
            </a:r>
          </a:p>
          <a:p>
            <a:pPr algn="ctr">
              <a:lnSpc>
                <a:spcPts val="3359"/>
              </a:lnSpc>
              <a:spcBef>
                <a:spcPct val="0"/>
              </a:spcBef>
            </a:pPr>
          </a:p>
          <a:p>
            <a:pPr algn="ctr">
              <a:lnSpc>
                <a:spcPts val="3359"/>
              </a:lnSpc>
              <a:spcBef>
                <a:spcPct val="0"/>
              </a:spcBef>
            </a:pPr>
            <a:r>
              <a:rPr lang="en-US" b="true" sz="2400">
                <a:solidFill>
                  <a:srgbClr val="FFFFFF"/>
                </a:solidFill>
                <a:latin typeface="Canva Sans Bold"/>
                <a:ea typeface="Canva Sans Bold"/>
                <a:cs typeface="Canva Sans Bold"/>
                <a:sym typeface="Canva Sans Bold"/>
              </a:rPr>
              <a:t>Make a list of every company you can find (5-10 preferably) that provides the same thing that your business(or business idea) provides (or seeks to provide); these companies could potentially be your competition.</a:t>
            </a:r>
          </a:p>
        </p:txBody>
      </p:sp>
    </p:spTree>
  </p:cSld>
  <p:clrMapOvr>
    <a:masterClrMapping/>
  </p:clrMapOvr>
</p:sld>
</file>

<file path=ppt/slides/slide23.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7159005" y="1052214"/>
            <a:ext cx="3969990"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Survey</a:t>
            </a:r>
          </a:p>
        </p:txBody>
      </p:sp>
      <p:sp>
        <p:nvSpPr>
          <p:cNvPr name="TextBox 3" id="3"/>
          <p:cNvSpPr txBox="true"/>
          <p:nvPr/>
        </p:nvSpPr>
        <p:spPr>
          <a:xfrm rot="0">
            <a:off x="6384065" y="3093408"/>
            <a:ext cx="5519871" cy="500634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Canva Sans Bold"/>
                <a:ea typeface="Canva Sans Bold"/>
                <a:cs typeface="Canva Sans Bold"/>
                <a:sym typeface="Canva Sans Bold"/>
              </a:rPr>
              <a:t>Masters Business Canvas and Synopsis</a:t>
            </a:r>
          </a:p>
          <a:p>
            <a:pPr algn="ctr">
              <a:lnSpc>
                <a:spcPts val="3359"/>
              </a:lnSpc>
              <a:spcBef>
                <a:spcPct val="0"/>
              </a:spcBef>
            </a:pPr>
          </a:p>
          <a:p>
            <a:pPr algn="ctr">
              <a:lnSpc>
                <a:spcPts val="3359"/>
              </a:lnSpc>
              <a:spcBef>
                <a:spcPct val="0"/>
              </a:spcBef>
            </a:pPr>
            <a:r>
              <a:rPr lang="en-US" b="true" sz="2400">
                <a:solidFill>
                  <a:srgbClr val="FFFFFF"/>
                </a:solidFill>
                <a:latin typeface="Canva Sans Bold"/>
                <a:ea typeface="Canva Sans Bold"/>
                <a:cs typeface="Canva Sans Bold"/>
                <a:sym typeface="Canva Sans Bold"/>
              </a:rPr>
              <a:t>Go to your business canvas and answer the corresponding questions on sticky notes in the Branding section. Once you’ve done that, type out a paragraph of those responses in your Business Synopsis.</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Submit your assignment</a:t>
            </a:r>
          </a:p>
          <a:p>
            <a:pPr algn="ctr">
              <a:lnSpc>
                <a:spcPts val="3359"/>
              </a:lnSpc>
              <a:spcBef>
                <a:spcPct val="0"/>
              </a:spcBef>
            </a:pPr>
            <a:r>
              <a:rPr lang="en-US" b="true" sz="2400">
                <a:solidFill>
                  <a:srgbClr val="FFFFFF"/>
                </a:solidFill>
                <a:latin typeface="Canva Sans Bold"/>
                <a:ea typeface="Canva Sans Bold"/>
                <a:cs typeface="Canva Sans Bold"/>
                <a:sym typeface="Canva Sans Bold"/>
              </a:rPr>
              <a:t>You may only submit one file with maximum 100 MB in siz</a:t>
            </a:r>
          </a:p>
        </p:txBody>
      </p:sp>
    </p:spTree>
  </p:cSld>
  <p:clrMapOvr>
    <a:masterClrMapping/>
  </p:clrMapOvr>
</p:sld>
</file>

<file path=ppt/slides/slide24.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4213180" y="4500323"/>
            <a:ext cx="9861640" cy="291084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Canva Sans Bold"/>
                <a:ea typeface="Canva Sans Bold"/>
                <a:cs typeface="Canva Sans Bold"/>
                <a:sym typeface="Canva Sans Bold"/>
              </a:rPr>
              <a:t>Pitches</a:t>
            </a:r>
          </a:p>
          <a:p>
            <a:pPr algn="ctr">
              <a:lnSpc>
                <a:spcPts val="3359"/>
              </a:lnSpc>
              <a:spcBef>
                <a:spcPct val="0"/>
              </a:spcBef>
            </a:pPr>
          </a:p>
          <a:p>
            <a:pPr algn="ctr">
              <a:lnSpc>
                <a:spcPts val="3359"/>
              </a:lnSpc>
              <a:spcBef>
                <a:spcPct val="0"/>
              </a:spcBef>
            </a:pPr>
            <a:r>
              <a:rPr lang="en-US" b="true" sz="2400">
                <a:solidFill>
                  <a:srgbClr val="FFFFFF"/>
                </a:solidFill>
                <a:latin typeface="Canva Sans Bold"/>
                <a:ea typeface="Canva Sans Bold"/>
                <a:cs typeface="Canva Sans Bold"/>
                <a:sym typeface="Canva Sans Bold"/>
              </a:rPr>
              <a:t>You’ve almost made it to the halfway point. It’s time to knock out your 100-word pitch. Make sure to include a concise idea about what your business is, who you serve, and how we can contact you. Don’t forget; you can continue to iron out your 40-word pitch!</a:t>
            </a:r>
          </a:p>
        </p:txBody>
      </p:sp>
      <p:sp>
        <p:nvSpPr>
          <p:cNvPr name="TextBox 3" id="3"/>
          <p:cNvSpPr txBox="true"/>
          <p:nvPr/>
        </p:nvSpPr>
        <p:spPr>
          <a:xfrm rot="0">
            <a:off x="4213180" y="1475901"/>
            <a:ext cx="9861640"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Survey</a:t>
            </a:r>
          </a:p>
        </p:txBody>
      </p:sp>
    </p:spTree>
  </p:cSld>
  <p:clrMapOvr>
    <a:masterClrMapping/>
  </p:clrMapOvr>
</p:sld>
</file>

<file path=ppt/slides/slide25.xml><?xml version="1.0" encoding="utf-8"?>
<p:sld xmlns:p="http://schemas.openxmlformats.org/presentationml/2006/main" xmlns:a="http://schemas.openxmlformats.org/drawingml/2006/main">
  <p:cSld>
    <p:bg>
      <p:bgPr>
        <a:solidFill>
          <a:srgbClr val="1D1D1D"/>
        </a:solidFill>
      </p:bgPr>
    </p:bg>
    <p:spTree>
      <p:nvGrpSpPr>
        <p:cNvPr id="1" name=""/>
        <p:cNvGrpSpPr/>
        <p:nvPr/>
      </p:nvGrpSpPr>
      <p:grpSpPr>
        <a:xfrm>
          <a:off x="0" y="0"/>
          <a:ext cx="0" cy="0"/>
          <a:chOff x="0" y="0"/>
          <a:chExt cx="0" cy="0"/>
        </a:xfrm>
      </p:grpSpPr>
      <p:sp>
        <p:nvSpPr>
          <p:cNvPr name="TextBox 2" id="2"/>
          <p:cNvSpPr txBox="true"/>
          <p:nvPr/>
        </p:nvSpPr>
        <p:spPr>
          <a:xfrm rot="0">
            <a:off x="1028700" y="1887081"/>
            <a:ext cx="7573863" cy="1455420"/>
          </a:xfrm>
          <a:prstGeom prst="rect">
            <a:avLst/>
          </a:prstGeom>
        </p:spPr>
        <p:txBody>
          <a:bodyPr anchor="t" rtlCol="false" tIns="0" lIns="0" bIns="0" rIns="0">
            <a:spAutoFit/>
          </a:bodyPr>
          <a:lstStyle/>
          <a:p>
            <a:pPr algn="ctr">
              <a:lnSpc>
                <a:spcPts val="1679"/>
              </a:lnSpc>
              <a:spcBef>
                <a:spcPct val="0"/>
              </a:spcBef>
            </a:pPr>
            <a:r>
              <a:rPr lang="en-US" b="true" sz="1200">
                <a:solidFill>
                  <a:srgbClr val="FFFFFF"/>
                </a:solidFill>
                <a:latin typeface="Canva Sans Bold"/>
                <a:ea typeface="Canva Sans Bold"/>
                <a:cs typeface="Canva Sans Bold"/>
                <a:sym typeface="Canva Sans Bold"/>
              </a:rPr>
              <a:t>What does Allen Woods define as a “brand” in The Studio panel discussion?</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Choose only ONE best answer.</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A</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 A logo or visual representation of a company</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B</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Your logo and a collection of elements, memories, or emotions that connect you to an entity/company</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This answer is correct.</a:t>
            </a:r>
          </a:p>
        </p:txBody>
      </p:sp>
      <p:sp>
        <p:nvSpPr>
          <p:cNvPr name="TextBox 3" id="3"/>
          <p:cNvSpPr txBox="true"/>
          <p:nvPr/>
        </p:nvSpPr>
        <p:spPr>
          <a:xfrm rot="0">
            <a:off x="549325" y="3732711"/>
            <a:ext cx="8053239" cy="2293620"/>
          </a:xfrm>
          <a:prstGeom prst="rect">
            <a:avLst/>
          </a:prstGeom>
        </p:spPr>
        <p:txBody>
          <a:bodyPr anchor="t" rtlCol="false" tIns="0" lIns="0" bIns="0" rIns="0">
            <a:spAutoFit/>
          </a:bodyPr>
          <a:lstStyle/>
          <a:p>
            <a:pPr algn="ctr">
              <a:lnSpc>
                <a:spcPts val="1679"/>
              </a:lnSpc>
              <a:spcBef>
                <a:spcPct val="0"/>
              </a:spcBef>
            </a:pPr>
            <a:r>
              <a:rPr lang="en-US" b="true" sz="1200">
                <a:solidFill>
                  <a:srgbClr val="FFFFFF"/>
                </a:solidFill>
                <a:latin typeface="Canva Sans Bold"/>
                <a:ea typeface="Canva Sans Bold"/>
                <a:cs typeface="Canva Sans Bold"/>
                <a:sym typeface="Canva Sans Bold"/>
              </a:rPr>
              <a:t>How does Ray Ball recommend approaching networking in The Studio panel discussion? Select all that apply.</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Choose ALL answers that apply.</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A</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Only attending typical mixer-style networking events.</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B</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Attending networking events where there are people who are in a position to help you win</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C</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Being strategic about your time</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D</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Being aware of potential customers in a non-traditional setting</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This answer is correct.</a:t>
            </a:r>
          </a:p>
        </p:txBody>
      </p:sp>
      <p:sp>
        <p:nvSpPr>
          <p:cNvPr name="TextBox 4" id="4"/>
          <p:cNvSpPr txBox="true"/>
          <p:nvPr/>
        </p:nvSpPr>
        <p:spPr>
          <a:xfrm rot="0">
            <a:off x="1028700" y="6591924"/>
            <a:ext cx="5713958" cy="2084070"/>
          </a:xfrm>
          <a:prstGeom prst="rect">
            <a:avLst/>
          </a:prstGeom>
        </p:spPr>
        <p:txBody>
          <a:bodyPr anchor="t" rtlCol="false" tIns="0" lIns="0" bIns="0" rIns="0">
            <a:spAutoFit/>
          </a:bodyPr>
          <a:lstStyle/>
          <a:p>
            <a:pPr algn="ctr">
              <a:lnSpc>
                <a:spcPts val="1679"/>
              </a:lnSpc>
              <a:spcBef>
                <a:spcPct val="0"/>
              </a:spcBef>
            </a:pPr>
            <a:r>
              <a:rPr lang="en-US" b="true" sz="1200">
                <a:solidFill>
                  <a:srgbClr val="FFFFFF"/>
                </a:solidFill>
                <a:latin typeface="Canva Sans Bold"/>
                <a:ea typeface="Canva Sans Bold"/>
                <a:cs typeface="Canva Sans Bold"/>
                <a:sym typeface="Canva Sans Bold"/>
              </a:rPr>
              <a:t>What percentage of communication is your tone of voice and body language?</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Choose only ONE best answer.</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A</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30</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B</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57</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C</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74</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D</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93 - correct</a:t>
            </a:r>
          </a:p>
        </p:txBody>
      </p:sp>
      <p:sp>
        <p:nvSpPr>
          <p:cNvPr name="TextBox 5" id="5"/>
          <p:cNvSpPr txBox="true"/>
          <p:nvPr/>
        </p:nvSpPr>
        <p:spPr>
          <a:xfrm rot="0">
            <a:off x="10392169" y="2605266"/>
            <a:ext cx="4371826" cy="1455420"/>
          </a:xfrm>
          <a:prstGeom prst="rect">
            <a:avLst/>
          </a:prstGeom>
        </p:spPr>
        <p:txBody>
          <a:bodyPr anchor="t" rtlCol="false" tIns="0" lIns="0" bIns="0" rIns="0">
            <a:spAutoFit/>
          </a:bodyPr>
          <a:lstStyle/>
          <a:p>
            <a:pPr algn="ctr">
              <a:lnSpc>
                <a:spcPts val="1679"/>
              </a:lnSpc>
              <a:spcBef>
                <a:spcPct val="0"/>
              </a:spcBef>
            </a:pPr>
            <a:r>
              <a:rPr lang="en-US" b="true" sz="1200">
                <a:solidFill>
                  <a:srgbClr val="FFFFFF"/>
                </a:solidFill>
                <a:latin typeface="Canva Sans Bold"/>
                <a:ea typeface="Canva Sans Bold"/>
                <a:cs typeface="Canva Sans Bold"/>
                <a:sym typeface="Canva Sans Bold"/>
              </a:rPr>
              <a:t>What is mirroring while communicating?</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Choose only ONE best answer.</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A</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Mirroring the body language of the person you’re talking to</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B</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Talking to yourself in the mirror</a:t>
            </a:r>
          </a:p>
          <a:p>
            <a:pPr algn="ctr">
              <a:lnSpc>
                <a:spcPts val="1679"/>
              </a:lnSpc>
              <a:spcBef>
                <a:spcPct val="0"/>
              </a:spcBef>
            </a:pPr>
            <a:r>
              <a:rPr lang="en-US" b="true" sz="1200">
                <a:solidFill>
                  <a:srgbClr val="FFFFFF"/>
                </a:solidFill>
                <a:latin typeface="Canva Sans Bold"/>
                <a:ea typeface="Canva Sans Bold"/>
                <a:cs typeface="Canva Sans Bold"/>
                <a:sym typeface="Canva Sans Bold"/>
              </a:rPr>
              <a:t>This answer is correct A</a:t>
            </a:r>
          </a:p>
        </p:txBody>
      </p:sp>
      <p:sp>
        <p:nvSpPr>
          <p:cNvPr name="TextBox 6" id="6"/>
          <p:cNvSpPr txBox="true"/>
          <p:nvPr/>
        </p:nvSpPr>
        <p:spPr>
          <a:xfrm rot="0">
            <a:off x="7334101" y="-171450"/>
            <a:ext cx="2536924"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anva Sans Bold"/>
                <a:ea typeface="Canva Sans Bold"/>
                <a:cs typeface="Canva Sans Bold"/>
                <a:sym typeface="Canva Sans Bold"/>
              </a:rPr>
              <a:t>Quiz</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5256080" y="283600"/>
            <a:ext cx="7775841" cy="9719801"/>
          </a:xfrm>
          <a:custGeom>
            <a:avLst/>
            <a:gdLst/>
            <a:ahLst/>
            <a:cxnLst/>
            <a:rect r="r" b="b" t="t" l="l"/>
            <a:pathLst>
              <a:path h="9719801" w="7775841">
                <a:moveTo>
                  <a:pt x="0" y="0"/>
                </a:moveTo>
                <a:lnTo>
                  <a:pt x="7775840" y="0"/>
                </a:lnTo>
                <a:lnTo>
                  <a:pt x="7775840" y="9719800"/>
                </a:lnTo>
                <a:lnTo>
                  <a:pt x="0" y="9719800"/>
                </a:lnTo>
                <a:lnTo>
                  <a:pt x="0" y="0"/>
                </a:lnTo>
                <a:close/>
              </a:path>
            </a:pathLst>
          </a:custGeom>
          <a:blipFill>
            <a:blip r:embed="rId2"/>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1D1D1D"/>
        </a:solidFill>
      </p:bgPr>
    </p:bg>
    <p:spTree>
      <p:nvGrpSpPr>
        <p:cNvPr id="1" name=""/>
        <p:cNvGrpSpPr/>
        <p:nvPr/>
      </p:nvGrpSpPr>
      <p:grpSpPr>
        <a:xfrm>
          <a:off x="0" y="0"/>
          <a:ext cx="0" cy="0"/>
          <a:chOff x="0" y="0"/>
          <a:chExt cx="0" cy="0"/>
        </a:xfrm>
      </p:grpSpPr>
      <p:sp>
        <p:nvSpPr>
          <p:cNvPr name="Freeform 2" id="2"/>
          <p:cNvSpPr/>
          <p:nvPr/>
        </p:nvSpPr>
        <p:spPr>
          <a:xfrm flipH="false" flipV="false" rot="0">
            <a:off x="2334242" y="3677723"/>
            <a:ext cx="13619515" cy="2931555"/>
          </a:xfrm>
          <a:custGeom>
            <a:avLst/>
            <a:gdLst/>
            <a:ahLst/>
            <a:cxnLst/>
            <a:rect r="r" b="b" t="t" l="l"/>
            <a:pathLst>
              <a:path h="2931555" w="13619515">
                <a:moveTo>
                  <a:pt x="0" y="0"/>
                </a:moveTo>
                <a:lnTo>
                  <a:pt x="13619516" y="0"/>
                </a:lnTo>
                <a:lnTo>
                  <a:pt x="13619516" y="2931554"/>
                </a:lnTo>
                <a:lnTo>
                  <a:pt x="0" y="2931554"/>
                </a:lnTo>
                <a:lnTo>
                  <a:pt x="0" y="0"/>
                </a:lnTo>
                <a:close/>
              </a:path>
            </a:pathLst>
          </a:custGeom>
          <a:blipFill>
            <a:blip r:embed="rId2"/>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DAHK_Izz8fk</dc:identifier>
  <dcterms:modified xsi:type="dcterms:W3CDTF">2011-08-01T06:04:30Z</dcterms:modified>
  <cp:revision>1</cp:revision>
  <dc:title>lesson 6</dc:title>
</cp:coreProperties>
</file>