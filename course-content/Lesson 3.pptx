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Montserrat" charset="1" panose="00000500000000000000"/>
      <p:regular r:id="rId46"/>
    </p:embeddedFont>
    <p:embeddedFont>
      <p:font typeface="Canva Sans Bold" charset="1" panose="020B0803030501040103"/>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https://youtu.be/odIvLHGVkQw?si=iHBkvk0zx5lFr72A" TargetMode="External" Type="http://schemas.openxmlformats.org/officeDocument/2006/relationships/video"/></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36885" y="1028700"/>
            <a:ext cx="17214231" cy="8327384"/>
          </a:xfrm>
          <a:custGeom>
            <a:avLst/>
            <a:gdLst/>
            <a:ahLst/>
            <a:cxnLst/>
            <a:rect r="r" b="b" t="t" l="l"/>
            <a:pathLst>
              <a:path h="8327384" w="17214231">
                <a:moveTo>
                  <a:pt x="0" y="0"/>
                </a:moveTo>
                <a:lnTo>
                  <a:pt x="17214230" y="0"/>
                </a:lnTo>
                <a:lnTo>
                  <a:pt x="17214230" y="8327384"/>
                </a:lnTo>
                <a:lnTo>
                  <a:pt x="0" y="8327384"/>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3653314" y="726126"/>
            <a:ext cx="10981372" cy="6172200"/>
          </a:xfrm>
          <a:prstGeom prst="rect">
            <a:avLst/>
          </a:prstGeom>
        </p:spPr>
      </p:pic>
      <p:sp>
        <p:nvSpPr>
          <p:cNvPr name="TextBox 3" id="3"/>
          <p:cNvSpPr txBox="true"/>
          <p:nvPr/>
        </p:nvSpPr>
        <p:spPr>
          <a:xfrm rot="0">
            <a:off x="0" y="7665529"/>
            <a:ext cx="18288000" cy="1099185"/>
          </a:xfrm>
          <a:prstGeom prst="rect">
            <a:avLst/>
          </a:prstGeom>
        </p:spPr>
        <p:txBody>
          <a:bodyPr anchor="t" rtlCol="false" tIns="0" lIns="0" bIns="0" rIns="0">
            <a:spAutoFit/>
          </a:bodyPr>
          <a:lstStyle/>
          <a:p>
            <a:pPr algn="ctr">
              <a:lnSpc>
                <a:spcPts val="2940"/>
              </a:lnSpc>
              <a:spcBef>
                <a:spcPct val="0"/>
              </a:spcBef>
            </a:pPr>
            <a:r>
              <a:rPr lang="en-US" sz="2100">
                <a:solidFill>
                  <a:srgbClr val="FFFFFF"/>
                </a:solidFill>
                <a:latin typeface="Montserrat"/>
                <a:ea typeface="Montserrat"/>
                <a:cs typeface="Montserrat"/>
                <a:sym typeface="Montserrat"/>
              </a:rPr>
              <a:t>Money. You need it to do anything</a:t>
            </a:r>
          </a:p>
          <a:p>
            <a:pPr algn="ctr">
              <a:lnSpc>
                <a:spcPts val="2940"/>
              </a:lnSpc>
              <a:spcBef>
                <a:spcPct val="0"/>
              </a:spcBef>
            </a:pPr>
            <a:r>
              <a:rPr lang="en-US" sz="2100">
                <a:solidFill>
                  <a:srgbClr val="FFFFFF"/>
                </a:solidFill>
                <a:latin typeface="Montserrat"/>
                <a:ea typeface="Montserrat"/>
                <a:cs typeface="Montserrat"/>
                <a:sym typeface="Montserrat"/>
              </a:rPr>
              <a:t>How you handle it can enslave or set you free. In this lesson, we are going to delve into one of the most important topics for business owners— really for anyone. Your personal financial management, literacy, and habits will impact your business finances.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777212" y="2915843"/>
            <a:ext cx="16733576" cy="4455315"/>
          </a:xfrm>
          <a:custGeom>
            <a:avLst/>
            <a:gdLst/>
            <a:ahLst/>
            <a:cxnLst/>
            <a:rect r="r" b="b" t="t" l="l"/>
            <a:pathLst>
              <a:path h="4455315" w="16733576">
                <a:moveTo>
                  <a:pt x="0" y="0"/>
                </a:moveTo>
                <a:lnTo>
                  <a:pt x="16733576" y="0"/>
                </a:lnTo>
                <a:lnTo>
                  <a:pt x="16733576" y="4455314"/>
                </a:lnTo>
                <a:lnTo>
                  <a:pt x="0" y="4455314"/>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600639" y="591024"/>
            <a:ext cx="13086723" cy="7426715"/>
          </a:xfrm>
          <a:custGeom>
            <a:avLst/>
            <a:gdLst/>
            <a:ahLst/>
            <a:cxnLst/>
            <a:rect r="r" b="b" t="t" l="l"/>
            <a:pathLst>
              <a:path h="7426715" w="13086723">
                <a:moveTo>
                  <a:pt x="0" y="0"/>
                </a:moveTo>
                <a:lnTo>
                  <a:pt x="13086722" y="0"/>
                </a:lnTo>
                <a:lnTo>
                  <a:pt x="13086722" y="7426715"/>
                </a:lnTo>
                <a:lnTo>
                  <a:pt x="0" y="7426715"/>
                </a:lnTo>
                <a:lnTo>
                  <a:pt x="0" y="0"/>
                </a:lnTo>
                <a:close/>
              </a:path>
            </a:pathLst>
          </a:custGeom>
          <a:blipFill>
            <a:blip r:embed="rId2"/>
            <a:stretch>
              <a:fillRect l="0" t="0" r="0" b="0"/>
            </a:stretch>
          </a:blipFill>
        </p:spPr>
      </p:sp>
      <p:sp>
        <p:nvSpPr>
          <p:cNvPr name="Freeform 3" id="3"/>
          <p:cNvSpPr/>
          <p:nvPr/>
        </p:nvSpPr>
        <p:spPr>
          <a:xfrm flipH="false" flipV="false" rot="0">
            <a:off x="2600639" y="8125521"/>
            <a:ext cx="12563642" cy="1570455"/>
          </a:xfrm>
          <a:custGeom>
            <a:avLst/>
            <a:gdLst/>
            <a:ahLst/>
            <a:cxnLst/>
            <a:rect r="r" b="b" t="t" l="l"/>
            <a:pathLst>
              <a:path h="1570455" w="12563642">
                <a:moveTo>
                  <a:pt x="0" y="0"/>
                </a:moveTo>
                <a:lnTo>
                  <a:pt x="12563642" y="0"/>
                </a:lnTo>
                <a:lnTo>
                  <a:pt x="12563642" y="1570455"/>
                </a:lnTo>
                <a:lnTo>
                  <a:pt x="0" y="1570455"/>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08247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4339382" y="3498215"/>
            <a:ext cx="9609237" cy="1645285"/>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Canva Sans Bold"/>
                <a:ea typeface="Canva Sans Bold"/>
                <a:cs typeface="Canva Sans Bold"/>
                <a:sym typeface="Canva Sans Bold"/>
              </a:rPr>
              <a:t>Take a moment to think back to the first time that you were introduced to the concept of money…</a:t>
            </a:r>
          </a:p>
          <a:p>
            <a:pPr algn="ctr">
              <a:lnSpc>
                <a:spcPts val="2239"/>
              </a:lnSpc>
              <a:spcBef>
                <a:spcPct val="0"/>
              </a:spcBef>
            </a:pPr>
            <a:r>
              <a:rPr lang="en-US" b="true" sz="1599">
                <a:solidFill>
                  <a:srgbClr val="FFFFFF"/>
                </a:solidFill>
                <a:latin typeface="Canva Sans Bold"/>
                <a:ea typeface="Canva Sans Bold"/>
                <a:cs typeface="Canva Sans Bold"/>
                <a:sym typeface="Canva Sans Bold"/>
              </a:rPr>
              <a:t>What did your family, friends, teachers, religious institutions, or anyone </a:t>
            </a:r>
          </a:p>
          <a:p>
            <a:pPr algn="ctr">
              <a:lnSpc>
                <a:spcPts val="2239"/>
              </a:lnSpc>
              <a:spcBef>
                <a:spcPct val="0"/>
              </a:spcBef>
            </a:pPr>
            <a:r>
              <a:rPr lang="en-US" b="true" sz="1599">
                <a:solidFill>
                  <a:srgbClr val="FFFFFF"/>
                </a:solidFill>
                <a:latin typeface="Canva Sans Bold"/>
                <a:ea typeface="Canva Sans Bold"/>
                <a:cs typeface="Canva Sans Bold"/>
                <a:sym typeface="Canva Sans Bold"/>
              </a:rPr>
              <a:t>else teach you about money? </a:t>
            </a:r>
          </a:p>
          <a:p>
            <a:pPr algn="ctr">
              <a:lnSpc>
                <a:spcPts val="2239"/>
              </a:lnSpc>
              <a:spcBef>
                <a:spcPct val="0"/>
              </a:spcBef>
            </a:pPr>
            <a:r>
              <a:rPr lang="en-US" b="true" sz="1599">
                <a:solidFill>
                  <a:srgbClr val="FFFFFF"/>
                </a:solidFill>
                <a:latin typeface="Canva Sans Bold"/>
                <a:ea typeface="Canva Sans Bold"/>
                <a:cs typeface="Canva Sans Bold"/>
                <a:sym typeface="Canva Sans Bold"/>
              </a:rPr>
              <a:t>What is your most difficult challenge in handling money?</a:t>
            </a:r>
          </a:p>
          <a:p>
            <a:pPr algn="ctr">
              <a:lnSpc>
                <a:spcPts val="2239"/>
              </a:lnSpc>
              <a:spcBef>
                <a:spcPct val="0"/>
              </a:spcBef>
            </a:pPr>
            <a:r>
              <a:rPr lang="en-US" b="true" sz="1599">
                <a:solidFill>
                  <a:srgbClr val="FFFFFF"/>
                </a:solidFill>
                <a:latin typeface="Canva Sans Bold"/>
                <a:ea typeface="Canva Sans Bold"/>
                <a:cs typeface="Canva Sans Bold"/>
                <a:sym typeface="Canva Sans Bold"/>
              </a:rPr>
              <a:t>Submit your assignment</a:t>
            </a:r>
          </a:p>
          <a:p>
            <a:pPr algn="ctr">
              <a:lnSpc>
                <a:spcPts val="2239"/>
              </a:lnSpc>
              <a:spcBef>
                <a:spcPct val="0"/>
              </a:spcBef>
            </a:pPr>
            <a:r>
              <a:rPr lang="en-US" b="true" sz="1599">
                <a:solidFill>
                  <a:srgbClr val="FFFFFF"/>
                </a:solidFill>
                <a:latin typeface="Canva Sans Bold"/>
                <a:ea typeface="Canva Sans Bold"/>
                <a:cs typeface="Canva Sans Bold"/>
                <a:sym typeface="Canva Sans Bold"/>
              </a:rPr>
              <a:t>You may only submit one file with maximum 100 MB in size</a:t>
            </a:r>
          </a:p>
        </p:txBody>
      </p:sp>
      <p:sp>
        <p:nvSpPr>
          <p:cNvPr name="TextBox 4" id="4"/>
          <p:cNvSpPr txBox="true"/>
          <p:nvPr/>
        </p:nvSpPr>
        <p:spPr>
          <a:xfrm rot="0">
            <a:off x="5800651" y="5226760"/>
            <a:ext cx="6686699" cy="540385"/>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Canva Sans Bold"/>
                <a:ea typeface="Canva Sans Bold"/>
                <a:cs typeface="Canva Sans Bold"/>
                <a:sym typeface="Canva Sans Bold"/>
              </a:rPr>
              <a:t>On a scale of 1-5, how would you rate your financial position today? </a:t>
            </a:r>
          </a:p>
          <a:p>
            <a:pPr algn="ctr">
              <a:lnSpc>
                <a:spcPts val="223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261035" y="1028700"/>
            <a:ext cx="13765929" cy="1720741"/>
          </a:xfrm>
          <a:custGeom>
            <a:avLst/>
            <a:gdLst/>
            <a:ahLst/>
            <a:cxnLst/>
            <a:rect r="r" b="b" t="t" l="l"/>
            <a:pathLst>
              <a:path h="1720741" w="13765929">
                <a:moveTo>
                  <a:pt x="0" y="0"/>
                </a:moveTo>
                <a:lnTo>
                  <a:pt x="13765930" y="0"/>
                </a:lnTo>
                <a:lnTo>
                  <a:pt x="13765930" y="1720741"/>
                </a:lnTo>
                <a:lnTo>
                  <a:pt x="0" y="1720741"/>
                </a:lnTo>
                <a:lnTo>
                  <a:pt x="0" y="0"/>
                </a:lnTo>
                <a:close/>
              </a:path>
            </a:pathLst>
          </a:custGeom>
          <a:blipFill>
            <a:blip r:embed="rId2"/>
            <a:stretch>
              <a:fillRect l="0" t="0" r="0" b="0"/>
            </a:stretch>
          </a:blipFill>
        </p:spPr>
      </p:sp>
      <p:sp>
        <p:nvSpPr>
          <p:cNvPr name="Freeform 3" id="3"/>
          <p:cNvSpPr/>
          <p:nvPr/>
        </p:nvSpPr>
        <p:spPr>
          <a:xfrm flipH="false" flipV="false" rot="0">
            <a:off x="2261035" y="6122201"/>
            <a:ext cx="13765929" cy="3820045"/>
          </a:xfrm>
          <a:custGeom>
            <a:avLst/>
            <a:gdLst/>
            <a:ahLst/>
            <a:cxnLst/>
            <a:rect r="r" b="b" t="t" l="l"/>
            <a:pathLst>
              <a:path h="3820045" w="13765929">
                <a:moveTo>
                  <a:pt x="0" y="0"/>
                </a:moveTo>
                <a:lnTo>
                  <a:pt x="13765930" y="0"/>
                </a:lnTo>
                <a:lnTo>
                  <a:pt x="13765930" y="3820045"/>
                </a:lnTo>
                <a:lnTo>
                  <a:pt x="0" y="3820045"/>
                </a:lnTo>
                <a:lnTo>
                  <a:pt x="0" y="0"/>
                </a:lnTo>
                <a:close/>
              </a:path>
            </a:pathLst>
          </a:custGeom>
          <a:blipFill>
            <a:blip r:embed="rId3"/>
            <a:stretch>
              <a:fillRect l="0" t="0" r="0" b="0"/>
            </a:stretch>
          </a:blipFill>
        </p:spPr>
      </p:sp>
      <p:sp>
        <p:nvSpPr>
          <p:cNvPr name="Freeform 4" id="4"/>
          <p:cNvSpPr/>
          <p:nvPr/>
        </p:nvSpPr>
        <p:spPr>
          <a:xfrm flipH="false" flipV="false" rot="0">
            <a:off x="6865099" y="2863372"/>
            <a:ext cx="4557803" cy="3258829"/>
          </a:xfrm>
          <a:custGeom>
            <a:avLst/>
            <a:gdLst/>
            <a:ahLst/>
            <a:cxnLst/>
            <a:rect r="r" b="b" t="t" l="l"/>
            <a:pathLst>
              <a:path h="3258829" w="4557803">
                <a:moveTo>
                  <a:pt x="0" y="0"/>
                </a:moveTo>
                <a:lnTo>
                  <a:pt x="4557802" y="0"/>
                </a:lnTo>
                <a:lnTo>
                  <a:pt x="4557802" y="3258829"/>
                </a:lnTo>
                <a:lnTo>
                  <a:pt x="0" y="3258829"/>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9571280" y="1534408"/>
            <a:ext cx="7430842" cy="2870695"/>
          </a:xfrm>
          <a:custGeom>
            <a:avLst/>
            <a:gdLst/>
            <a:ahLst/>
            <a:cxnLst/>
            <a:rect r="r" b="b" t="t" l="l"/>
            <a:pathLst>
              <a:path h="2870695" w="7430842">
                <a:moveTo>
                  <a:pt x="0" y="0"/>
                </a:moveTo>
                <a:lnTo>
                  <a:pt x="7430842" y="0"/>
                </a:lnTo>
                <a:lnTo>
                  <a:pt x="7430842" y="2870695"/>
                </a:lnTo>
                <a:lnTo>
                  <a:pt x="0" y="2870695"/>
                </a:lnTo>
                <a:lnTo>
                  <a:pt x="0" y="0"/>
                </a:lnTo>
                <a:close/>
              </a:path>
            </a:pathLst>
          </a:custGeom>
          <a:blipFill>
            <a:blip r:embed="rId2"/>
            <a:stretch>
              <a:fillRect l="0" t="0" r="0" b="0"/>
            </a:stretch>
          </a:blipFill>
        </p:spPr>
      </p:sp>
      <p:sp>
        <p:nvSpPr>
          <p:cNvPr name="Freeform 3" id="3"/>
          <p:cNvSpPr/>
          <p:nvPr/>
        </p:nvSpPr>
        <p:spPr>
          <a:xfrm flipH="false" flipV="false" rot="0">
            <a:off x="1679209" y="1534408"/>
            <a:ext cx="6192830" cy="5741390"/>
          </a:xfrm>
          <a:custGeom>
            <a:avLst/>
            <a:gdLst/>
            <a:ahLst/>
            <a:cxnLst/>
            <a:rect r="r" b="b" t="t" l="l"/>
            <a:pathLst>
              <a:path h="5741390" w="6192830">
                <a:moveTo>
                  <a:pt x="0" y="0"/>
                </a:moveTo>
                <a:lnTo>
                  <a:pt x="6192830" y="0"/>
                </a:lnTo>
                <a:lnTo>
                  <a:pt x="6192830" y="5741390"/>
                </a:lnTo>
                <a:lnTo>
                  <a:pt x="0" y="5741390"/>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25547" y="2700822"/>
            <a:ext cx="6124221" cy="3685668"/>
          </a:xfrm>
          <a:custGeom>
            <a:avLst/>
            <a:gdLst/>
            <a:ahLst/>
            <a:cxnLst/>
            <a:rect r="r" b="b" t="t" l="l"/>
            <a:pathLst>
              <a:path h="3685668" w="6124221">
                <a:moveTo>
                  <a:pt x="0" y="0"/>
                </a:moveTo>
                <a:lnTo>
                  <a:pt x="6124221" y="0"/>
                </a:lnTo>
                <a:lnTo>
                  <a:pt x="6124221" y="3685668"/>
                </a:lnTo>
                <a:lnTo>
                  <a:pt x="0" y="3685668"/>
                </a:lnTo>
                <a:lnTo>
                  <a:pt x="0" y="0"/>
                </a:lnTo>
                <a:close/>
              </a:path>
            </a:pathLst>
          </a:custGeom>
          <a:blipFill>
            <a:blip r:embed="rId2"/>
            <a:stretch>
              <a:fillRect l="0" t="0" r="0" b="0"/>
            </a:stretch>
          </a:blipFill>
        </p:spPr>
      </p:sp>
      <p:sp>
        <p:nvSpPr>
          <p:cNvPr name="Freeform 3" id="3"/>
          <p:cNvSpPr/>
          <p:nvPr/>
        </p:nvSpPr>
        <p:spPr>
          <a:xfrm flipH="false" flipV="false" rot="0">
            <a:off x="9389671" y="1564836"/>
            <a:ext cx="7406152" cy="7157328"/>
          </a:xfrm>
          <a:custGeom>
            <a:avLst/>
            <a:gdLst/>
            <a:ahLst/>
            <a:cxnLst/>
            <a:rect r="r" b="b" t="t" l="l"/>
            <a:pathLst>
              <a:path h="7157328" w="7406152">
                <a:moveTo>
                  <a:pt x="0" y="0"/>
                </a:moveTo>
                <a:lnTo>
                  <a:pt x="7406152" y="0"/>
                </a:lnTo>
                <a:lnTo>
                  <a:pt x="7406152" y="7157328"/>
                </a:lnTo>
                <a:lnTo>
                  <a:pt x="0" y="715732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081633" y="1864674"/>
            <a:ext cx="14124734" cy="3372280"/>
          </a:xfrm>
          <a:custGeom>
            <a:avLst/>
            <a:gdLst/>
            <a:ahLst/>
            <a:cxnLst/>
            <a:rect r="r" b="b" t="t" l="l"/>
            <a:pathLst>
              <a:path h="3372280" w="14124734">
                <a:moveTo>
                  <a:pt x="0" y="0"/>
                </a:moveTo>
                <a:lnTo>
                  <a:pt x="14124734" y="0"/>
                </a:lnTo>
                <a:lnTo>
                  <a:pt x="14124734" y="3372280"/>
                </a:lnTo>
                <a:lnTo>
                  <a:pt x="0" y="337228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158233" y="840415"/>
            <a:ext cx="13971534" cy="2602198"/>
          </a:xfrm>
          <a:custGeom>
            <a:avLst/>
            <a:gdLst/>
            <a:ahLst/>
            <a:cxnLst/>
            <a:rect r="r" b="b" t="t" l="l"/>
            <a:pathLst>
              <a:path h="2602198" w="13971534">
                <a:moveTo>
                  <a:pt x="0" y="0"/>
                </a:moveTo>
                <a:lnTo>
                  <a:pt x="13971534" y="0"/>
                </a:lnTo>
                <a:lnTo>
                  <a:pt x="13971534" y="2602198"/>
                </a:lnTo>
                <a:lnTo>
                  <a:pt x="0" y="2602198"/>
                </a:lnTo>
                <a:lnTo>
                  <a:pt x="0" y="0"/>
                </a:lnTo>
                <a:close/>
              </a:path>
            </a:pathLst>
          </a:custGeom>
          <a:blipFill>
            <a:blip r:embed="rId2"/>
            <a:stretch>
              <a:fillRect l="0" t="0" r="0" b="0"/>
            </a:stretch>
          </a:blipFill>
        </p:spPr>
      </p:sp>
      <p:sp>
        <p:nvSpPr>
          <p:cNvPr name="Freeform 3" id="3"/>
          <p:cNvSpPr/>
          <p:nvPr/>
        </p:nvSpPr>
        <p:spPr>
          <a:xfrm flipH="false" flipV="false" rot="0">
            <a:off x="6098097" y="3442613"/>
            <a:ext cx="6091806" cy="6387214"/>
          </a:xfrm>
          <a:custGeom>
            <a:avLst/>
            <a:gdLst/>
            <a:ahLst/>
            <a:cxnLst/>
            <a:rect r="r" b="b" t="t" l="l"/>
            <a:pathLst>
              <a:path h="6387214" w="6091806">
                <a:moveTo>
                  <a:pt x="0" y="0"/>
                </a:moveTo>
                <a:lnTo>
                  <a:pt x="6091806" y="0"/>
                </a:lnTo>
                <a:lnTo>
                  <a:pt x="6091806" y="6387214"/>
                </a:lnTo>
                <a:lnTo>
                  <a:pt x="0" y="6387214"/>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33315" y="1028700"/>
            <a:ext cx="13621370" cy="7474727"/>
          </a:xfrm>
          <a:custGeom>
            <a:avLst/>
            <a:gdLst/>
            <a:ahLst/>
            <a:cxnLst/>
            <a:rect r="r" b="b" t="t" l="l"/>
            <a:pathLst>
              <a:path h="7474727" w="13621370">
                <a:moveTo>
                  <a:pt x="0" y="0"/>
                </a:moveTo>
                <a:lnTo>
                  <a:pt x="13621370" y="0"/>
                </a:lnTo>
                <a:lnTo>
                  <a:pt x="13621370" y="7474727"/>
                </a:lnTo>
                <a:lnTo>
                  <a:pt x="0" y="7474727"/>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98439" y="3030575"/>
            <a:ext cx="16491121" cy="4225850"/>
          </a:xfrm>
          <a:custGeom>
            <a:avLst/>
            <a:gdLst/>
            <a:ahLst/>
            <a:cxnLst/>
            <a:rect r="r" b="b" t="t" l="l"/>
            <a:pathLst>
              <a:path h="4225850" w="16491121">
                <a:moveTo>
                  <a:pt x="0" y="0"/>
                </a:moveTo>
                <a:lnTo>
                  <a:pt x="16491122" y="0"/>
                </a:lnTo>
                <a:lnTo>
                  <a:pt x="16491122" y="4225850"/>
                </a:lnTo>
                <a:lnTo>
                  <a:pt x="0" y="422585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08142" y="1207652"/>
            <a:ext cx="15471716" cy="4158024"/>
          </a:xfrm>
          <a:custGeom>
            <a:avLst/>
            <a:gdLst/>
            <a:ahLst/>
            <a:cxnLst/>
            <a:rect r="r" b="b" t="t" l="l"/>
            <a:pathLst>
              <a:path h="4158024" w="15471716">
                <a:moveTo>
                  <a:pt x="0" y="0"/>
                </a:moveTo>
                <a:lnTo>
                  <a:pt x="15471716" y="0"/>
                </a:lnTo>
                <a:lnTo>
                  <a:pt x="15471716" y="4158023"/>
                </a:lnTo>
                <a:lnTo>
                  <a:pt x="0" y="4158023"/>
                </a:lnTo>
                <a:lnTo>
                  <a:pt x="0" y="0"/>
                </a:lnTo>
                <a:close/>
              </a:path>
            </a:pathLst>
          </a:custGeom>
          <a:blipFill>
            <a:blip r:embed="rId2"/>
            <a:stretch>
              <a:fillRect l="0" t="0" r="0" b="0"/>
            </a:stretch>
          </a:blipFill>
        </p:spPr>
      </p:sp>
      <p:sp>
        <p:nvSpPr>
          <p:cNvPr name="Freeform 3" id="3"/>
          <p:cNvSpPr/>
          <p:nvPr/>
        </p:nvSpPr>
        <p:spPr>
          <a:xfrm flipH="false" flipV="false" rot="0">
            <a:off x="6079825" y="5547735"/>
            <a:ext cx="6128350" cy="4381770"/>
          </a:xfrm>
          <a:custGeom>
            <a:avLst/>
            <a:gdLst/>
            <a:ahLst/>
            <a:cxnLst/>
            <a:rect r="r" b="b" t="t" l="l"/>
            <a:pathLst>
              <a:path h="4381770" w="6128350">
                <a:moveTo>
                  <a:pt x="0" y="0"/>
                </a:moveTo>
                <a:lnTo>
                  <a:pt x="6128350" y="0"/>
                </a:lnTo>
                <a:lnTo>
                  <a:pt x="6128350" y="4381771"/>
                </a:lnTo>
                <a:lnTo>
                  <a:pt x="0" y="4381771"/>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3901830" y="1982510"/>
            <a:ext cx="11301259" cy="1087746"/>
          </a:xfrm>
          <a:custGeom>
            <a:avLst/>
            <a:gdLst/>
            <a:ahLst/>
            <a:cxnLst/>
            <a:rect r="r" b="b" t="t" l="l"/>
            <a:pathLst>
              <a:path h="1087746" w="11301259">
                <a:moveTo>
                  <a:pt x="0" y="0"/>
                </a:moveTo>
                <a:lnTo>
                  <a:pt x="11301259" y="0"/>
                </a:lnTo>
                <a:lnTo>
                  <a:pt x="11301259" y="1087746"/>
                </a:lnTo>
                <a:lnTo>
                  <a:pt x="0" y="1087746"/>
                </a:lnTo>
                <a:lnTo>
                  <a:pt x="0" y="0"/>
                </a:lnTo>
                <a:close/>
              </a:path>
            </a:pathLst>
          </a:custGeom>
          <a:blipFill>
            <a:blip r:embed="rId2"/>
            <a:stretch>
              <a:fillRect l="0" t="0" r="0" b="0"/>
            </a:stretch>
          </a:blipFill>
        </p:spPr>
      </p:sp>
      <p:sp>
        <p:nvSpPr>
          <p:cNvPr name="Freeform 3" id="3"/>
          <p:cNvSpPr/>
          <p:nvPr/>
        </p:nvSpPr>
        <p:spPr>
          <a:xfrm flipH="false" flipV="false" rot="0">
            <a:off x="7570315" y="3285772"/>
            <a:ext cx="3454944" cy="6518763"/>
          </a:xfrm>
          <a:custGeom>
            <a:avLst/>
            <a:gdLst/>
            <a:ahLst/>
            <a:cxnLst/>
            <a:rect r="r" b="b" t="t" l="l"/>
            <a:pathLst>
              <a:path h="6518763" w="3454944">
                <a:moveTo>
                  <a:pt x="0" y="0"/>
                </a:moveTo>
                <a:lnTo>
                  <a:pt x="3454944" y="0"/>
                </a:lnTo>
                <a:lnTo>
                  <a:pt x="3454944" y="6518762"/>
                </a:lnTo>
                <a:lnTo>
                  <a:pt x="0" y="6518762"/>
                </a:lnTo>
                <a:lnTo>
                  <a:pt x="0" y="0"/>
                </a:lnTo>
                <a:close/>
              </a:path>
            </a:pathLst>
          </a:custGeom>
          <a:blipFill>
            <a:blip r:embed="rId3"/>
            <a:stretch>
              <a:fillRect l="0" t="0" r="0" b="0"/>
            </a:stretch>
          </a:blipFill>
        </p:spPr>
      </p:sp>
      <p:sp>
        <p:nvSpPr>
          <p:cNvPr name="TextBox 4" id="4"/>
          <p:cNvSpPr txBox="true"/>
          <p:nvPr/>
        </p:nvSpPr>
        <p:spPr>
          <a:xfrm rot="0">
            <a:off x="7567464" y="19689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78573" y="1949624"/>
            <a:ext cx="15730855" cy="2772563"/>
          </a:xfrm>
          <a:custGeom>
            <a:avLst/>
            <a:gdLst/>
            <a:ahLst/>
            <a:cxnLst/>
            <a:rect r="r" b="b" t="t" l="l"/>
            <a:pathLst>
              <a:path h="2772563" w="15730855">
                <a:moveTo>
                  <a:pt x="0" y="0"/>
                </a:moveTo>
                <a:lnTo>
                  <a:pt x="15730854" y="0"/>
                </a:lnTo>
                <a:lnTo>
                  <a:pt x="15730854" y="2772563"/>
                </a:lnTo>
                <a:lnTo>
                  <a:pt x="0" y="2772563"/>
                </a:lnTo>
                <a:lnTo>
                  <a:pt x="0" y="0"/>
                </a:lnTo>
                <a:close/>
              </a:path>
            </a:pathLst>
          </a:custGeom>
          <a:blipFill>
            <a:blip r:embed="rId2"/>
            <a:stretch>
              <a:fillRect l="0" t="0" r="0" b="0"/>
            </a:stretch>
          </a:blipFill>
        </p:spPr>
      </p:sp>
      <p:sp>
        <p:nvSpPr>
          <p:cNvPr name="Freeform 3" id="3"/>
          <p:cNvSpPr/>
          <p:nvPr/>
        </p:nvSpPr>
        <p:spPr>
          <a:xfrm flipH="false" flipV="false" rot="0">
            <a:off x="1278573" y="5403263"/>
            <a:ext cx="15730855" cy="2477610"/>
          </a:xfrm>
          <a:custGeom>
            <a:avLst/>
            <a:gdLst/>
            <a:ahLst/>
            <a:cxnLst/>
            <a:rect r="r" b="b" t="t" l="l"/>
            <a:pathLst>
              <a:path h="2477610" w="15730855">
                <a:moveTo>
                  <a:pt x="0" y="0"/>
                </a:moveTo>
                <a:lnTo>
                  <a:pt x="15730854" y="0"/>
                </a:lnTo>
                <a:lnTo>
                  <a:pt x="15730854" y="2477609"/>
                </a:lnTo>
                <a:lnTo>
                  <a:pt x="0" y="2477609"/>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332827" y="379534"/>
            <a:ext cx="7715328" cy="9644160"/>
          </a:xfrm>
          <a:custGeom>
            <a:avLst/>
            <a:gdLst/>
            <a:ahLst/>
            <a:cxnLst/>
            <a:rect r="r" b="b" t="t" l="l"/>
            <a:pathLst>
              <a:path h="9644160" w="7715328">
                <a:moveTo>
                  <a:pt x="0" y="0"/>
                </a:moveTo>
                <a:lnTo>
                  <a:pt x="7715328" y="0"/>
                </a:lnTo>
                <a:lnTo>
                  <a:pt x="7715328" y="9644160"/>
                </a:lnTo>
                <a:lnTo>
                  <a:pt x="0" y="964416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58894" y="1954842"/>
            <a:ext cx="16570213" cy="1491319"/>
          </a:xfrm>
          <a:custGeom>
            <a:avLst/>
            <a:gdLst/>
            <a:ahLst/>
            <a:cxnLst/>
            <a:rect r="r" b="b" t="t" l="l"/>
            <a:pathLst>
              <a:path h="1491319" w="16570213">
                <a:moveTo>
                  <a:pt x="0" y="0"/>
                </a:moveTo>
                <a:lnTo>
                  <a:pt x="16570212" y="0"/>
                </a:lnTo>
                <a:lnTo>
                  <a:pt x="16570212" y="1491319"/>
                </a:lnTo>
                <a:lnTo>
                  <a:pt x="0" y="1491319"/>
                </a:lnTo>
                <a:lnTo>
                  <a:pt x="0" y="0"/>
                </a:lnTo>
                <a:close/>
              </a:path>
            </a:pathLst>
          </a:custGeom>
          <a:blipFill>
            <a:blip r:embed="rId2"/>
            <a:stretch>
              <a:fillRect l="0" t="0" r="0" b="0"/>
            </a:stretch>
          </a:blipFill>
        </p:spPr>
      </p:sp>
      <p:sp>
        <p:nvSpPr>
          <p:cNvPr name="Freeform 3" id="3"/>
          <p:cNvSpPr/>
          <p:nvPr/>
        </p:nvSpPr>
        <p:spPr>
          <a:xfrm flipH="false" flipV="false" rot="0">
            <a:off x="858894" y="4086041"/>
            <a:ext cx="16570213" cy="4246117"/>
          </a:xfrm>
          <a:custGeom>
            <a:avLst/>
            <a:gdLst/>
            <a:ahLst/>
            <a:cxnLst/>
            <a:rect r="r" b="b" t="t" l="l"/>
            <a:pathLst>
              <a:path h="4246117" w="16570213">
                <a:moveTo>
                  <a:pt x="0" y="0"/>
                </a:moveTo>
                <a:lnTo>
                  <a:pt x="16570212" y="0"/>
                </a:lnTo>
                <a:lnTo>
                  <a:pt x="16570212" y="4246117"/>
                </a:lnTo>
                <a:lnTo>
                  <a:pt x="0" y="4246117"/>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809240" y="648135"/>
            <a:ext cx="12669520" cy="2407209"/>
          </a:xfrm>
          <a:custGeom>
            <a:avLst/>
            <a:gdLst/>
            <a:ahLst/>
            <a:cxnLst/>
            <a:rect r="r" b="b" t="t" l="l"/>
            <a:pathLst>
              <a:path h="2407209" w="12669520">
                <a:moveTo>
                  <a:pt x="0" y="0"/>
                </a:moveTo>
                <a:lnTo>
                  <a:pt x="12669520" y="0"/>
                </a:lnTo>
                <a:lnTo>
                  <a:pt x="12669520" y="2407209"/>
                </a:lnTo>
                <a:lnTo>
                  <a:pt x="0" y="2407209"/>
                </a:lnTo>
                <a:lnTo>
                  <a:pt x="0" y="0"/>
                </a:lnTo>
                <a:close/>
              </a:path>
            </a:pathLst>
          </a:custGeom>
          <a:blipFill>
            <a:blip r:embed="rId2"/>
            <a:stretch>
              <a:fillRect l="0" t="0" r="0" b="0"/>
            </a:stretch>
          </a:blipFill>
        </p:spPr>
      </p:sp>
      <p:sp>
        <p:nvSpPr>
          <p:cNvPr name="Freeform 3" id="3"/>
          <p:cNvSpPr/>
          <p:nvPr/>
        </p:nvSpPr>
        <p:spPr>
          <a:xfrm flipH="false" flipV="false" rot="0">
            <a:off x="4114474" y="3055344"/>
            <a:ext cx="10059053" cy="7229944"/>
          </a:xfrm>
          <a:custGeom>
            <a:avLst/>
            <a:gdLst/>
            <a:ahLst/>
            <a:cxnLst/>
            <a:rect r="r" b="b" t="t" l="l"/>
            <a:pathLst>
              <a:path h="7229944" w="10059053">
                <a:moveTo>
                  <a:pt x="0" y="0"/>
                </a:moveTo>
                <a:lnTo>
                  <a:pt x="10059052" y="0"/>
                </a:lnTo>
                <a:lnTo>
                  <a:pt x="10059052" y="7229944"/>
                </a:lnTo>
                <a:lnTo>
                  <a:pt x="0" y="7229944"/>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57463" y="2084409"/>
            <a:ext cx="13373074" cy="3059091"/>
          </a:xfrm>
          <a:custGeom>
            <a:avLst/>
            <a:gdLst/>
            <a:ahLst/>
            <a:cxnLst/>
            <a:rect r="r" b="b" t="t" l="l"/>
            <a:pathLst>
              <a:path h="3059091" w="13373074">
                <a:moveTo>
                  <a:pt x="0" y="0"/>
                </a:moveTo>
                <a:lnTo>
                  <a:pt x="13373074" y="0"/>
                </a:lnTo>
                <a:lnTo>
                  <a:pt x="13373074" y="3059091"/>
                </a:lnTo>
                <a:lnTo>
                  <a:pt x="0" y="3059091"/>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40016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2700369" y="4091864"/>
            <a:ext cx="12887263" cy="1653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Consider only the most essential costs for your business. Consult your peers, look up information online, and/or talk through your process with your mentor or accountant to ensure you’re on the right track. Click the button below to download and complete the exercise.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191046" y="1924775"/>
            <a:ext cx="15905908" cy="2803416"/>
          </a:xfrm>
          <a:custGeom>
            <a:avLst/>
            <a:gdLst/>
            <a:ahLst/>
            <a:cxnLst/>
            <a:rect r="r" b="b" t="t" l="l"/>
            <a:pathLst>
              <a:path h="2803416" w="15905908">
                <a:moveTo>
                  <a:pt x="0" y="0"/>
                </a:moveTo>
                <a:lnTo>
                  <a:pt x="15905908" y="0"/>
                </a:lnTo>
                <a:lnTo>
                  <a:pt x="15905908" y="2803417"/>
                </a:lnTo>
                <a:lnTo>
                  <a:pt x="0" y="2803417"/>
                </a:lnTo>
                <a:lnTo>
                  <a:pt x="0" y="0"/>
                </a:lnTo>
                <a:close/>
              </a:path>
            </a:pathLst>
          </a:custGeom>
          <a:blipFill>
            <a:blip r:embed="rId2"/>
            <a:stretch>
              <a:fillRect l="0" t="0" r="0" b="0"/>
            </a:stretch>
          </a:blipFill>
        </p:spPr>
      </p:sp>
      <p:sp>
        <p:nvSpPr>
          <p:cNvPr name="Freeform 3" id="3"/>
          <p:cNvSpPr/>
          <p:nvPr/>
        </p:nvSpPr>
        <p:spPr>
          <a:xfrm flipH="false" flipV="false" rot="0">
            <a:off x="1191046" y="5049307"/>
            <a:ext cx="15905908" cy="1112004"/>
          </a:xfrm>
          <a:custGeom>
            <a:avLst/>
            <a:gdLst/>
            <a:ahLst/>
            <a:cxnLst/>
            <a:rect r="r" b="b" t="t" l="l"/>
            <a:pathLst>
              <a:path h="1112004" w="15905908">
                <a:moveTo>
                  <a:pt x="0" y="0"/>
                </a:moveTo>
                <a:lnTo>
                  <a:pt x="15905908" y="0"/>
                </a:lnTo>
                <a:lnTo>
                  <a:pt x="15905908" y="1112004"/>
                </a:lnTo>
                <a:lnTo>
                  <a:pt x="0" y="1112004"/>
                </a:lnTo>
                <a:lnTo>
                  <a:pt x="0" y="0"/>
                </a:lnTo>
                <a:close/>
              </a:path>
            </a:pathLst>
          </a:custGeom>
          <a:blipFill>
            <a:blip r:embed="rId3"/>
            <a:stretch>
              <a:fillRect l="0" t="0" r="0" b="-1914"/>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10168" y="226210"/>
            <a:ext cx="7867664" cy="9834580"/>
          </a:xfrm>
          <a:custGeom>
            <a:avLst/>
            <a:gdLst/>
            <a:ahLst/>
            <a:cxnLst/>
            <a:rect r="r" b="b" t="t" l="l"/>
            <a:pathLst>
              <a:path h="9834580" w="7867664">
                <a:moveTo>
                  <a:pt x="0" y="0"/>
                </a:moveTo>
                <a:lnTo>
                  <a:pt x="7867664" y="0"/>
                </a:lnTo>
                <a:lnTo>
                  <a:pt x="7867664" y="9834580"/>
                </a:lnTo>
                <a:lnTo>
                  <a:pt x="0" y="9834580"/>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06289" y="803968"/>
            <a:ext cx="13475422" cy="2914060"/>
          </a:xfrm>
          <a:custGeom>
            <a:avLst/>
            <a:gdLst/>
            <a:ahLst/>
            <a:cxnLst/>
            <a:rect r="r" b="b" t="t" l="l"/>
            <a:pathLst>
              <a:path h="2914060" w="13475422">
                <a:moveTo>
                  <a:pt x="0" y="0"/>
                </a:moveTo>
                <a:lnTo>
                  <a:pt x="13475422" y="0"/>
                </a:lnTo>
                <a:lnTo>
                  <a:pt x="13475422" y="2914061"/>
                </a:lnTo>
                <a:lnTo>
                  <a:pt x="0" y="2914061"/>
                </a:lnTo>
                <a:lnTo>
                  <a:pt x="0" y="0"/>
                </a:lnTo>
                <a:close/>
              </a:path>
            </a:pathLst>
          </a:custGeom>
          <a:blipFill>
            <a:blip r:embed="rId2"/>
            <a:stretch>
              <a:fillRect l="0" t="0" r="0" b="0"/>
            </a:stretch>
          </a:blipFill>
        </p:spPr>
      </p:sp>
      <p:sp>
        <p:nvSpPr>
          <p:cNvPr name="Freeform 3" id="3"/>
          <p:cNvSpPr/>
          <p:nvPr/>
        </p:nvSpPr>
        <p:spPr>
          <a:xfrm flipH="false" flipV="false" rot="0">
            <a:off x="5026958" y="4101114"/>
            <a:ext cx="8234084" cy="5836545"/>
          </a:xfrm>
          <a:custGeom>
            <a:avLst/>
            <a:gdLst/>
            <a:ahLst/>
            <a:cxnLst/>
            <a:rect r="r" b="b" t="t" l="l"/>
            <a:pathLst>
              <a:path h="5836545" w="8234084">
                <a:moveTo>
                  <a:pt x="0" y="0"/>
                </a:moveTo>
                <a:lnTo>
                  <a:pt x="8234084" y="0"/>
                </a:lnTo>
                <a:lnTo>
                  <a:pt x="8234084" y="5836545"/>
                </a:lnTo>
                <a:lnTo>
                  <a:pt x="0" y="5836545"/>
                </a:lnTo>
                <a:lnTo>
                  <a:pt x="0" y="0"/>
                </a:lnTo>
                <a:close/>
              </a:path>
            </a:pathLst>
          </a:custGeom>
          <a:blipFill>
            <a:blip r:embed="rId3"/>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87843" y="805718"/>
            <a:ext cx="13512315" cy="8326964"/>
          </a:xfrm>
          <a:custGeom>
            <a:avLst/>
            <a:gdLst/>
            <a:ahLst/>
            <a:cxnLst/>
            <a:rect r="r" b="b" t="t" l="l"/>
            <a:pathLst>
              <a:path h="8326964" w="13512315">
                <a:moveTo>
                  <a:pt x="0" y="0"/>
                </a:moveTo>
                <a:lnTo>
                  <a:pt x="13512314" y="0"/>
                </a:lnTo>
                <a:lnTo>
                  <a:pt x="13512314" y="8326964"/>
                </a:lnTo>
                <a:lnTo>
                  <a:pt x="0" y="8326964"/>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75675" y="2508522"/>
            <a:ext cx="15136649" cy="3613875"/>
          </a:xfrm>
          <a:custGeom>
            <a:avLst/>
            <a:gdLst/>
            <a:ahLst/>
            <a:cxnLst/>
            <a:rect r="r" b="b" t="t" l="l"/>
            <a:pathLst>
              <a:path h="3613875" w="15136649">
                <a:moveTo>
                  <a:pt x="0" y="0"/>
                </a:moveTo>
                <a:lnTo>
                  <a:pt x="15136650" y="0"/>
                </a:lnTo>
                <a:lnTo>
                  <a:pt x="15136650" y="3613875"/>
                </a:lnTo>
                <a:lnTo>
                  <a:pt x="0" y="3613875"/>
                </a:lnTo>
                <a:lnTo>
                  <a:pt x="0" y="0"/>
                </a:lnTo>
                <a:close/>
              </a:path>
            </a:pathLst>
          </a:custGeom>
          <a:blipFill>
            <a:blip r:embed="rId2"/>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920003" y="3187702"/>
            <a:ext cx="16447995" cy="3659679"/>
          </a:xfrm>
          <a:custGeom>
            <a:avLst/>
            <a:gdLst/>
            <a:ahLst/>
            <a:cxnLst/>
            <a:rect r="r" b="b" t="t" l="l"/>
            <a:pathLst>
              <a:path h="3659679" w="16447995">
                <a:moveTo>
                  <a:pt x="0" y="0"/>
                </a:moveTo>
                <a:lnTo>
                  <a:pt x="16447994" y="0"/>
                </a:lnTo>
                <a:lnTo>
                  <a:pt x="16447994" y="3659679"/>
                </a:lnTo>
                <a:lnTo>
                  <a:pt x="0" y="3659679"/>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05569" y="3792910"/>
            <a:ext cx="13676861" cy="2701180"/>
          </a:xfrm>
          <a:custGeom>
            <a:avLst/>
            <a:gdLst/>
            <a:ahLst/>
            <a:cxnLst/>
            <a:rect r="r" b="b" t="t" l="l"/>
            <a:pathLst>
              <a:path h="2701180" w="13676861">
                <a:moveTo>
                  <a:pt x="0" y="0"/>
                </a:moveTo>
                <a:lnTo>
                  <a:pt x="13676862" y="0"/>
                </a:lnTo>
                <a:lnTo>
                  <a:pt x="13676862" y="2701180"/>
                </a:lnTo>
                <a:lnTo>
                  <a:pt x="0" y="2701180"/>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76965" y="2822725"/>
            <a:ext cx="15734070" cy="4641551"/>
          </a:xfrm>
          <a:custGeom>
            <a:avLst/>
            <a:gdLst/>
            <a:ahLst/>
            <a:cxnLst/>
            <a:rect r="r" b="b" t="t" l="l"/>
            <a:pathLst>
              <a:path h="4641551" w="15734070">
                <a:moveTo>
                  <a:pt x="0" y="0"/>
                </a:moveTo>
                <a:lnTo>
                  <a:pt x="15734070" y="0"/>
                </a:lnTo>
                <a:lnTo>
                  <a:pt x="15734070" y="4641550"/>
                </a:lnTo>
                <a:lnTo>
                  <a:pt x="0" y="4641550"/>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96466" y="2729240"/>
            <a:ext cx="16095067" cy="4828520"/>
          </a:xfrm>
          <a:custGeom>
            <a:avLst/>
            <a:gdLst/>
            <a:ahLst/>
            <a:cxnLst/>
            <a:rect r="r" b="b" t="t" l="l"/>
            <a:pathLst>
              <a:path h="4828520" w="16095067">
                <a:moveTo>
                  <a:pt x="0" y="0"/>
                </a:moveTo>
                <a:lnTo>
                  <a:pt x="16095068" y="0"/>
                </a:lnTo>
                <a:lnTo>
                  <a:pt x="16095068" y="4828520"/>
                </a:lnTo>
                <a:lnTo>
                  <a:pt x="0" y="4828520"/>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64311" y="3570359"/>
            <a:ext cx="16559378" cy="3146282"/>
          </a:xfrm>
          <a:custGeom>
            <a:avLst/>
            <a:gdLst/>
            <a:ahLst/>
            <a:cxnLst/>
            <a:rect r="r" b="b" t="t" l="l"/>
            <a:pathLst>
              <a:path h="3146282" w="16559378">
                <a:moveTo>
                  <a:pt x="0" y="0"/>
                </a:moveTo>
                <a:lnTo>
                  <a:pt x="16559378" y="0"/>
                </a:lnTo>
                <a:lnTo>
                  <a:pt x="16559378" y="3146282"/>
                </a:lnTo>
                <a:lnTo>
                  <a:pt x="0" y="3146282"/>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76518" y="3204333"/>
            <a:ext cx="15134964" cy="3878335"/>
          </a:xfrm>
          <a:custGeom>
            <a:avLst/>
            <a:gdLst/>
            <a:ahLst/>
            <a:cxnLst/>
            <a:rect r="r" b="b" t="t" l="l"/>
            <a:pathLst>
              <a:path h="3878335" w="15134964">
                <a:moveTo>
                  <a:pt x="0" y="0"/>
                </a:moveTo>
                <a:lnTo>
                  <a:pt x="15134964" y="0"/>
                </a:lnTo>
                <a:lnTo>
                  <a:pt x="15134964" y="3878334"/>
                </a:lnTo>
                <a:lnTo>
                  <a:pt x="0" y="3878334"/>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906061" y="3186989"/>
            <a:ext cx="16475878" cy="3913021"/>
          </a:xfrm>
          <a:custGeom>
            <a:avLst/>
            <a:gdLst/>
            <a:ahLst/>
            <a:cxnLst/>
            <a:rect r="r" b="b" t="t" l="l"/>
            <a:pathLst>
              <a:path h="3913021" w="16475878">
                <a:moveTo>
                  <a:pt x="0" y="0"/>
                </a:moveTo>
                <a:lnTo>
                  <a:pt x="16475878" y="0"/>
                </a:lnTo>
                <a:lnTo>
                  <a:pt x="16475878" y="3913022"/>
                </a:lnTo>
                <a:lnTo>
                  <a:pt x="0" y="3913022"/>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15811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1792682" y="3864942"/>
            <a:ext cx="14702637" cy="1653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After considering your environment, background, and new information about credit, debt, or other important financial terms, what would you say are two specific things that keep you from handling money well?</a:t>
            </a:r>
          </a:p>
          <a:p>
            <a:pPr algn="ctr">
              <a:lnSpc>
                <a:spcPts val="3359"/>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8375297" y="895350"/>
            <a:ext cx="1874976" cy="1164429"/>
          </a:xfrm>
          <a:prstGeom prst="rect">
            <a:avLst/>
          </a:prstGeom>
        </p:spPr>
        <p:txBody>
          <a:bodyPr anchor="t" rtlCol="false" tIns="0" lIns="0" bIns="0" rIns="0">
            <a:spAutoFit/>
          </a:bodyPr>
          <a:lstStyle/>
          <a:p>
            <a:pPr algn="ctr">
              <a:lnSpc>
                <a:spcPts val="9519"/>
              </a:lnSpc>
            </a:pPr>
            <a:r>
              <a:rPr lang="en-US" sz="6799" b="true">
                <a:solidFill>
                  <a:srgbClr val="FFFFFF"/>
                </a:solidFill>
                <a:latin typeface="Canva Sans Bold"/>
                <a:ea typeface="Canva Sans Bold"/>
                <a:cs typeface="Canva Sans Bold"/>
                <a:sym typeface="Canva Sans Bold"/>
              </a:rPr>
              <a:t>Quiz</a:t>
            </a:r>
          </a:p>
        </p:txBody>
      </p:sp>
      <p:sp>
        <p:nvSpPr>
          <p:cNvPr name="TextBox 3" id="3"/>
          <p:cNvSpPr txBox="true"/>
          <p:nvPr/>
        </p:nvSpPr>
        <p:spPr>
          <a:xfrm rot="0">
            <a:off x="2799154" y="2108282"/>
            <a:ext cx="8498000" cy="2461490"/>
          </a:xfrm>
          <a:prstGeom prst="rect">
            <a:avLst/>
          </a:prstGeom>
        </p:spPr>
        <p:txBody>
          <a:bodyPr anchor="t" rtlCol="false" tIns="0" lIns="0" bIns="0" rIns="0">
            <a:spAutoFit/>
          </a:bodyPr>
          <a:lstStyle/>
          <a:p>
            <a:pPr algn="l" marL="382959" indent="-191479" lvl="1">
              <a:lnSpc>
                <a:spcPts val="2483"/>
              </a:lnSpc>
              <a:spcBef>
                <a:spcPct val="0"/>
              </a:spcBef>
              <a:buAutoNum type="arabicPeriod" startAt="1"/>
            </a:pPr>
            <a:r>
              <a:rPr lang="en-US" b="true" sz="1773">
                <a:solidFill>
                  <a:srgbClr val="FFFFFF"/>
                </a:solidFill>
                <a:latin typeface="Canva Sans Bold"/>
                <a:ea typeface="Canva Sans Bold"/>
                <a:cs typeface="Canva Sans Bold"/>
                <a:sym typeface="Canva Sans Bold"/>
              </a:rPr>
              <a:t>True or false: Some debt is “good” and essential to growing your business?</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Choose only ONE best answer.</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A</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True</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B</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False</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This answer is correct.</a:t>
            </a:r>
          </a:p>
          <a:p>
            <a:pPr algn="ctr">
              <a:lnSpc>
                <a:spcPts val="2483"/>
              </a:lnSpc>
              <a:spcBef>
                <a:spcPct val="0"/>
              </a:spcBef>
            </a:pPr>
          </a:p>
        </p:txBody>
      </p:sp>
      <p:sp>
        <p:nvSpPr>
          <p:cNvPr name="TextBox 4" id="4"/>
          <p:cNvSpPr txBox="true"/>
          <p:nvPr/>
        </p:nvSpPr>
        <p:spPr>
          <a:xfrm rot="0">
            <a:off x="2541523" y="5557825"/>
            <a:ext cx="6338119" cy="3700475"/>
          </a:xfrm>
          <a:prstGeom prst="rect">
            <a:avLst/>
          </a:prstGeom>
        </p:spPr>
        <p:txBody>
          <a:bodyPr anchor="t" rtlCol="false" tIns="0" lIns="0" bIns="0" rIns="0">
            <a:spAutoFit/>
          </a:bodyPr>
          <a:lstStyle/>
          <a:p>
            <a:pPr algn="l" marL="382959" indent="-191479" lvl="1">
              <a:lnSpc>
                <a:spcPts val="2483"/>
              </a:lnSpc>
              <a:spcBef>
                <a:spcPct val="0"/>
              </a:spcBef>
              <a:buAutoNum type="arabicPeriod" startAt="1"/>
            </a:pPr>
            <a:r>
              <a:rPr lang="en-US" b="true" sz="1773">
                <a:solidFill>
                  <a:srgbClr val="FFFFFF"/>
                </a:solidFill>
                <a:latin typeface="Canva Sans Bold"/>
                <a:ea typeface="Canva Sans Bold"/>
                <a:cs typeface="Canva Sans Bold"/>
                <a:sym typeface="Canva Sans Bold"/>
              </a:rPr>
              <a:t>Panelist, Christine Luken, mention’s in this Lesson’s “The Studio” panel that [for some people] the easiest place to start when evaluating your financial situation is:</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Choose only ONE best answer.</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A</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Credit Score</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B</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Spending</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Debt</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This answer is correct.</a:t>
            </a:r>
          </a:p>
        </p:txBody>
      </p:sp>
      <p:sp>
        <p:nvSpPr>
          <p:cNvPr name="TextBox 5" id="5"/>
          <p:cNvSpPr txBox="true"/>
          <p:nvPr/>
        </p:nvSpPr>
        <p:spPr>
          <a:xfrm rot="0">
            <a:off x="11731895" y="4541197"/>
            <a:ext cx="5252042" cy="3700475"/>
          </a:xfrm>
          <a:prstGeom prst="rect">
            <a:avLst/>
          </a:prstGeom>
        </p:spPr>
        <p:txBody>
          <a:bodyPr anchor="t" rtlCol="false" tIns="0" lIns="0" bIns="0" rIns="0">
            <a:spAutoFit/>
          </a:bodyPr>
          <a:lstStyle/>
          <a:p>
            <a:pPr algn="l" marL="382959" indent="-191479" lvl="1">
              <a:lnSpc>
                <a:spcPts val="2483"/>
              </a:lnSpc>
              <a:spcBef>
                <a:spcPct val="0"/>
              </a:spcBef>
              <a:buAutoNum type="arabicPeriod" startAt="1"/>
            </a:pPr>
            <a:r>
              <a:rPr lang="en-US" b="true" sz="1773">
                <a:solidFill>
                  <a:srgbClr val="FFFFFF"/>
                </a:solidFill>
                <a:latin typeface="Canva Sans Bold"/>
                <a:ea typeface="Canva Sans Bold"/>
                <a:cs typeface="Canva Sans Bold"/>
                <a:sym typeface="Canva Sans Bold"/>
              </a:rPr>
              <a:t>According to financial advisors, an emergency fund consists of how many months worth of expenses?</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Choose only ONE best answer.</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A</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One-Two</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B</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Six-Nine</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C</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Three-Six</a:t>
            </a:r>
          </a:p>
          <a:p>
            <a:pPr algn="ctr">
              <a:lnSpc>
                <a:spcPts val="2483"/>
              </a:lnSpc>
              <a:spcBef>
                <a:spcPct val="0"/>
              </a:spcBef>
            </a:pPr>
            <a:r>
              <a:rPr lang="en-US" b="true" sz="1773">
                <a:solidFill>
                  <a:srgbClr val="FFFFFF"/>
                </a:solidFill>
                <a:latin typeface="Canva Sans Bold"/>
                <a:ea typeface="Canva Sans Bold"/>
                <a:cs typeface="Canva Sans Bold"/>
                <a:sym typeface="Canva Sans Bold"/>
              </a:rPr>
              <a:t>This answer is correct.</a:t>
            </a:r>
          </a:p>
          <a:p>
            <a:pPr algn="ctr">
              <a:lnSpc>
                <a:spcPts val="2483"/>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719396"/>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3940874" y="2548796"/>
            <a:ext cx="10406252" cy="5844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Create a cash flow plan!</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Cash Flow Plan is about control. Money can make us crazy, but when we get out in front of our financial challenges and create a plan, that feeling of control eases the mental stress. Again, people call it a Cash Flow Plan because you are in control of where your currency flows. This is a simple concept: Take the amount of money you make every month and divide it up into expense categories.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For some expenses, like rent, you already know exactly how much money you need to spend each month. If you don’t know how much money to devote to undefined expenses, like food and entertainment, take a look at Every Dollar’s article titled “How to Determine Budget Percentages” and you can get an idea where to start.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Finish your Cash Flow plan by finishing the budget you started filling out earlier in the lesson.</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233752"/>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5870600" y="3789301"/>
            <a:ext cx="6546800" cy="1653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Money management: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For the next week, keep a detailed log of every dollar you spend. Use the Spending Log to document your spending.</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492474"/>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4364461" y="3040380"/>
            <a:ext cx="9559078" cy="41681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Masters business canvas and synopsis: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Write out your startup costs. This may be a guesstimate, but it will serve as somewhere to start as you continue to work on it.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Click here to download the Business Canvas and a sample Business Synopsis.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After you answer the questions under the “Costs” section, write it out in paragraph form to fill in that part of the Synopsis. See the sample Business Synopsis for an example.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size</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94505" y="2784600"/>
            <a:ext cx="16098990" cy="4407099"/>
          </a:xfrm>
          <a:custGeom>
            <a:avLst/>
            <a:gdLst/>
            <a:ahLst/>
            <a:cxnLst/>
            <a:rect r="r" b="b" t="t" l="l"/>
            <a:pathLst>
              <a:path h="4407099" w="16098990">
                <a:moveTo>
                  <a:pt x="0" y="0"/>
                </a:moveTo>
                <a:lnTo>
                  <a:pt x="16098990" y="0"/>
                </a:lnTo>
                <a:lnTo>
                  <a:pt x="16098990" y="4407098"/>
                </a:lnTo>
                <a:lnTo>
                  <a:pt x="0" y="4407098"/>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82646" y="409790"/>
            <a:ext cx="7722708" cy="9653385"/>
          </a:xfrm>
          <a:custGeom>
            <a:avLst/>
            <a:gdLst/>
            <a:ahLst/>
            <a:cxnLst/>
            <a:rect r="r" b="b" t="t" l="l"/>
            <a:pathLst>
              <a:path h="9653385" w="7722708">
                <a:moveTo>
                  <a:pt x="0" y="0"/>
                </a:moveTo>
                <a:lnTo>
                  <a:pt x="7722708" y="0"/>
                </a:lnTo>
                <a:lnTo>
                  <a:pt x="7722708" y="9653385"/>
                </a:lnTo>
                <a:lnTo>
                  <a:pt x="0" y="9653385"/>
                </a:lnTo>
                <a:lnTo>
                  <a:pt x="0" y="0"/>
                </a:lnTo>
                <a:close/>
              </a:path>
            </a:pathLst>
          </a:custGeom>
          <a:blipFill>
            <a:blip r:embed="rId2"/>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21857" y="4363148"/>
            <a:ext cx="15042936" cy="1560705"/>
          </a:xfrm>
          <a:custGeom>
            <a:avLst/>
            <a:gdLst/>
            <a:ahLst/>
            <a:cxnLst/>
            <a:rect r="r" b="b" t="t" l="l"/>
            <a:pathLst>
              <a:path h="1560705" w="15042936">
                <a:moveTo>
                  <a:pt x="0" y="0"/>
                </a:moveTo>
                <a:lnTo>
                  <a:pt x="15042936" y="0"/>
                </a:lnTo>
                <a:lnTo>
                  <a:pt x="15042936" y="1560704"/>
                </a:lnTo>
                <a:lnTo>
                  <a:pt x="0" y="1560704"/>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DAHK-7oyik8</dc:identifier>
  <dcterms:modified xsi:type="dcterms:W3CDTF">2011-08-01T06:04:30Z</dcterms:modified>
  <cp:revision>1</cp:revision>
  <dc:title>Lesson 3</dc:title>
</cp:coreProperties>
</file>