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Canva Sans Bold" charset="1" panose="020B08030305010401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665903" y="1169392"/>
            <a:ext cx="17077898" cy="8005264"/>
          </a:xfrm>
          <a:custGeom>
            <a:avLst/>
            <a:gdLst/>
            <a:ahLst/>
            <a:cxnLst/>
            <a:rect r="r" b="b" t="t" l="l"/>
            <a:pathLst>
              <a:path h="8005264" w="17077898">
                <a:moveTo>
                  <a:pt x="0" y="0"/>
                </a:moveTo>
                <a:lnTo>
                  <a:pt x="17077897" y="0"/>
                </a:lnTo>
                <a:lnTo>
                  <a:pt x="17077897" y="8005264"/>
                </a:lnTo>
                <a:lnTo>
                  <a:pt x="0" y="8005264"/>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256656" y="2008281"/>
            <a:ext cx="15774688" cy="3135219"/>
          </a:xfrm>
          <a:custGeom>
            <a:avLst/>
            <a:gdLst/>
            <a:ahLst/>
            <a:cxnLst/>
            <a:rect r="r" b="b" t="t" l="l"/>
            <a:pathLst>
              <a:path h="3135219" w="15774688">
                <a:moveTo>
                  <a:pt x="0" y="0"/>
                </a:moveTo>
                <a:lnTo>
                  <a:pt x="15774688" y="0"/>
                </a:lnTo>
                <a:lnTo>
                  <a:pt x="15774688" y="3135219"/>
                </a:lnTo>
                <a:lnTo>
                  <a:pt x="0" y="3135219"/>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116941" y="1089835"/>
            <a:ext cx="16054119" cy="4053665"/>
          </a:xfrm>
          <a:custGeom>
            <a:avLst/>
            <a:gdLst/>
            <a:ahLst/>
            <a:cxnLst/>
            <a:rect r="r" b="b" t="t" l="l"/>
            <a:pathLst>
              <a:path h="4053665" w="16054119">
                <a:moveTo>
                  <a:pt x="0" y="0"/>
                </a:moveTo>
                <a:lnTo>
                  <a:pt x="16054118" y="0"/>
                </a:lnTo>
                <a:lnTo>
                  <a:pt x="16054118" y="4053665"/>
                </a:lnTo>
                <a:lnTo>
                  <a:pt x="0" y="4053665"/>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955683" y="371308"/>
            <a:ext cx="12376633" cy="7410509"/>
          </a:xfrm>
          <a:custGeom>
            <a:avLst/>
            <a:gdLst/>
            <a:ahLst/>
            <a:cxnLst/>
            <a:rect r="r" b="b" t="t" l="l"/>
            <a:pathLst>
              <a:path h="7410509" w="12376633">
                <a:moveTo>
                  <a:pt x="0" y="0"/>
                </a:moveTo>
                <a:lnTo>
                  <a:pt x="12376634" y="0"/>
                </a:lnTo>
                <a:lnTo>
                  <a:pt x="12376634" y="7410509"/>
                </a:lnTo>
                <a:lnTo>
                  <a:pt x="0" y="7410509"/>
                </a:lnTo>
                <a:lnTo>
                  <a:pt x="0" y="0"/>
                </a:lnTo>
                <a:close/>
              </a:path>
            </a:pathLst>
          </a:custGeom>
          <a:blipFill>
            <a:blip r:embed="rId2"/>
            <a:stretch>
              <a:fillRect l="0" t="0" r="0" b="0"/>
            </a:stretch>
          </a:blipFill>
        </p:spPr>
      </p:sp>
      <p:sp>
        <p:nvSpPr>
          <p:cNvPr name="Freeform 3" id="3"/>
          <p:cNvSpPr/>
          <p:nvPr/>
        </p:nvSpPr>
        <p:spPr>
          <a:xfrm flipH="false" flipV="false" rot="0">
            <a:off x="2955683" y="7661200"/>
            <a:ext cx="11430921" cy="2557668"/>
          </a:xfrm>
          <a:custGeom>
            <a:avLst/>
            <a:gdLst/>
            <a:ahLst/>
            <a:cxnLst/>
            <a:rect r="r" b="b" t="t" l="l"/>
            <a:pathLst>
              <a:path h="2557668" w="11430921">
                <a:moveTo>
                  <a:pt x="0" y="0"/>
                </a:moveTo>
                <a:lnTo>
                  <a:pt x="11430921" y="0"/>
                </a:lnTo>
                <a:lnTo>
                  <a:pt x="11430921" y="2557669"/>
                </a:lnTo>
                <a:lnTo>
                  <a:pt x="0" y="2557669"/>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3464338" y="1911714"/>
            <a:ext cx="11359323" cy="5425440"/>
          </a:xfrm>
          <a:prstGeom prst="rect">
            <a:avLst/>
          </a:prstGeom>
        </p:spPr>
        <p:txBody>
          <a:bodyPr anchor="t" rtlCol="false" tIns="0" lIns="0" bIns="0" rIns="0">
            <a:spAutoFit/>
          </a:bodyPr>
          <a:lstStyle/>
          <a:p>
            <a:pPr algn="ctr">
              <a:lnSpc>
                <a:spcPts val="3359"/>
              </a:lnSpc>
            </a:pPr>
            <a:r>
              <a:rPr lang="en-US" sz="2400" b="true">
                <a:solidFill>
                  <a:srgbClr val="FFFFFF"/>
                </a:solidFill>
                <a:latin typeface="Canva Sans Bold"/>
                <a:ea typeface="Canva Sans Bold"/>
                <a:cs typeface="Canva Sans Bold"/>
                <a:sym typeface="Canva Sans Bold"/>
              </a:rPr>
              <a:t>Survey: Before we go any further:</a:t>
            </a:r>
          </a:p>
          <a:p>
            <a:pPr algn="ctr">
              <a:lnSpc>
                <a:spcPts val="3359"/>
              </a:lnSpc>
            </a:pPr>
          </a:p>
          <a:p>
            <a:pPr algn="ctr">
              <a:lnSpc>
                <a:spcPts val="3359"/>
              </a:lnSpc>
            </a:pPr>
            <a:r>
              <a:rPr lang="en-US" sz="2400" b="true">
                <a:solidFill>
                  <a:srgbClr val="FFFFFF"/>
                </a:solidFill>
                <a:latin typeface="Canva Sans Bold"/>
                <a:ea typeface="Canva Sans Bold"/>
                <a:cs typeface="Canva Sans Bold"/>
                <a:sym typeface="Canva Sans Bold"/>
              </a:rPr>
              <a:t>You’re in the ring if you’re in business. If you aren’t a competitor, your competitors are. Don’t get punched out because you aren’t competing. In the broadest sense, Webster’s Dictionary defines the word ‘compete’ as “to strive to gain or win something by defeating or establishing superiority over others who are trying to do the same; to take part in a contest; to contend.” Write down your thoughts and feelings about competition. Are you a competitive person? How do you deal with competition? How do you feel when you win or when you lose?</a:t>
            </a:r>
          </a:p>
          <a:p>
            <a:pPr algn="ctr">
              <a:lnSpc>
                <a:spcPts val="3359"/>
              </a:lnSpc>
            </a:pPr>
            <a:r>
              <a:rPr lang="en-US" sz="2400" b="true">
                <a:solidFill>
                  <a:srgbClr val="FFFFFF"/>
                </a:solidFill>
                <a:latin typeface="Canva Sans Bold"/>
                <a:ea typeface="Canva Sans Bold"/>
                <a:cs typeface="Canva Sans Bold"/>
                <a:sym typeface="Canva Sans Bold"/>
              </a:rPr>
              <a:t>Submit your assignment</a:t>
            </a:r>
          </a:p>
          <a:p>
            <a:pPr algn="ctr">
              <a:lnSpc>
                <a:spcPts val="3359"/>
              </a:lnSpc>
            </a:pPr>
            <a:r>
              <a:rPr lang="en-US" sz="2400" b="true">
                <a:solidFill>
                  <a:srgbClr val="FFFFFF"/>
                </a:solidFill>
                <a:latin typeface="Canva Sans Bold"/>
                <a:ea typeface="Canva Sans Bold"/>
                <a:cs typeface="Canva Sans Bold"/>
                <a:sym typeface="Canva Sans Bold"/>
              </a:rPr>
              <a:t>You may only submit one file with maximum 100 MB in size</a:t>
            </a:r>
          </a:p>
          <a:p>
            <a:pPr algn="ctr">
              <a:lnSpc>
                <a:spcPts val="33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546505" y="673131"/>
            <a:ext cx="15194990" cy="8585169"/>
          </a:xfrm>
          <a:custGeom>
            <a:avLst/>
            <a:gdLst/>
            <a:ahLst/>
            <a:cxnLst/>
            <a:rect r="r" b="b" t="t" l="l"/>
            <a:pathLst>
              <a:path h="8585169" w="15194990">
                <a:moveTo>
                  <a:pt x="0" y="0"/>
                </a:moveTo>
                <a:lnTo>
                  <a:pt x="15194990" y="0"/>
                </a:lnTo>
                <a:lnTo>
                  <a:pt x="15194990" y="8585169"/>
                </a:lnTo>
                <a:lnTo>
                  <a:pt x="0" y="8585169"/>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310473" y="1755500"/>
            <a:ext cx="15667053" cy="3388000"/>
          </a:xfrm>
          <a:custGeom>
            <a:avLst/>
            <a:gdLst/>
            <a:ahLst/>
            <a:cxnLst/>
            <a:rect r="r" b="b" t="t" l="l"/>
            <a:pathLst>
              <a:path h="3388000" w="15667053">
                <a:moveTo>
                  <a:pt x="0" y="0"/>
                </a:moveTo>
                <a:lnTo>
                  <a:pt x="15667054" y="0"/>
                </a:lnTo>
                <a:lnTo>
                  <a:pt x="15667054" y="3388000"/>
                </a:lnTo>
                <a:lnTo>
                  <a:pt x="0" y="3388000"/>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486049" y="1028700"/>
            <a:ext cx="15315902" cy="5456290"/>
          </a:xfrm>
          <a:custGeom>
            <a:avLst/>
            <a:gdLst/>
            <a:ahLst/>
            <a:cxnLst/>
            <a:rect r="r" b="b" t="t" l="l"/>
            <a:pathLst>
              <a:path h="5456290" w="15315902">
                <a:moveTo>
                  <a:pt x="0" y="0"/>
                </a:moveTo>
                <a:lnTo>
                  <a:pt x="15315902" y="0"/>
                </a:lnTo>
                <a:lnTo>
                  <a:pt x="15315902" y="5456290"/>
                </a:lnTo>
                <a:lnTo>
                  <a:pt x="0" y="5456290"/>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3464338" y="1911714"/>
            <a:ext cx="11359323" cy="7101840"/>
          </a:xfrm>
          <a:prstGeom prst="rect">
            <a:avLst/>
          </a:prstGeom>
        </p:spPr>
        <p:txBody>
          <a:bodyPr anchor="t" rtlCol="false" tIns="0" lIns="0" bIns="0" rIns="0">
            <a:spAutoFit/>
          </a:bodyPr>
          <a:lstStyle/>
          <a:p>
            <a:pPr algn="ctr">
              <a:lnSpc>
                <a:spcPts val="3359"/>
              </a:lnSpc>
            </a:pPr>
            <a:r>
              <a:rPr lang="en-US" sz="2400" b="true">
                <a:solidFill>
                  <a:srgbClr val="FFFFFF"/>
                </a:solidFill>
                <a:latin typeface="Canva Sans Bold"/>
                <a:ea typeface="Canva Sans Bold"/>
                <a:cs typeface="Canva Sans Bold"/>
                <a:sym typeface="Canva Sans Bold"/>
              </a:rPr>
              <a:t>Survey: Don’t Be a Hater</a:t>
            </a:r>
          </a:p>
          <a:p>
            <a:pPr algn="ctr">
              <a:lnSpc>
                <a:spcPts val="3359"/>
              </a:lnSpc>
            </a:pPr>
            <a:r>
              <a:rPr lang="en-US" sz="2400" b="true">
                <a:solidFill>
                  <a:srgbClr val="FFFFFF"/>
                </a:solidFill>
                <a:latin typeface="Canva Sans Bold"/>
                <a:ea typeface="Canva Sans Bold"/>
                <a:cs typeface="Canva Sans Bold"/>
                <a:sym typeface="Canva Sans Bold"/>
              </a:rPr>
              <a:t>In the past lesson, we asked you to list your current and future business competitors. Take out that list and strike any names that don’t clearly fit the definition of competitor based on what was discussed. Now, we want you to go deeper. Define your similarities and differences. Browse their websites, look at their messaging or advertisements, compare prices if available. What do they do well? Where are their shortcomings? The key to this activity is determining how you are sustainably different from your competitors. That means that you are so different and sought after that years from now people will still choose your product or service over the competition’s.</a:t>
            </a:r>
          </a:p>
          <a:p>
            <a:pPr algn="ctr">
              <a:lnSpc>
                <a:spcPts val="3359"/>
              </a:lnSpc>
            </a:pPr>
            <a:r>
              <a:rPr lang="en-US" sz="2400" b="true">
                <a:solidFill>
                  <a:srgbClr val="FFFFFF"/>
                </a:solidFill>
                <a:latin typeface="Canva Sans Bold"/>
                <a:ea typeface="Canva Sans Bold"/>
                <a:cs typeface="Canva Sans Bold"/>
                <a:sym typeface="Canva Sans Bold"/>
              </a:rPr>
              <a:t>Reminder: </a:t>
            </a:r>
          </a:p>
          <a:p>
            <a:pPr algn="ctr">
              <a:lnSpc>
                <a:spcPts val="3359"/>
              </a:lnSpc>
            </a:pPr>
            <a:r>
              <a:rPr lang="en-US" sz="2400" b="true">
                <a:solidFill>
                  <a:srgbClr val="FFFFFF"/>
                </a:solidFill>
                <a:latin typeface="Canva Sans Bold"/>
                <a:ea typeface="Canva Sans Bold"/>
                <a:cs typeface="Canva Sans Bold"/>
                <a:sym typeface="Canva Sans Bold"/>
              </a:rPr>
              <a:t>Don't be a hater! It’s important to look at the competition through an objective lens. Capture your thoughts on what you learned and how you can improve your business in the space provided</a:t>
            </a:r>
          </a:p>
          <a:p>
            <a:pPr algn="ctr">
              <a:lnSpc>
                <a:spcPts val="3359"/>
              </a:lnSpc>
            </a:pPr>
            <a:r>
              <a:rPr lang="en-US" sz="2400" b="true">
                <a:solidFill>
                  <a:srgbClr val="FFFFFF"/>
                </a:solidFill>
                <a:latin typeface="Canva Sans Bold"/>
                <a:ea typeface="Canva Sans Bold"/>
                <a:cs typeface="Canva Sans Bold"/>
                <a:sym typeface="Canva Sans Bold"/>
              </a:rPr>
              <a:t>Submit your assignment</a:t>
            </a:r>
          </a:p>
          <a:p>
            <a:pPr algn="ctr">
              <a:lnSpc>
                <a:spcPts val="3359"/>
              </a:lnSpc>
            </a:pPr>
            <a:r>
              <a:rPr lang="en-US" sz="2400" b="true">
                <a:solidFill>
                  <a:srgbClr val="FFFFFF"/>
                </a:solidFill>
                <a:latin typeface="Canva Sans Bold"/>
                <a:ea typeface="Canva Sans Bold"/>
                <a:cs typeface="Canva Sans Bold"/>
                <a:sym typeface="Canva Sans Bold"/>
              </a:rPr>
              <a:t>You may only submit one file with maximum 100 MB in size</a:t>
            </a:r>
          </a:p>
          <a:p>
            <a:pPr algn="ctr">
              <a:lnSpc>
                <a:spcPts val="335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499408" y="952560"/>
            <a:ext cx="13289184" cy="8305740"/>
          </a:xfrm>
          <a:custGeom>
            <a:avLst/>
            <a:gdLst/>
            <a:ahLst/>
            <a:cxnLst/>
            <a:rect r="r" b="b" t="t" l="l"/>
            <a:pathLst>
              <a:path h="8305740" w="13289184">
                <a:moveTo>
                  <a:pt x="0" y="0"/>
                </a:moveTo>
                <a:lnTo>
                  <a:pt x="13289184" y="0"/>
                </a:lnTo>
                <a:lnTo>
                  <a:pt x="13289184" y="8305740"/>
                </a:lnTo>
                <a:lnTo>
                  <a:pt x="0" y="8305740"/>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299889" y="4407853"/>
            <a:ext cx="17688223" cy="2910840"/>
          </a:xfrm>
          <a:prstGeom prst="rect">
            <a:avLst/>
          </a:prstGeom>
        </p:spPr>
        <p:txBody>
          <a:bodyPr anchor="t" rtlCol="false" tIns="0" lIns="0" bIns="0" rIns="0">
            <a:spAutoFit/>
          </a:bodyPr>
          <a:lstStyle/>
          <a:p>
            <a:pPr algn="ctr">
              <a:lnSpc>
                <a:spcPts val="3359"/>
              </a:lnSpc>
            </a:pPr>
            <a:r>
              <a:rPr lang="en-US" sz="2400" b="true">
                <a:solidFill>
                  <a:srgbClr val="FFFFFF"/>
                </a:solidFill>
                <a:latin typeface="Canva Sans Bold"/>
                <a:ea typeface="Canva Sans Bold"/>
                <a:cs typeface="Canva Sans Bold"/>
                <a:sym typeface="Canva Sans Bold"/>
              </a:rPr>
              <a:t>Survey: Trying to figure out how your business is different from your competitor? </a:t>
            </a:r>
          </a:p>
          <a:p>
            <a:pPr algn="ctr">
              <a:lnSpc>
                <a:spcPts val="3359"/>
              </a:lnSpc>
            </a:pPr>
            <a:r>
              <a:rPr lang="en-US" sz="2400" b="true">
                <a:solidFill>
                  <a:srgbClr val="FFFFFF"/>
                </a:solidFill>
                <a:latin typeface="Canva Sans Bold"/>
                <a:ea typeface="Canva Sans Bold"/>
                <a:cs typeface="Canva Sans Bold"/>
                <a:sym typeface="Canva Sans Bold"/>
              </a:rPr>
              <a:t>Here are a few questions that will help you figure it out:</a:t>
            </a:r>
          </a:p>
          <a:p>
            <a:pPr algn="ctr" marL="518160" indent="-259080" lvl="1">
              <a:lnSpc>
                <a:spcPts val="3359"/>
              </a:lnSpc>
              <a:buFont typeface="Arial"/>
              <a:buChar char="•"/>
            </a:pPr>
            <a:r>
              <a:rPr lang="en-US" b="true" sz="2400">
                <a:solidFill>
                  <a:srgbClr val="FFFFFF"/>
                </a:solidFill>
                <a:latin typeface="Canva Sans Bold"/>
                <a:ea typeface="Canva Sans Bold"/>
                <a:cs typeface="Canva Sans Bold"/>
                <a:sym typeface="Canva Sans Bold"/>
              </a:rPr>
              <a:t>1Who am I?</a:t>
            </a:r>
          </a:p>
          <a:p>
            <a:pPr algn="ctr" marL="518160" indent="-259080" lvl="1">
              <a:lnSpc>
                <a:spcPts val="3359"/>
              </a:lnSpc>
              <a:buFont typeface="Arial"/>
              <a:buChar char="•"/>
            </a:pPr>
            <a:r>
              <a:rPr lang="en-US" b="true" sz="2400">
                <a:solidFill>
                  <a:srgbClr val="FFFFFF"/>
                </a:solidFill>
                <a:latin typeface="Canva Sans Bold"/>
                <a:ea typeface="Canva Sans Bold"/>
                <a:cs typeface="Canva Sans Bold"/>
                <a:sym typeface="Canva Sans Bold"/>
              </a:rPr>
              <a:t>2How does my personal story impact my business?</a:t>
            </a:r>
          </a:p>
          <a:p>
            <a:pPr algn="ctr" marL="518160" indent="-259080" lvl="1">
              <a:lnSpc>
                <a:spcPts val="3359"/>
              </a:lnSpc>
              <a:buFont typeface="Arial"/>
              <a:buChar char="•"/>
            </a:pPr>
            <a:r>
              <a:rPr lang="en-US" b="true" sz="2400">
                <a:solidFill>
                  <a:srgbClr val="FFFFFF"/>
                </a:solidFill>
                <a:latin typeface="Canva Sans Bold"/>
                <a:ea typeface="Canva Sans Bold"/>
                <a:cs typeface="Canva Sans Bold"/>
                <a:sym typeface="Canva Sans Bold"/>
              </a:rPr>
              <a:t>3What is different about my experience, product, or service from other companies that provide the same thing I do?</a:t>
            </a:r>
          </a:p>
          <a:p>
            <a:pPr algn="ctr" marL="518160" indent="-259080" lvl="1">
              <a:lnSpc>
                <a:spcPts val="3359"/>
              </a:lnSpc>
              <a:buFont typeface="Arial"/>
              <a:buChar char="•"/>
            </a:pPr>
            <a:r>
              <a:rPr lang="en-US" b="true" sz="2400">
                <a:solidFill>
                  <a:srgbClr val="FFFFFF"/>
                </a:solidFill>
                <a:latin typeface="Canva Sans Bold"/>
                <a:ea typeface="Canva Sans Bold"/>
                <a:cs typeface="Canva Sans Bold"/>
                <a:sym typeface="Canva Sans Bold"/>
              </a:rPr>
              <a:t>4What gaps do I fill for my customers?</a:t>
            </a:r>
          </a:p>
          <a:p>
            <a:pPr algn="ctr">
              <a:lnSpc>
                <a:spcPts val="335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431815" y="1132064"/>
            <a:ext cx="15424369" cy="1908766"/>
          </a:xfrm>
          <a:custGeom>
            <a:avLst/>
            <a:gdLst/>
            <a:ahLst/>
            <a:cxnLst/>
            <a:rect r="r" b="b" t="t" l="l"/>
            <a:pathLst>
              <a:path h="1908766" w="15424369">
                <a:moveTo>
                  <a:pt x="0" y="0"/>
                </a:moveTo>
                <a:lnTo>
                  <a:pt x="15424370" y="0"/>
                </a:lnTo>
                <a:lnTo>
                  <a:pt x="15424370" y="1908765"/>
                </a:lnTo>
                <a:lnTo>
                  <a:pt x="0" y="1908765"/>
                </a:lnTo>
                <a:lnTo>
                  <a:pt x="0" y="0"/>
                </a:lnTo>
                <a:close/>
              </a:path>
            </a:pathLst>
          </a:custGeom>
          <a:blipFill>
            <a:blip r:embed="rId2"/>
            <a:stretch>
              <a:fillRect l="0" t="0" r="0" b="0"/>
            </a:stretch>
          </a:blipFill>
        </p:spPr>
      </p:sp>
      <p:sp>
        <p:nvSpPr>
          <p:cNvPr name="Freeform 3" id="3"/>
          <p:cNvSpPr/>
          <p:nvPr/>
        </p:nvSpPr>
        <p:spPr>
          <a:xfrm flipH="false" flipV="false" rot="0">
            <a:off x="3493371" y="3268094"/>
            <a:ext cx="11301259" cy="6201566"/>
          </a:xfrm>
          <a:custGeom>
            <a:avLst/>
            <a:gdLst/>
            <a:ahLst/>
            <a:cxnLst/>
            <a:rect r="r" b="b" t="t" l="l"/>
            <a:pathLst>
              <a:path h="6201566" w="11301259">
                <a:moveTo>
                  <a:pt x="0" y="0"/>
                </a:moveTo>
                <a:lnTo>
                  <a:pt x="11301258" y="0"/>
                </a:lnTo>
                <a:lnTo>
                  <a:pt x="11301258" y="6201566"/>
                </a:lnTo>
                <a:lnTo>
                  <a:pt x="0" y="6201566"/>
                </a:lnTo>
                <a:lnTo>
                  <a:pt x="0" y="0"/>
                </a:lnTo>
                <a:close/>
              </a:path>
            </a:pathLst>
          </a:custGeom>
          <a:blipFill>
            <a:blip r:embed="rId3"/>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155952" y="2169390"/>
            <a:ext cx="15976095" cy="2855727"/>
          </a:xfrm>
          <a:custGeom>
            <a:avLst/>
            <a:gdLst/>
            <a:ahLst/>
            <a:cxnLst/>
            <a:rect r="r" b="b" t="t" l="l"/>
            <a:pathLst>
              <a:path h="2855727" w="15976095">
                <a:moveTo>
                  <a:pt x="0" y="0"/>
                </a:moveTo>
                <a:lnTo>
                  <a:pt x="15976096" y="0"/>
                </a:lnTo>
                <a:lnTo>
                  <a:pt x="15976096" y="2855727"/>
                </a:lnTo>
                <a:lnTo>
                  <a:pt x="0" y="2855727"/>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0" y="2758888"/>
            <a:ext cx="18288000" cy="3749040"/>
          </a:xfrm>
          <a:prstGeom prst="rect">
            <a:avLst/>
          </a:prstGeom>
        </p:spPr>
        <p:txBody>
          <a:bodyPr anchor="t" rtlCol="false" tIns="0" lIns="0" bIns="0" rIns="0">
            <a:spAutoFit/>
          </a:bodyPr>
          <a:lstStyle/>
          <a:p>
            <a:pPr algn="ctr">
              <a:lnSpc>
                <a:spcPts val="3359"/>
              </a:lnSpc>
            </a:pPr>
            <a:r>
              <a:rPr lang="en-US" sz="2400" b="true">
                <a:solidFill>
                  <a:srgbClr val="FFFFFF"/>
                </a:solidFill>
                <a:latin typeface="Canva Sans Bold"/>
                <a:ea typeface="Canva Sans Bold"/>
                <a:cs typeface="Canva Sans Bold"/>
                <a:sym typeface="Canva Sans Bold"/>
              </a:rPr>
              <a:t>Survey: What is value when it comes to products and services? What about our personal values? How are these similar? How are they different? Jot down your answers.</a:t>
            </a:r>
          </a:p>
          <a:p>
            <a:pPr algn="ctr">
              <a:lnSpc>
                <a:spcPts val="3359"/>
              </a:lnSpc>
            </a:pPr>
            <a:r>
              <a:rPr lang="en-US" sz="2400" b="true">
                <a:solidFill>
                  <a:srgbClr val="FFFFFF"/>
                </a:solidFill>
                <a:latin typeface="Canva Sans Bold"/>
                <a:ea typeface="Canva Sans Bold"/>
                <a:cs typeface="Canva Sans Bold"/>
                <a:sym typeface="Canva Sans Bold"/>
              </a:rPr>
              <a:t>Value —the monetary worth of something; a fair return or equivalent in goods, services, or money for something exchanged; something (such as a principle or quality) intrinsically desirable.</a:t>
            </a:r>
          </a:p>
          <a:p>
            <a:pPr algn="ctr">
              <a:lnSpc>
                <a:spcPts val="3359"/>
              </a:lnSpc>
            </a:pPr>
            <a:r>
              <a:rPr lang="en-US" sz="2400" b="true">
                <a:solidFill>
                  <a:srgbClr val="FFFFFF"/>
                </a:solidFill>
                <a:latin typeface="Canva Sans Bold"/>
                <a:ea typeface="Canva Sans Bold"/>
                <a:cs typeface="Canva Sans Bold"/>
                <a:sym typeface="Canva Sans Bold"/>
              </a:rPr>
              <a:t>Submit your assignment</a:t>
            </a:r>
          </a:p>
          <a:p>
            <a:pPr algn="ctr">
              <a:lnSpc>
                <a:spcPts val="3359"/>
              </a:lnSpc>
            </a:pPr>
            <a:r>
              <a:rPr lang="en-US" sz="2400" b="true">
                <a:solidFill>
                  <a:srgbClr val="FFFFFF"/>
                </a:solidFill>
                <a:latin typeface="Canva Sans Bold"/>
                <a:ea typeface="Canva Sans Bold"/>
                <a:cs typeface="Canva Sans Bold"/>
                <a:sym typeface="Canva Sans Bold"/>
              </a:rPr>
              <a:t>You may only submit one file with maximum 100 MB in size</a:t>
            </a:r>
          </a:p>
          <a:p>
            <a:pPr algn="ctr">
              <a:lnSpc>
                <a:spcPts val="3359"/>
              </a:lnSpc>
            </a:pPr>
          </a:p>
          <a:p>
            <a:pPr algn="ctr">
              <a:lnSpc>
                <a:spcPts val="3359"/>
              </a:lnSpc>
            </a:pPr>
          </a:p>
          <a:p>
            <a:pPr algn="ctr">
              <a:lnSpc>
                <a:spcPts val="3359"/>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483285" y="1670664"/>
            <a:ext cx="15321430" cy="6339242"/>
          </a:xfrm>
          <a:custGeom>
            <a:avLst/>
            <a:gdLst/>
            <a:ahLst/>
            <a:cxnLst/>
            <a:rect r="r" b="b" t="t" l="l"/>
            <a:pathLst>
              <a:path h="6339242" w="15321430">
                <a:moveTo>
                  <a:pt x="0" y="0"/>
                </a:moveTo>
                <a:lnTo>
                  <a:pt x="15321430" y="0"/>
                </a:lnTo>
                <a:lnTo>
                  <a:pt x="15321430" y="6339242"/>
                </a:lnTo>
                <a:lnTo>
                  <a:pt x="0" y="6339242"/>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785033" y="1028700"/>
            <a:ext cx="14717933" cy="3256343"/>
          </a:xfrm>
          <a:custGeom>
            <a:avLst/>
            <a:gdLst/>
            <a:ahLst/>
            <a:cxnLst/>
            <a:rect r="r" b="b" t="t" l="l"/>
            <a:pathLst>
              <a:path h="3256343" w="14717933">
                <a:moveTo>
                  <a:pt x="0" y="0"/>
                </a:moveTo>
                <a:lnTo>
                  <a:pt x="14717934" y="0"/>
                </a:lnTo>
                <a:lnTo>
                  <a:pt x="14717934" y="3256343"/>
                </a:lnTo>
                <a:lnTo>
                  <a:pt x="0" y="3256343"/>
                </a:lnTo>
                <a:lnTo>
                  <a:pt x="0" y="0"/>
                </a:lnTo>
                <a:close/>
              </a:path>
            </a:pathLst>
          </a:custGeom>
          <a:blipFill>
            <a:blip r:embed="rId2"/>
            <a:stretch>
              <a:fillRect l="0" t="0" r="0" b="0"/>
            </a:stretch>
          </a:blipFill>
        </p:spPr>
      </p:sp>
      <p:sp>
        <p:nvSpPr>
          <p:cNvPr name="Freeform 3" id="3"/>
          <p:cNvSpPr/>
          <p:nvPr/>
        </p:nvSpPr>
        <p:spPr>
          <a:xfrm flipH="false" flipV="false" rot="0">
            <a:off x="1785033" y="4667679"/>
            <a:ext cx="14717933" cy="4194611"/>
          </a:xfrm>
          <a:custGeom>
            <a:avLst/>
            <a:gdLst/>
            <a:ahLst/>
            <a:cxnLst/>
            <a:rect r="r" b="b" t="t" l="l"/>
            <a:pathLst>
              <a:path h="4194611" w="14717933">
                <a:moveTo>
                  <a:pt x="0" y="0"/>
                </a:moveTo>
                <a:lnTo>
                  <a:pt x="14717934" y="0"/>
                </a:lnTo>
                <a:lnTo>
                  <a:pt x="14717934" y="4194611"/>
                </a:lnTo>
                <a:lnTo>
                  <a:pt x="0" y="4194611"/>
                </a:lnTo>
                <a:lnTo>
                  <a:pt x="0" y="0"/>
                </a:lnTo>
                <a:close/>
              </a:path>
            </a:pathLst>
          </a:custGeom>
          <a:blipFill>
            <a:blip r:embed="rId3"/>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559997" y="1228961"/>
            <a:ext cx="15168005" cy="7584003"/>
          </a:xfrm>
          <a:custGeom>
            <a:avLst/>
            <a:gdLst/>
            <a:ahLst/>
            <a:cxnLst/>
            <a:rect r="r" b="b" t="t" l="l"/>
            <a:pathLst>
              <a:path h="7584003" w="15168005">
                <a:moveTo>
                  <a:pt x="0" y="0"/>
                </a:moveTo>
                <a:lnTo>
                  <a:pt x="15168006" y="0"/>
                </a:lnTo>
                <a:lnTo>
                  <a:pt x="15168006" y="7584003"/>
                </a:lnTo>
                <a:lnTo>
                  <a:pt x="0" y="7584003"/>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244992" y="1028700"/>
            <a:ext cx="15798017" cy="7977998"/>
          </a:xfrm>
          <a:custGeom>
            <a:avLst/>
            <a:gdLst/>
            <a:ahLst/>
            <a:cxnLst/>
            <a:rect r="r" b="b" t="t" l="l"/>
            <a:pathLst>
              <a:path h="7977998" w="15798017">
                <a:moveTo>
                  <a:pt x="0" y="0"/>
                </a:moveTo>
                <a:lnTo>
                  <a:pt x="15798016" y="0"/>
                </a:lnTo>
                <a:lnTo>
                  <a:pt x="15798016" y="7977998"/>
                </a:lnTo>
                <a:lnTo>
                  <a:pt x="0" y="7977998"/>
                </a:lnTo>
                <a:lnTo>
                  <a:pt x="0" y="0"/>
                </a:lnTo>
                <a:close/>
              </a:path>
            </a:pathLst>
          </a:custGeom>
          <a:blipFill>
            <a:blip r:embed="rId2"/>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2965111" y="2078123"/>
            <a:ext cx="12357779" cy="5844540"/>
          </a:xfrm>
          <a:prstGeom prst="rect">
            <a:avLst/>
          </a:prstGeom>
        </p:spPr>
        <p:txBody>
          <a:bodyPr anchor="t" rtlCol="false" tIns="0" lIns="0" bIns="0" rIns="0">
            <a:spAutoFit/>
          </a:bodyPr>
          <a:lstStyle/>
          <a:p>
            <a:pPr algn="ctr">
              <a:lnSpc>
                <a:spcPts val="3359"/>
              </a:lnSpc>
            </a:pPr>
            <a:r>
              <a:rPr lang="en-US" sz="2400" b="true">
                <a:solidFill>
                  <a:srgbClr val="FFFFFF"/>
                </a:solidFill>
                <a:latin typeface="Canva Sans Bold"/>
                <a:ea typeface="Canva Sans Bold"/>
                <a:cs typeface="Canva Sans Bold"/>
                <a:sym typeface="Canva Sans Bold"/>
              </a:rPr>
              <a:t>Survey: Are you a competitive person? How do you deal with competition? How do you feel when you win or when you lose? Have your answers changed from the beginning of class? Why or why not?</a:t>
            </a:r>
          </a:p>
          <a:p>
            <a:pPr algn="ctr">
              <a:lnSpc>
                <a:spcPts val="3359"/>
              </a:lnSpc>
            </a:pPr>
            <a:r>
              <a:rPr lang="en-US" sz="2400" b="true">
                <a:solidFill>
                  <a:srgbClr val="FFFFFF"/>
                </a:solidFill>
                <a:latin typeface="Canva Sans Bold"/>
                <a:ea typeface="Canva Sans Bold"/>
                <a:cs typeface="Canva Sans Bold"/>
                <a:sym typeface="Canva Sans Bold"/>
              </a:rPr>
              <a:t>Submit your assignment</a:t>
            </a:r>
          </a:p>
          <a:p>
            <a:pPr algn="ctr">
              <a:lnSpc>
                <a:spcPts val="3359"/>
              </a:lnSpc>
            </a:pPr>
            <a:r>
              <a:rPr lang="en-US" sz="2400" b="true">
                <a:solidFill>
                  <a:srgbClr val="FFFFFF"/>
                </a:solidFill>
                <a:latin typeface="Canva Sans Bold"/>
                <a:ea typeface="Canva Sans Bold"/>
                <a:cs typeface="Canva Sans Bold"/>
                <a:sym typeface="Canva Sans Bold"/>
              </a:rPr>
              <a:t>You may only submit one file with maximum 100 MB in size</a:t>
            </a:r>
          </a:p>
          <a:p>
            <a:pPr algn="ctr">
              <a:lnSpc>
                <a:spcPts val="3359"/>
              </a:lnSpc>
            </a:pPr>
          </a:p>
          <a:p>
            <a:pPr algn="ctr">
              <a:lnSpc>
                <a:spcPts val="3359"/>
              </a:lnSpc>
            </a:pPr>
            <a:r>
              <a:rPr lang="en-US" sz="2400" b="true">
                <a:solidFill>
                  <a:srgbClr val="FFFFFF"/>
                </a:solidFill>
                <a:latin typeface="Canva Sans Bold"/>
                <a:ea typeface="Canva Sans Bold"/>
                <a:cs typeface="Canva Sans Bold"/>
                <a:sym typeface="Canva Sans Bold"/>
              </a:rPr>
              <a:t>My Device</a:t>
            </a:r>
          </a:p>
          <a:p>
            <a:pPr algn="ctr">
              <a:lnSpc>
                <a:spcPts val="3359"/>
              </a:lnSpc>
            </a:pPr>
            <a:r>
              <a:rPr lang="en-US" sz="2400" b="true">
                <a:solidFill>
                  <a:srgbClr val="FFFFFF"/>
                </a:solidFill>
                <a:latin typeface="Canva Sans Bold"/>
                <a:ea typeface="Canva Sans Bold"/>
                <a:cs typeface="Canva Sans Bold"/>
                <a:sym typeface="Canva Sans Bold"/>
              </a:rPr>
              <a:t>Google Drive</a:t>
            </a:r>
          </a:p>
          <a:p>
            <a:pPr algn="ctr">
              <a:lnSpc>
                <a:spcPts val="3359"/>
              </a:lnSpc>
            </a:pPr>
            <a:r>
              <a:rPr lang="en-US" sz="2400" b="true">
                <a:solidFill>
                  <a:srgbClr val="FFFFFF"/>
                </a:solidFill>
                <a:latin typeface="Canva Sans Bold"/>
                <a:ea typeface="Canva Sans Bold"/>
                <a:cs typeface="Canva Sans Bold"/>
                <a:sym typeface="Canva Sans Bold"/>
              </a:rPr>
              <a:t>Dropbox</a:t>
            </a:r>
          </a:p>
          <a:p>
            <a:pPr algn="ctr">
              <a:lnSpc>
                <a:spcPts val="3359"/>
              </a:lnSpc>
            </a:pPr>
            <a:r>
              <a:rPr lang="en-US" sz="2400" b="true">
                <a:solidFill>
                  <a:srgbClr val="FFFFFF"/>
                </a:solidFill>
                <a:latin typeface="Canva Sans Bold"/>
                <a:ea typeface="Canva Sans Bold"/>
                <a:cs typeface="Canva Sans Bold"/>
                <a:sym typeface="Canva Sans Bold"/>
              </a:rPr>
              <a:t>OneDrive</a:t>
            </a:r>
          </a:p>
          <a:p>
            <a:pPr algn="ctr">
              <a:lnSpc>
                <a:spcPts val="3359"/>
              </a:lnSpc>
            </a:pPr>
            <a:r>
              <a:rPr lang="en-US" sz="2400" b="true">
                <a:solidFill>
                  <a:srgbClr val="FFFFFF"/>
                </a:solidFill>
                <a:latin typeface="Canva Sans Bold"/>
                <a:ea typeface="Canva Sans Bold"/>
                <a:cs typeface="Canva Sans Bold"/>
                <a:sym typeface="Canva Sans Bold"/>
              </a:rPr>
              <a:t>Link (URL)</a:t>
            </a:r>
          </a:p>
          <a:p>
            <a:pPr algn="ctr">
              <a:lnSpc>
                <a:spcPts val="3359"/>
              </a:lnSpc>
            </a:pPr>
          </a:p>
          <a:p>
            <a:pPr algn="ctr">
              <a:lnSpc>
                <a:spcPts val="3359"/>
              </a:lnSpc>
            </a:pPr>
            <a:r>
              <a:rPr lang="en-US" sz="2400" b="true">
                <a:solidFill>
                  <a:srgbClr val="FFFFFF"/>
                </a:solidFill>
                <a:latin typeface="Canva Sans Bold"/>
                <a:ea typeface="Canva Sans Bold"/>
                <a:cs typeface="Canva Sans Bold"/>
                <a:sym typeface="Canva Sans Bold"/>
              </a:rPr>
              <a:t>Select</a:t>
            </a:r>
          </a:p>
          <a:p>
            <a:pPr algn="ctr">
              <a:lnSpc>
                <a:spcPts val="3359"/>
              </a:lnSpc>
            </a:pP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2095244" y="1321717"/>
            <a:ext cx="14097512" cy="6263640"/>
          </a:xfrm>
          <a:prstGeom prst="rect">
            <a:avLst/>
          </a:prstGeom>
        </p:spPr>
        <p:txBody>
          <a:bodyPr anchor="t" rtlCol="false" tIns="0" lIns="0" bIns="0" rIns="0">
            <a:spAutoFit/>
          </a:bodyPr>
          <a:lstStyle/>
          <a:p>
            <a:pPr algn="ctr">
              <a:lnSpc>
                <a:spcPts val="3359"/>
              </a:lnSpc>
            </a:pPr>
            <a:r>
              <a:rPr lang="en-US" sz="2400" b="true">
                <a:solidFill>
                  <a:srgbClr val="FFFFFF"/>
                </a:solidFill>
                <a:latin typeface="Canva Sans Bold"/>
                <a:ea typeface="Canva Sans Bold"/>
                <a:cs typeface="Canva Sans Bold"/>
                <a:sym typeface="Canva Sans Bold"/>
              </a:rPr>
              <a:t>Survey: Find five to ten current or future customers and interview them about how your products or services fit into their lives. Don’t be afraid to get deep; it will help you figure out how to better meet their needs with your product or service. Ask questions like: </a:t>
            </a:r>
          </a:p>
          <a:p>
            <a:pPr algn="ctr" marL="518160" indent="-259080" lvl="1">
              <a:lnSpc>
                <a:spcPts val="3359"/>
              </a:lnSpc>
              <a:buFont typeface="Arial"/>
              <a:buChar char="•"/>
            </a:pPr>
            <a:r>
              <a:rPr lang="en-US" b="true" sz="2400">
                <a:solidFill>
                  <a:srgbClr val="FFFFFF"/>
                </a:solidFill>
                <a:latin typeface="Canva Sans Bold"/>
                <a:ea typeface="Canva Sans Bold"/>
                <a:cs typeface="Canva Sans Bold"/>
                <a:sym typeface="Canva Sans Bold"/>
              </a:rPr>
              <a:t>What drew you to my product? </a:t>
            </a:r>
          </a:p>
          <a:p>
            <a:pPr algn="ctr" marL="518160" indent="-259080" lvl="1">
              <a:lnSpc>
                <a:spcPts val="3359"/>
              </a:lnSpc>
              <a:buFont typeface="Arial"/>
              <a:buChar char="•"/>
            </a:pPr>
            <a:r>
              <a:rPr lang="en-US" b="true" sz="2400">
                <a:solidFill>
                  <a:srgbClr val="FFFFFF"/>
                </a:solidFill>
                <a:latin typeface="Canva Sans Bold"/>
                <a:ea typeface="Canva Sans Bold"/>
                <a:cs typeface="Canva Sans Bold"/>
                <a:sym typeface="Canva Sans Bold"/>
              </a:rPr>
              <a:t>What problem does my product or service solve, or what need does this product or service meet? </a:t>
            </a:r>
          </a:p>
          <a:p>
            <a:pPr algn="ctr" marL="518160" indent="-259080" lvl="1">
              <a:lnSpc>
                <a:spcPts val="3359"/>
              </a:lnSpc>
              <a:buFont typeface="Arial"/>
              <a:buChar char="•"/>
            </a:pPr>
            <a:r>
              <a:rPr lang="en-US" b="true" sz="2400">
                <a:solidFill>
                  <a:srgbClr val="FFFFFF"/>
                </a:solidFill>
                <a:latin typeface="Canva Sans Bold"/>
                <a:ea typeface="Canva Sans Bold"/>
                <a:cs typeface="Canva Sans Bold"/>
                <a:sym typeface="Canva Sans Bold"/>
              </a:rPr>
              <a:t>If you did not know me, would you buy this product or service? </a:t>
            </a:r>
          </a:p>
          <a:p>
            <a:pPr algn="ctr" marL="518160" indent="-259080" lvl="1">
              <a:lnSpc>
                <a:spcPts val="3359"/>
              </a:lnSpc>
              <a:buFont typeface="Arial"/>
              <a:buChar char="•"/>
            </a:pPr>
            <a:r>
              <a:rPr lang="en-US" b="true" sz="2400">
                <a:solidFill>
                  <a:srgbClr val="FFFFFF"/>
                </a:solidFill>
                <a:latin typeface="Canva Sans Bold"/>
                <a:ea typeface="Canva Sans Bold"/>
                <a:cs typeface="Canva Sans Bold"/>
                <a:sym typeface="Canva Sans Bold"/>
              </a:rPr>
              <a:t>Would you buy at this price point? </a:t>
            </a:r>
          </a:p>
          <a:p>
            <a:pPr algn="ctr" marL="518160" indent="-259080" lvl="1">
              <a:lnSpc>
                <a:spcPts val="3359"/>
              </a:lnSpc>
              <a:buFont typeface="Arial"/>
              <a:buChar char="•"/>
            </a:pPr>
            <a:r>
              <a:rPr lang="en-US" b="true" sz="2400">
                <a:solidFill>
                  <a:srgbClr val="FFFFFF"/>
                </a:solidFill>
                <a:latin typeface="Canva Sans Bold"/>
                <a:ea typeface="Canva Sans Bold"/>
                <a:cs typeface="Canva Sans Bold"/>
                <a:sym typeface="Canva Sans Bold"/>
              </a:rPr>
              <a:t>How much do you think this product or service is worth? </a:t>
            </a:r>
          </a:p>
          <a:p>
            <a:pPr algn="ctr" marL="518160" indent="-259080" lvl="1">
              <a:lnSpc>
                <a:spcPts val="3359"/>
              </a:lnSpc>
              <a:buFont typeface="Arial"/>
              <a:buChar char="•"/>
            </a:pPr>
            <a:r>
              <a:rPr lang="en-US" b="true" sz="2400">
                <a:solidFill>
                  <a:srgbClr val="FFFFFF"/>
                </a:solidFill>
                <a:latin typeface="Canva Sans Bold"/>
                <a:ea typeface="Canva Sans Bold"/>
                <a:cs typeface="Canva Sans Bold"/>
                <a:sym typeface="Canva Sans Bold"/>
              </a:rPr>
              <a:t>How much would YOU pay for it?</a:t>
            </a:r>
          </a:p>
          <a:p>
            <a:pPr algn="ctr">
              <a:lnSpc>
                <a:spcPts val="3359"/>
              </a:lnSpc>
            </a:pPr>
            <a:r>
              <a:rPr lang="en-US" sz="2400" b="true">
                <a:solidFill>
                  <a:srgbClr val="FFFFFF"/>
                </a:solidFill>
                <a:latin typeface="Canva Sans Bold"/>
                <a:ea typeface="Canva Sans Bold"/>
                <a:cs typeface="Canva Sans Bold"/>
                <a:sym typeface="Canva Sans Bold"/>
              </a:rPr>
              <a:t>Submit your assignment</a:t>
            </a:r>
          </a:p>
          <a:p>
            <a:pPr algn="ctr">
              <a:lnSpc>
                <a:spcPts val="3359"/>
              </a:lnSpc>
            </a:pPr>
            <a:r>
              <a:rPr lang="en-US" sz="2400" b="true">
                <a:solidFill>
                  <a:srgbClr val="FFFFFF"/>
                </a:solidFill>
                <a:latin typeface="Canva Sans Bold"/>
                <a:ea typeface="Canva Sans Bold"/>
                <a:cs typeface="Canva Sans Bold"/>
                <a:sym typeface="Canva Sans Bold"/>
              </a:rPr>
              <a:t>You may only submit one file with maximum 100 MB in size</a:t>
            </a:r>
          </a:p>
          <a:p>
            <a:pPr algn="ctr">
              <a:lnSpc>
                <a:spcPts val="3359"/>
              </a:lnSpc>
            </a:pPr>
          </a:p>
          <a:p>
            <a:pPr algn="ctr">
              <a:lnSpc>
                <a:spcPts val="3359"/>
              </a:lnSpc>
            </a:pPr>
          </a:p>
          <a:p>
            <a:pPr algn="ctr">
              <a:lnSpc>
                <a:spcPts val="3359"/>
              </a:lnSpc>
            </a:pP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2095244" y="1321717"/>
            <a:ext cx="14097512" cy="3329940"/>
          </a:xfrm>
          <a:prstGeom prst="rect">
            <a:avLst/>
          </a:prstGeom>
        </p:spPr>
        <p:txBody>
          <a:bodyPr anchor="t" rtlCol="false" tIns="0" lIns="0" bIns="0" rIns="0">
            <a:spAutoFit/>
          </a:bodyPr>
          <a:lstStyle/>
          <a:p>
            <a:pPr algn="ctr">
              <a:lnSpc>
                <a:spcPts val="3359"/>
              </a:lnSpc>
            </a:pPr>
            <a:r>
              <a:rPr lang="en-US" sz="2400" b="true">
                <a:solidFill>
                  <a:srgbClr val="FFFFFF"/>
                </a:solidFill>
                <a:latin typeface="Canva Sans Bold"/>
                <a:ea typeface="Canva Sans Bold"/>
                <a:cs typeface="Canva Sans Bold"/>
                <a:sym typeface="Canva Sans Bold"/>
              </a:rPr>
              <a:t>Survey: Go to your business canvas and answer the corresponding questions on sticky notes in the Competition and Value Proposition sections. Once you’ve done that, type out paragraphs of those responses in your Business Synopsis. If you need to go back to the previous sections to make a few changes, feel free to do so. We will cover Cost Structures next week. Make sure you read ahead to be prepared.</a:t>
            </a:r>
          </a:p>
          <a:p>
            <a:pPr algn="ctr">
              <a:lnSpc>
                <a:spcPts val="3359"/>
              </a:lnSpc>
            </a:pPr>
            <a:r>
              <a:rPr lang="en-US" sz="2400" b="true">
                <a:solidFill>
                  <a:srgbClr val="FFFFFF"/>
                </a:solidFill>
                <a:latin typeface="Canva Sans Bold"/>
                <a:ea typeface="Canva Sans Bold"/>
                <a:cs typeface="Canva Sans Bold"/>
                <a:sym typeface="Canva Sans Bold"/>
              </a:rPr>
              <a:t>Submit your assignment</a:t>
            </a:r>
          </a:p>
          <a:p>
            <a:pPr algn="ctr">
              <a:lnSpc>
                <a:spcPts val="3359"/>
              </a:lnSpc>
            </a:pPr>
            <a:r>
              <a:rPr lang="en-US" sz="2400" b="true">
                <a:solidFill>
                  <a:srgbClr val="FFFFFF"/>
                </a:solidFill>
                <a:latin typeface="Canva Sans Bold"/>
                <a:ea typeface="Canva Sans Bold"/>
                <a:cs typeface="Canva Sans Bold"/>
                <a:sym typeface="Canva Sans Bold"/>
              </a:rPr>
              <a:t>You may only submit one file with maximum 100 MB in size</a:t>
            </a:r>
          </a:p>
          <a:p>
            <a:pPr algn="ctr">
              <a:lnSpc>
                <a:spcPts val="3359"/>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5251494" y="277867"/>
            <a:ext cx="7785013" cy="9731266"/>
          </a:xfrm>
          <a:custGeom>
            <a:avLst/>
            <a:gdLst/>
            <a:ahLst/>
            <a:cxnLst/>
            <a:rect r="r" b="b" t="t" l="l"/>
            <a:pathLst>
              <a:path h="9731266" w="7785013">
                <a:moveTo>
                  <a:pt x="0" y="0"/>
                </a:moveTo>
                <a:lnTo>
                  <a:pt x="7785012" y="0"/>
                </a:lnTo>
                <a:lnTo>
                  <a:pt x="7785012" y="9731266"/>
                </a:lnTo>
                <a:lnTo>
                  <a:pt x="0" y="9731266"/>
                </a:lnTo>
                <a:lnTo>
                  <a:pt x="0" y="0"/>
                </a:lnTo>
                <a:close/>
              </a:path>
            </a:pathLst>
          </a:custGeom>
          <a:blipFill>
            <a:blip r:embed="rId2"/>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897589" y="4083086"/>
            <a:ext cx="16492822" cy="2120828"/>
          </a:xfrm>
          <a:custGeom>
            <a:avLst/>
            <a:gdLst/>
            <a:ahLst/>
            <a:cxnLst/>
            <a:rect r="r" b="b" t="t" l="l"/>
            <a:pathLst>
              <a:path h="2120828" w="16492822">
                <a:moveTo>
                  <a:pt x="0" y="0"/>
                </a:moveTo>
                <a:lnTo>
                  <a:pt x="16492822" y="0"/>
                </a:lnTo>
                <a:lnTo>
                  <a:pt x="16492822" y="2120828"/>
                </a:lnTo>
                <a:lnTo>
                  <a:pt x="0" y="2120828"/>
                </a:lnTo>
                <a:lnTo>
                  <a:pt x="0" y="0"/>
                </a:lnTo>
                <a:close/>
              </a:path>
            </a:pathLst>
          </a:custGeom>
          <a:blipFill>
            <a:blip r:embed="rId2"/>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875538" y="356321"/>
            <a:ext cx="2536924"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Quiz</a:t>
            </a:r>
          </a:p>
        </p:txBody>
      </p:sp>
      <p:sp>
        <p:nvSpPr>
          <p:cNvPr name="TextBox 3" id="3"/>
          <p:cNvSpPr txBox="true"/>
          <p:nvPr/>
        </p:nvSpPr>
        <p:spPr>
          <a:xfrm rot="0">
            <a:off x="254055" y="219066"/>
            <a:ext cx="5828679" cy="54254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Question 1 of 5</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Who are your competitors?</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Choose only ONE best answer.</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A - This answer is correct.</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A company that provides the same or similar services that you do that has similar resources to you.</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B</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A company that provides the same or similar services that you do that has way more or way less resources than you.</a:t>
            </a:r>
          </a:p>
          <a:p>
            <a:pPr algn="ctr">
              <a:lnSpc>
                <a:spcPts val="3359"/>
              </a:lnSpc>
              <a:spcBef>
                <a:spcPct val="0"/>
              </a:spcBef>
            </a:pPr>
          </a:p>
        </p:txBody>
      </p:sp>
      <p:sp>
        <p:nvSpPr>
          <p:cNvPr name="TextBox 4" id="4"/>
          <p:cNvSpPr txBox="true"/>
          <p:nvPr/>
        </p:nvSpPr>
        <p:spPr>
          <a:xfrm rot="0">
            <a:off x="369842" y="5625456"/>
            <a:ext cx="6020693" cy="1664970"/>
          </a:xfrm>
          <a:prstGeom prst="rect">
            <a:avLst/>
          </a:prstGeom>
        </p:spPr>
        <p:txBody>
          <a:bodyPr anchor="t" rtlCol="false" tIns="0" lIns="0" bIns="0" rIns="0">
            <a:spAutoFit/>
          </a:bodyPr>
          <a:lstStyle/>
          <a:p>
            <a:pPr algn="ctr">
              <a:lnSpc>
                <a:spcPts val="1679"/>
              </a:lnSpc>
              <a:spcBef>
                <a:spcPct val="0"/>
              </a:spcBef>
            </a:pPr>
            <a:r>
              <a:rPr lang="en-US" b="true" sz="1200">
                <a:solidFill>
                  <a:srgbClr val="FFFFFF"/>
                </a:solidFill>
                <a:latin typeface="Canva Sans Bold"/>
                <a:ea typeface="Canva Sans Bold"/>
                <a:cs typeface="Canva Sans Bold"/>
                <a:sym typeface="Canva Sans Bold"/>
              </a:rPr>
              <a:t>Question 2 of 5</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Which of the following are features of a product?</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Choose only ONE best answer.</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A - This answer is correct.</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Statements about your product such as what it can do, its dimensions, specs, etc.</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B</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The end result of what a product can actually accomplish for the customer</a:t>
            </a:r>
          </a:p>
          <a:p>
            <a:pPr algn="ctr">
              <a:lnSpc>
                <a:spcPts val="1679"/>
              </a:lnSpc>
              <a:spcBef>
                <a:spcPct val="0"/>
              </a:spcBef>
            </a:pPr>
          </a:p>
        </p:txBody>
      </p:sp>
      <p:sp>
        <p:nvSpPr>
          <p:cNvPr name="TextBox 5" id="5"/>
          <p:cNvSpPr txBox="true"/>
          <p:nvPr/>
        </p:nvSpPr>
        <p:spPr>
          <a:xfrm rot="0">
            <a:off x="138012" y="7593330"/>
            <a:ext cx="8178701" cy="1664970"/>
          </a:xfrm>
          <a:prstGeom prst="rect">
            <a:avLst/>
          </a:prstGeom>
        </p:spPr>
        <p:txBody>
          <a:bodyPr anchor="t" rtlCol="false" tIns="0" lIns="0" bIns="0" rIns="0">
            <a:spAutoFit/>
          </a:bodyPr>
          <a:lstStyle/>
          <a:p>
            <a:pPr algn="ctr">
              <a:lnSpc>
                <a:spcPts val="1679"/>
              </a:lnSpc>
              <a:spcBef>
                <a:spcPct val="0"/>
              </a:spcBef>
            </a:pPr>
            <a:r>
              <a:rPr lang="en-US" b="true" sz="1200">
                <a:solidFill>
                  <a:srgbClr val="FFFFFF"/>
                </a:solidFill>
                <a:latin typeface="Canva Sans Bold"/>
                <a:ea typeface="Canva Sans Bold"/>
                <a:cs typeface="Canva Sans Bold"/>
                <a:sym typeface="Canva Sans Bold"/>
              </a:rPr>
              <a:t>Question 3 of 5</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What is the difference between benefit and value?</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Choose only ONE best answer.</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A - This answer is correct.</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Value corresponds to worth, whereas a product or service’s benefit is all about what it can do for the customer</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B</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Benefit corresponds to worth, whereas a product or service’s value is all about what it can do for the customer</a:t>
            </a:r>
          </a:p>
          <a:p>
            <a:pPr algn="ctr">
              <a:lnSpc>
                <a:spcPts val="1679"/>
              </a:lnSpc>
              <a:spcBef>
                <a:spcPct val="0"/>
              </a:spcBef>
            </a:pPr>
          </a:p>
        </p:txBody>
      </p:sp>
      <p:sp>
        <p:nvSpPr>
          <p:cNvPr name="TextBox 6" id="6"/>
          <p:cNvSpPr txBox="true"/>
          <p:nvPr/>
        </p:nvSpPr>
        <p:spPr>
          <a:xfrm rot="0">
            <a:off x="6606632" y="2567846"/>
            <a:ext cx="5589091" cy="2084070"/>
          </a:xfrm>
          <a:prstGeom prst="rect">
            <a:avLst/>
          </a:prstGeom>
        </p:spPr>
        <p:txBody>
          <a:bodyPr anchor="t" rtlCol="false" tIns="0" lIns="0" bIns="0" rIns="0">
            <a:spAutoFit/>
          </a:bodyPr>
          <a:lstStyle/>
          <a:p>
            <a:pPr algn="ctr">
              <a:lnSpc>
                <a:spcPts val="1679"/>
              </a:lnSpc>
              <a:spcBef>
                <a:spcPct val="0"/>
              </a:spcBef>
            </a:pPr>
            <a:r>
              <a:rPr lang="en-US" b="true" sz="1200">
                <a:solidFill>
                  <a:srgbClr val="FFFFFF"/>
                </a:solidFill>
                <a:latin typeface="Canva Sans Bold"/>
                <a:ea typeface="Canva Sans Bold"/>
                <a:cs typeface="Canva Sans Bold"/>
                <a:sym typeface="Canva Sans Bold"/>
              </a:rPr>
              <a:t>Question 4 of 5</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Which of the following are types of market research?</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Choose only ONE best answer.</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A</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Numerical/quantitative, for example, analyzing statistics like demographics</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B</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Qualitative, for example, conducting focus groups and surveys</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C - This answer is correct.</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Both</a:t>
            </a:r>
          </a:p>
          <a:p>
            <a:pPr algn="ctr">
              <a:lnSpc>
                <a:spcPts val="1679"/>
              </a:lnSpc>
              <a:spcBef>
                <a:spcPct val="0"/>
              </a:spcBef>
            </a:pPr>
          </a:p>
        </p:txBody>
      </p:sp>
      <p:sp>
        <p:nvSpPr>
          <p:cNvPr name="TextBox 7" id="7"/>
          <p:cNvSpPr txBox="true"/>
          <p:nvPr/>
        </p:nvSpPr>
        <p:spPr>
          <a:xfrm rot="0">
            <a:off x="7875538" y="5415906"/>
            <a:ext cx="6603069" cy="1874520"/>
          </a:xfrm>
          <a:prstGeom prst="rect">
            <a:avLst/>
          </a:prstGeom>
        </p:spPr>
        <p:txBody>
          <a:bodyPr anchor="t" rtlCol="false" tIns="0" lIns="0" bIns="0" rIns="0">
            <a:spAutoFit/>
          </a:bodyPr>
          <a:lstStyle/>
          <a:p>
            <a:pPr algn="ctr">
              <a:lnSpc>
                <a:spcPts val="1679"/>
              </a:lnSpc>
              <a:spcBef>
                <a:spcPct val="0"/>
              </a:spcBef>
            </a:pPr>
            <a:r>
              <a:rPr lang="en-US" b="true" sz="1200">
                <a:solidFill>
                  <a:srgbClr val="FFFFFF"/>
                </a:solidFill>
                <a:latin typeface="Canva Sans Bold"/>
                <a:ea typeface="Canva Sans Bold"/>
                <a:cs typeface="Canva Sans Bold"/>
                <a:sym typeface="Canva Sans Bold"/>
              </a:rPr>
              <a:t>Question 5 of 5</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You need a lot of money and resources to conduct market research. </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Choose only ONE best answer.</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A</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TRUE, it can be really expensive to conduct market research. </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B - This answer is correct.</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FALSE, there are more affordable ways to conduct market research such as reaching out to customers on social media and asking them what they think of your product.</a:t>
            </a:r>
          </a:p>
          <a:p>
            <a:pPr algn="ctr">
              <a:lnSpc>
                <a:spcPts val="167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DAHK_fLDrfI</dc:identifier>
  <dcterms:modified xsi:type="dcterms:W3CDTF">2011-08-01T06:04:30Z</dcterms:modified>
  <cp:revision>1</cp:revision>
  <dc:title>Survey: Before we go any further: You’re in the ring if you’re in business. If you aren’t a competitor, your competitors are. Don’t get punched out because you aren’t competing. In the broadest sense, Webster’s Dictionary defines the word ‘compete’ as “to</dc:title>
</cp:coreProperties>
</file>