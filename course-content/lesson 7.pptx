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x="18288000" cy="10287000"/>
  <p:notesSz cx="6858000" cy="9144000"/>
  <p:embeddedFontLst>
    <p:embeddedFont>
      <p:font typeface="Canva Sans Bold" charset="1" panose="020B0803030501040103"/>
      <p:regular r:id="rId59"/>
    </p:embeddedFont>
    <p:embeddedFont>
      <p:font typeface="Montserrat Bold" charset="1" panose="00000800000000000000"/>
      <p:regular r:id="rId60"/>
    </p:embeddedFont>
    <p:embeddedFont>
      <p:font typeface="Montserrat" charset="1" panose="00000500000000000000"/>
      <p:regular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 Id="rId3" Target="https://youtu.be/7LVXvYgg504?si=cQ-JrrBgqPhsd--_" TargetMode="External" Type="http://schemas.openxmlformats.org/officeDocument/2006/relationships/video"/></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633633"/>
            <a:ext cx="16230600" cy="7019734"/>
          </a:xfrm>
          <a:custGeom>
            <a:avLst/>
            <a:gdLst/>
            <a:ahLst/>
            <a:cxnLst/>
            <a:rect r="r" b="b" t="t" l="l"/>
            <a:pathLst>
              <a:path h="7019734" w="16230600">
                <a:moveTo>
                  <a:pt x="0" y="0"/>
                </a:moveTo>
                <a:lnTo>
                  <a:pt x="16230600" y="0"/>
                </a:lnTo>
                <a:lnTo>
                  <a:pt x="16230600" y="7019734"/>
                </a:lnTo>
                <a:lnTo>
                  <a:pt x="0" y="7019734"/>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857530" y="3351551"/>
            <a:ext cx="16627209" cy="3595634"/>
          </a:xfrm>
          <a:custGeom>
            <a:avLst/>
            <a:gdLst/>
            <a:ahLst/>
            <a:cxnLst/>
            <a:rect r="r" b="b" t="t" l="l"/>
            <a:pathLst>
              <a:path h="3595634" w="16627209">
                <a:moveTo>
                  <a:pt x="0" y="0"/>
                </a:moveTo>
                <a:lnTo>
                  <a:pt x="16627209" y="0"/>
                </a:lnTo>
                <a:lnTo>
                  <a:pt x="16627209" y="3595634"/>
                </a:lnTo>
                <a:lnTo>
                  <a:pt x="0" y="3595634"/>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557715" y="2760806"/>
            <a:ext cx="17172570" cy="4765388"/>
          </a:xfrm>
          <a:custGeom>
            <a:avLst/>
            <a:gdLst/>
            <a:ahLst/>
            <a:cxnLst/>
            <a:rect r="r" b="b" t="t" l="l"/>
            <a:pathLst>
              <a:path h="4765388" w="17172570">
                <a:moveTo>
                  <a:pt x="0" y="0"/>
                </a:moveTo>
                <a:lnTo>
                  <a:pt x="17172570" y="0"/>
                </a:lnTo>
                <a:lnTo>
                  <a:pt x="17172570" y="4765388"/>
                </a:lnTo>
                <a:lnTo>
                  <a:pt x="0" y="4765388"/>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269149" y="608551"/>
            <a:ext cx="13749702" cy="7648272"/>
          </a:xfrm>
          <a:custGeom>
            <a:avLst/>
            <a:gdLst/>
            <a:ahLst/>
            <a:cxnLst/>
            <a:rect r="r" b="b" t="t" l="l"/>
            <a:pathLst>
              <a:path h="7648272" w="13749702">
                <a:moveTo>
                  <a:pt x="0" y="0"/>
                </a:moveTo>
                <a:lnTo>
                  <a:pt x="13749702" y="0"/>
                </a:lnTo>
                <a:lnTo>
                  <a:pt x="13749702" y="7648272"/>
                </a:lnTo>
                <a:lnTo>
                  <a:pt x="0" y="7648272"/>
                </a:lnTo>
                <a:lnTo>
                  <a:pt x="0" y="0"/>
                </a:lnTo>
                <a:close/>
              </a:path>
            </a:pathLst>
          </a:custGeom>
          <a:blipFill>
            <a:blip r:embed="rId2"/>
            <a:stretch>
              <a:fillRect l="0" t="0" r="0" b="0"/>
            </a:stretch>
          </a:blipFill>
        </p:spPr>
      </p:sp>
      <p:sp>
        <p:nvSpPr>
          <p:cNvPr name="Freeform 3" id="3"/>
          <p:cNvSpPr/>
          <p:nvPr/>
        </p:nvSpPr>
        <p:spPr>
          <a:xfrm flipH="false" flipV="false" rot="0">
            <a:off x="2269149" y="8023431"/>
            <a:ext cx="13046060" cy="2152600"/>
          </a:xfrm>
          <a:custGeom>
            <a:avLst/>
            <a:gdLst/>
            <a:ahLst/>
            <a:cxnLst/>
            <a:rect r="r" b="b" t="t" l="l"/>
            <a:pathLst>
              <a:path h="2152600" w="13046060">
                <a:moveTo>
                  <a:pt x="0" y="0"/>
                </a:moveTo>
                <a:lnTo>
                  <a:pt x="13046060" y="0"/>
                </a:lnTo>
                <a:lnTo>
                  <a:pt x="13046060" y="2152600"/>
                </a:lnTo>
                <a:lnTo>
                  <a:pt x="0" y="2152600"/>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0" y="2093251"/>
            <a:ext cx="18288000" cy="29108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Write about the most difficult time you had making a sale to someone you didn’t know. What did you have to say or do to get the yes? Why was it so difficult? How did it feel to close the deal?</a:t>
            </a:r>
          </a:p>
          <a:p>
            <a:pPr algn="ctr">
              <a:lnSpc>
                <a:spcPts val="3359"/>
              </a:lnSpc>
            </a:pPr>
            <a:r>
              <a:rPr lang="en-US" sz="2400" b="true">
                <a:solidFill>
                  <a:srgbClr val="FFFFFF"/>
                </a:solidFill>
                <a:latin typeface="Canva Sans Bold"/>
                <a:ea typeface="Canva Sans Bold"/>
                <a:cs typeface="Canva Sans Bold"/>
                <a:sym typeface="Canva Sans Bold"/>
              </a:rPr>
              <a:t>Submit your assignment</a:t>
            </a:r>
          </a:p>
          <a:p>
            <a:pPr algn="ctr">
              <a:lnSpc>
                <a:spcPts val="3359"/>
              </a:lnSpc>
            </a:pPr>
            <a:r>
              <a:rPr lang="en-US" sz="2400" b="true">
                <a:solidFill>
                  <a:srgbClr val="FFFFFF"/>
                </a:solidFill>
                <a:latin typeface="Canva Sans Bold"/>
                <a:ea typeface="Canva Sans Bold"/>
                <a:cs typeface="Canva Sans Bold"/>
                <a:sym typeface="Canva Sans Bold"/>
              </a:rPr>
              <a:t>You may only submit one file with maximum 100 MB in size</a:t>
            </a:r>
          </a:p>
          <a:p>
            <a:pPr algn="ctr">
              <a:lnSpc>
                <a:spcPts val="3359"/>
              </a:lnSpc>
            </a:pPr>
          </a:p>
          <a:p>
            <a:pPr algn="ctr">
              <a:lnSpc>
                <a:spcPts val="3359"/>
              </a:lnSpc>
            </a:pPr>
          </a:p>
          <a:p>
            <a:pPr algn="ctr">
              <a:lnSpc>
                <a:spcPts val="33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741655" y="2822081"/>
            <a:ext cx="16804690" cy="4243184"/>
          </a:xfrm>
          <a:custGeom>
            <a:avLst/>
            <a:gdLst/>
            <a:ahLst/>
            <a:cxnLst/>
            <a:rect r="r" b="b" t="t" l="l"/>
            <a:pathLst>
              <a:path h="4243184" w="16804690">
                <a:moveTo>
                  <a:pt x="0" y="0"/>
                </a:moveTo>
                <a:lnTo>
                  <a:pt x="16804690" y="0"/>
                </a:lnTo>
                <a:lnTo>
                  <a:pt x="16804690" y="4243184"/>
                </a:lnTo>
                <a:lnTo>
                  <a:pt x="0" y="4243184"/>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772766" y="887066"/>
            <a:ext cx="16742469" cy="8371234"/>
          </a:xfrm>
          <a:custGeom>
            <a:avLst/>
            <a:gdLst/>
            <a:ahLst/>
            <a:cxnLst/>
            <a:rect r="r" b="b" t="t" l="l"/>
            <a:pathLst>
              <a:path h="8371234" w="16742469">
                <a:moveTo>
                  <a:pt x="0" y="0"/>
                </a:moveTo>
                <a:lnTo>
                  <a:pt x="16742468" y="0"/>
                </a:lnTo>
                <a:lnTo>
                  <a:pt x="16742468" y="8371234"/>
                </a:lnTo>
                <a:lnTo>
                  <a:pt x="0" y="8371234"/>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211481" y="1028700"/>
            <a:ext cx="15865038" cy="7932519"/>
          </a:xfrm>
          <a:custGeom>
            <a:avLst/>
            <a:gdLst/>
            <a:ahLst/>
            <a:cxnLst/>
            <a:rect r="r" b="b" t="t" l="l"/>
            <a:pathLst>
              <a:path h="7932519" w="15865038">
                <a:moveTo>
                  <a:pt x="0" y="0"/>
                </a:moveTo>
                <a:lnTo>
                  <a:pt x="15865038" y="0"/>
                </a:lnTo>
                <a:lnTo>
                  <a:pt x="15865038" y="7932519"/>
                </a:lnTo>
                <a:lnTo>
                  <a:pt x="0" y="7932519"/>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3230463" y="3469640"/>
            <a:ext cx="11827073" cy="3185794"/>
          </a:xfrm>
          <a:prstGeom prst="rect">
            <a:avLst/>
          </a:prstGeom>
        </p:spPr>
        <p:txBody>
          <a:bodyPr anchor="t" rtlCol="false" tIns="0" lIns="0" bIns="0" rIns="0">
            <a:spAutoFit/>
          </a:bodyPr>
          <a:lstStyle/>
          <a:p>
            <a:pPr algn="ctr">
              <a:lnSpc>
                <a:spcPts val="12880"/>
              </a:lnSpc>
              <a:spcBef>
                <a:spcPct val="0"/>
              </a:spcBef>
            </a:pPr>
            <a:r>
              <a:rPr lang="en-US" b="true" sz="9200">
                <a:solidFill>
                  <a:srgbClr val="E3BA20"/>
                </a:solidFill>
                <a:latin typeface="Montserrat Bold"/>
                <a:ea typeface="Montserrat Bold"/>
                <a:cs typeface="Montserrat Bold"/>
                <a:sym typeface="Montserrat Bold"/>
              </a:rPr>
              <a:t>Inbound Marketing</a:t>
            </a:r>
          </a:p>
          <a:p>
            <a:pPr algn="ctr">
              <a:lnSpc>
                <a:spcPts val="1288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065533" y="3729768"/>
            <a:ext cx="16156934" cy="2827464"/>
          </a:xfrm>
          <a:custGeom>
            <a:avLst/>
            <a:gdLst/>
            <a:ahLst/>
            <a:cxnLst/>
            <a:rect r="r" b="b" t="t" l="l"/>
            <a:pathLst>
              <a:path h="2827464" w="16156934">
                <a:moveTo>
                  <a:pt x="0" y="0"/>
                </a:moveTo>
                <a:lnTo>
                  <a:pt x="16156934" y="0"/>
                </a:lnTo>
                <a:lnTo>
                  <a:pt x="16156934" y="2827464"/>
                </a:lnTo>
                <a:lnTo>
                  <a:pt x="0" y="2827464"/>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509784" y="3567756"/>
            <a:ext cx="17268432" cy="3151489"/>
          </a:xfrm>
          <a:custGeom>
            <a:avLst/>
            <a:gdLst/>
            <a:ahLst/>
            <a:cxnLst/>
            <a:rect r="r" b="b" t="t" l="l"/>
            <a:pathLst>
              <a:path h="3151489" w="17268432">
                <a:moveTo>
                  <a:pt x="0" y="0"/>
                </a:moveTo>
                <a:lnTo>
                  <a:pt x="17268432" y="0"/>
                </a:lnTo>
                <a:lnTo>
                  <a:pt x="17268432" y="3151488"/>
                </a:lnTo>
                <a:lnTo>
                  <a:pt x="0" y="3151488"/>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794347" y="3525755"/>
            <a:ext cx="16699306" cy="3235491"/>
          </a:xfrm>
          <a:custGeom>
            <a:avLst/>
            <a:gdLst/>
            <a:ahLst/>
            <a:cxnLst/>
            <a:rect r="r" b="b" t="t" l="l"/>
            <a:pathLst>
              <a:path h="3235491" w="16699306">
                <a:moveTo>
                  <a:pt x="0" y="0"/>
                </a:moveTo>
                <a:lnTo>
                  <a:pt x="16699306" y="0"/>
                </a:lnTo>
                <a:lnTo>
                  <a:pt x="16699306" y="3235490"/>
                </a:lnTo>
                <a:lnTo>
                  <a:pt x="0" y="3235490"/>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378422"/>
            <a:ext cx="16230600" cy="3530155"/>
          </a:xfrm>
          <a:custGeom>
            <a:avLst/>
            <a:gdLst/>
            <a:ahLst/>
            <a:cxnLst/>
            <a:rect r="r" b="b" t="t" l="l"/>
            <a:pathLst>
              <a:path h="3530155" w="16230600">
                <a:moveTo>
                  <a:pt x="0" y="0"/>
                </a:moveTo>
                <a:lnTo>
                  <a:pt x="16230600" y="0"/>
                </a:lnTo>
                <a:lnTo>
                  <a:pt x="16230600" y="3530156"/>
                </a:lnTo>
                <a:lnTo>
                  <a:pt x="0" y="3530156"/>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132559" y="3951798"/>
            <a:ext cx="16022881" cy="2383404"/>
          </a:xfrm>
          <a:custGeom>
            <a:avLst/>
            <a:gdLst/>
            <a:ahLst/>
            <a:cxnLst/>
            <a:rect r="r" b="b" t="t" l="l"/>
            <a:pathLst>
              <a:path h="2383404" w="16022881">
                <a:moveTo>
                  <a:pt x="0" y="0"/>
                </a:moveTo>
                <a:lnTo>
                  <a:pt x="16022882" y="0"/>
                </a:lnTo>
                <a:lnTo>
                  <a:pt x="16022882" y="2383404"/>
                </a:lnTo>
                <a:lnTo>
                  <a:pt x="0" y="2383404"/>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437825" y="3823818"/>
            <a:ext cx="15412350" cy="2639365"/>
          </a:xfrm>
          <a:custGeom>
            <a:avLst/>
            <a:gdLst/>
            <a:ahLst/>
            <a:cxnLst/>
            <a:rect r="r" b="b" t="t" l="l"/>
            <a:pathLst>
              <a:path h="2639365" w="15412350">
                <a:moveTo>
                  <a:pt x="0" y="0"/>
                </a:moveTo>
                <a:lnTo>
                  <a:pt x="15412350" y="0"/>
                </a:lnTo>
                <a:lnTo>
                  <a:pt x="15412350" y="2639364"/>
                </a:lnTo>
                <a:lnTo>
                  <a:pt x="0" y="2639364"/>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2677195" y="3469640"/>
            <a:ext cx="12933611" cy="3185794"/>
          </a:xfrm>
          <a:prstGeom prst="rect">
            <a:avLst/>
          </a:prstGeom>
        </p:spPr>
        <p:txBody>
          <a:bodyPr anchor="t" rtlCol="false" tIns="0" lIns="0" bIns="0" rIns="0">
            <a:spAutoFit/>
          </a:bodyPr>
          <a:lstStyle/>
          <a:p>
            <a:pPr algn="ctr">
              <a:lnSpc>
                <a:spcPts val="12880"/>
              </a:lnSpc>
              <a:spcBef>
                <a:spcPct val="0"/>
              </a:spcBef>
            </a:pPr>
            <a:r>
              <a:rPr lang="en-US" b="true" sz="9200">
                <a:solidFill>
                  <a:srgbClr val="E3BA20"/>
                </a:solidFill>
                <a:latin typeface="Montserrat Bold"/>
                <a:ea typeface="Montserrat Bold"/>
                <a:cs typeface="Montserrat Bold"/>
                <a:sym typeface="Montserrat Bold"/>
              </a:rPr>
              <a:t>Out</a:t>
            </a:r>
            <a:r>
              <a:rPr lang="en-US" b="true" sz="9200">
                <a:solidFill>
                  <a:srgbClr val="E3BA20"/>
                </a:solidFill>
                <a:latin typeface="Montserrat Bold"/>
                <a:ea typeface="Montserrat Bold"/>
                <a:cs typeface="Montserrat Bold"/>
                <a:sym typeface="Montserrat Bold"/>
              </a:rPr>
              <a:t>bound Marketing</a:t>
            </a:r>
          </a:p>
          <a:p>
            <a:pPr algn="ctr">
              <a:lnSpc>
                <a:spcPts val="12880"/>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260315" y="3606181"/>
            <a:ext cx="15767370" cy="3074637"/>
          </a:xfrm>
          <a:custGeom>
            <a:avLst/>
            <a:gdLst/>
            <a:ahLst/>
            <a:cxnLst/>
            <a:rect r="r" b="b" t="t" l="l"/>
            <a:pathLst>
              <a:path h="3074637" w="15767370">
                <a:moveTo>
                  <a:pt x="0" y="0"/>
                </a:moveTo>
                <a:lnTo>
                  <a:pt x="15767370" y="0"/>
                </a:lnTo>
                <a:lnTo>
                  <a:pt x="15767370" y="3074638"/>
                </a:lnTo>
                <a:lnTo>
                  <a:pt x="0" y="3074638"/>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381495" y="3934702"/>
            <a:ext cx="13525009" cy="2417595"/>
          </a:xfrm>
          <a:custGeom>
            <a:avLst/>
            <a:gdLst/>
            <a:ahLst/>
            <a:cxnLst/>
            <a:rect r="r" b="b" t="t" l="l"/>
            <a:pathLst>
              <a:path h="2417595" w="13525009">
                <a:moveTo>
                  <a:pt x="0" y="0"/>
                </a:moveTo>
                <a:lnTo>
                  <a:pt x="13525010" y="0"/>
                </a:lnTo>
                <a:lnTo>
                  <a:pt x="13525010" y="2417596"/>
                </a:lnTo>
                <a:lnTo>
                  <a:pt x="0" y="2417596"/>
                </a:lnTo>
                <a:lnTo>
                  <a:pt x="0" y="0"/>
                </a:lnTo>
                <a:close/>
              </a:path>
            </a:pathLst>
          </a:custGeom>
          <a:blipFill>
            <a:blip r:embed="rId2"/>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200425" y="3815541"/>
            <a:ext cx="13887151" cy="2655918"/>
          </a:xfrm>
          <a:custGeom>
            <a:avLst/>
            <a:gdLst/>
            <a:ahLst/>
            <a:cxnLst/>
            <a:rect r="r" b="b" t="t" l="l"/>
            <a:pathLst>
              <a:path h="2655918" w="13887151">
                <a:moveTo>
                  <a:pt x="0" y="0"/>
                </a:moveTo>
                <a:lnTo>
                  <a:pt x="13887150" y="0"/>
                </a:lnTo>
                <a:lnTo>
                  <a:pt x="13887150" y="2655918"/>
                </a:lnTo>
                <a:lnTo>
                  <a:pt x="0" y="2655918"/>
                </a:lnTo>
                <a:lnTo>
                  <a:pt x="0" y="0"/>
                </a:lnTo>
                <a:close/>
              </a:path>
            </a:pathLst>
          </a:custGeom>
          <a:blipFill>
            <a:blip r:embed="rId2"/>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991580" y="3230228"/>
            <a:ext cx="14304840" cy="3826545"/>
          </a:xfrm>
          <a:custGeom>
            <a:avLst/>
            <a:gdLst/>
            <a:ahLst/>
            <a:cxnLst/>
            <a:rect r="r" b="b" t="t" l="l"/>
            <a:pathLst>
              <a:path h="3826545" w="14304840">
                <a:moveTo>
                  <a:pt x="0" y="0"/>
                </a:moveTo>
                <a:lnTo>
                  <a:pt x="14304840" y="0"/>
                </a:lnTo>
                <a:lnTo>
                  <a:pt x="14304840" y="3826544"/>
                </a:lnTo>
                <a:lnTo>
                  <a:pt x="0" y="3826544"/>
                </a:lnTo>
                <a:lnTo>
                  <a:pt x="0" y="0"/>
                </a:lnTo>
                <a:close/>
              </a:path>
            </a:pathLst>
          </a:custGeom>
          <a:blipFill>
            <a:blip r:embed="rId2"/>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179578" y="3865926"/>
            <a:ext cx="13928843" cy="2555148"/>
          </a:xfrm>
          <a:custGeom>
            <a:avLst/>
            <a:gdLst/>
            <a:ahLst/>
            <a:cxnLst/>
            <a:rect r="r" b="b" t="t" l="l"/>
            <a:pathLst>
              <a:path h="2555148" w="13928843">
                <a:moveTo>
                  <a:pt x="0" y="0"/>
                </a:moveTo>
                <a:lnTo>
                  <a:pt x="13928844" y="0"/>
                </a:lnTo>
                <a:lnTo>
                  <a:pt x="13928844" y="2555148"/>
                </a:lnTo>
                <a:lnTo>
                  <a:pt x="0" y="2555148"/>
                </a:lnTo>
                <a:lnTo>
                  <a:pt x="0" y="0"/>
                </a:lnTo>
                <a:close/>
              </a:path>
            </a:pathLst>
          </a:custGeom>
          <a:blipFill>
            <a:blip r:embed="rId2"/>
            <a:stretch>
              <a:fillRect l="0" t="-2127" r="0" b="-2127"/>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598887" y="3851399"/>
            <a:ext cx="15090226" cy="2584201"/>
          </a:xfrm>
          <a:custGeom>
            <a:avLst/>
            <a:gdLst/>
            <a:ahLst/>
            <a:cxnLst/>
            <a:rect r="r" b="b" t="t" l="l"/>
            <a:pathLst>
              <a:path h="2584201" w="15090226">
                <a:moveTo>
                  <a:pt x="0" y="0"/>
                </a:moveTo>
                <a:lnTo>
                  <a:pt x="15090226" y="0"/>
                </a:lnTo>
                <a:lnTo>
                  <a:pt x="15090226" y="2584202"/>
                </a:lnTo>
                <a:lnTo>
                  <a:pt x="0" y="2584202"/>
                </a:lnTo>
                <a:lnTo>
                  <a:pt x="0" y="0"/>
                </a:lnTo>
                <a:close/>
              </a:path>
            </a:pathLst>
          </a:custGeom>
          <a:blipFill>
            <a:blip r:embed="rId2"/>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274175" y="2054594"/>
            <a:ext cx="15739650" cy="6177813"/>
          </a:xfrm>
          <a:custGeom>
            <a:avLst/>
            <a:gdLst/>
            <a:ahLst/>
            <a:cxnLst/>
            <a:rect r="r" b="b" t="t" l="l"/>
            <a:pathLst>
              <a:path h="6177813" w="15739650">
                <a:moveTo>
                  <a:pt x="0" y="0"/>
                </a:moveTo>
                <a:lnTo>
                  <a:pt x="15739650" y="0"/>
                </a:lnTo>
                <a:lnTo>
                  <a:pt x="15739650" y="6177812"/>
                </a:lnTo>
                <a:lnTo>
                  <a:pt x="0" y="6177812"/>
                </a:lnTo>
                <a:lnTo>
                  <a:pt x="0" y="0"/>
                </a:lnTo>
                <a:close/>
              </a:path>
            </a:pathLst>
          </a:custGeom>
          <a:blipFill>
            <a:blip r:embed="rId2"/>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3653314" y="1558172"/>
            <a:ext cx="10981372" cy="6172200"/>
          </a:xfrm>
          <a:prstGeom prst="rect">
            <a:avLst/>
          </a:prstGeom>
        </p:spPr>
      </p:pic>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207915" y="2365870"/>
            <a:ext cx="15872170" cy="2777630"/>
          </a:xfrm>
          <a:custGeom>
            <a:avLst/>
            <a:gdLst/>
            <a:ahLst/>
            <a:cxnLst/>
            <a:rect r="r" b="b" t="t" l="l"/>
            <a:pathLst>
              <a:path h="2777630" w="15872170">
                <a:moveTo>
                  <a:pt x="0" y="0"/>
                </a:moveTo>
                <a:lnTo>
                  <a:pt x="15872170" y="0"/>
                </a:lnTo>
                <a:lnTo>
                  <a:pt x="15872170" y="2777630"/>
                </a:lnTo>
                <a:lnTo>
                  <a:pt x="0" y="2777630"/>
                </a:lnTo>
                <a:lnTo>
                  <a:pt x="0" y="0"/>
                </a:lnTo>
                <a:close/>
              </a:path>
            </a:pathLst>
          </a:custGeom>
          <a:blipFill>
            <a:blip r:embed="rId2"/>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1294264"/>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6220941" y="3593465"/>
            <a:ext cx="5846118"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How my customers want to be reached:</a:t>
            </a:r>
          </a:p>
        </p:txBody>
      </p:sp>
      <p:sp>
        <p:nvSpPr>
          <p:cNvPr name="TextBox 4" id="4"/>
          <p:cNvSpPr txBox="true"/>
          <p:nvPr/>
        </p:nvSpPr>
        <p:spPr>
          <a:xfrm rot="0">
            <a:off x="7117482" y="3942080"/>
            <a:ext cx="4011513" cy="3955603"/>
          </a:xfrm>
          <a:prstGeom prst="rect">
            <a:avLst/>
          </a:prstGeom>
        </p:spPr>
        <p:txBody>
          <a:bodyPr anchor="t" rtlCol="false" tIns="0" lIns="0" bIns="0" rIns="0">
            <a:spAutoFit/>
          </a:bodyPr>
          <a:lstStyle/>
          <a:p>
            <a:pPr algn="ctr">
              <a:lnSpc>
                <a:spcPts val="3325"/>
              </a:lnSpc>
              <a:spcBef>
                <a:spcPct val="0"/>
              </a:spcBef>
            </a:pPr>
            <a:r>
              <a:rPr lang="en-US" b="true" sz="2375">
                <a:solidFill>
                  <a:srgbClr val="FFFFFF"/>
                </a:solidFill>
                <a:latin typeface="Canva Sans Bold"/>
                <a:ea typeface="Canva Sans Bold"/>
                <a:cs typeface="Canva Sans Bold"/>
                <a:sym typeface="Canva Sans Bold"/>
              </a:rPr>
              <a:t>How I reach my customers:</a:t>
            </a:r>
          </a:p>
          <a:p>
            <a:pPr algn="ctr">
              <a:lnSpc>
                <a:spcPts val="3325"/>
              </a:lnSpc>
              <a:spcBef>
                <a:spcPct val="0"/>
              </a:spcBef>
            </a:pPr>
            <a:r>
              <a:rPr lang="en-US" b="true" sz="2375">
                <a:solidFill>
                  <a:srgbClr val="FFFFFF"/>
                </a:solidFill>
                <a:latin typeface="Canva Sans Bold"/>
                <a:ea typeface="Canva Sans Bold"/>
                <a:cs typeface="Canva Sans Bold"/>
                <a:sym typeface="Canva Sans Bold"/>
              </a:rPr>
              <a:t>New marketing techniques:</a:t>
            </a:r>
          </a:p>
          <a:p>
            <a:pPr algn="ctr">
              <a:lnSpc>
                <a:spcPts val="12748"/>
              </a:lnSpc>
              <a:spcBef>
                <a:spcPct val="0"/>
              </a:spcBef>
            </a:pPr>
          </a:p>
          <a:p>
            <a:pPr algn="ctr">
              <a:lnSpc>
                <a:spcPts val="12748"/>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338963" y="797240"/>
            <a:ext cx="15610073" cy="2263461"/>
          </a:xfrm>
          <a:custGeom>
            <a:avLst/>
            <a:gdLst/>
            <a:ahLst/>
            <a:cxnLst/>
            <a:rect r="r" b="b" t="t" l="l"/>
            <a:pathLst>
              <a:path h="2263461" w="15610073">
                <a:moveTo>
                  <a:pt x="0" y="0"/>
                </a:moveTo>
                <a:lnTo>
                  <a:pt x="15610074" y="0"/>
                </a:lnTo>
                <a:lnTo>
                  <a:pt x="15610074" y="2263461"/>
                </a:lnTo>
                <a:lnTo>
                  <a:pt x="0" y="2263461"/>
                </a:lnTo>
                <a:lnTo>
                  <a:pt x="0" y="0"/>
                </a:lnTo>
                <a:close/>
              </a:path>
            </a:pathLst>
          </a:custGeom>
          <a:blipFill>
            <a:blip r:embed="rId2"/>
            <a:stretch>
              <a:fillRect l="0" t="0" r="0" b="0"/>
            </a:stretch>
          </a:blipFill>
        </p:spPr>
      </p:sp>
      <p:sp>
        <p:nvSpPr>
          <p:cNvPr name="Freeform 3" id="3"/>
          <p:cNvSpPr/>
          <p:nvPr/>
        </p:nvSpPr>
        <p:spPr>
          <a:xfrm flipH="false" flipV="false" rot="0">
            <a:off x="3493371" y="3205526"/>
            <a:ext cx="11301259" cy="6356958"/>
          </a:xfrm>
          <a:custGeom>
            <a:avLst/>
            <a:gdLst/>
            <a:ahLst/>
            <a:cxnLst/>
            <a:rect r="r" b="b" t="t" l="l"/>
            <a:pathLst>
              <a:path h="6356958" w="11301259">
                <a:moveTo>
                  <a:pt x="0" y="0"/>
                </a:moveTo>
                <a:lnTo>
                  <a:pt x="11301258" y="0"/>
                </a:lnTo>
                <a:lnTo>
                  <a:pt x="11301258" y="6356959"/>
                </a:lnTo>
                <a:lnTo>
                  <a:pt x="0" y="6356959"/>
                </a:lnTo>
                <a:lnTo>
                  <a:pt x="0" y="0"/>
                </a:lnTo>
                <a:close/>
              </a:path>
            </a:pathLst>
          </a:custGeom>
          <a:blipFill>
            <a:blip r:embed="rId3"/>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852614" y="287327"/>
            <a:ext cx="12582772" cy="4749996"/>
          </a:xfrm>
          <a:custGeom>
            <a:avLst/>
            <a:gdLst/>
            <a:ahLst/>
            <a:cxnLst/>
            <a:rect r="r" b="b" t="t" l="l"/>
            <a:pathLst>
              <a:path h="4749996" w="12582772">
                <a:moveTo>
                  <a:pt x="0" y="0"/>
                </a:moveTo>
                <a:lnTo>
                  <a:pt x="12582772" y="0"/>
                </a:lnTo>
                <a:lnTo>
                  <a:pt x="12582772" y="4749996"/>
                </a:lnTo>
                <a:lnTo>
                  <a:pt x="0" y="4749996"/>
                </a:lnTo>
                <a:lnTo>
                  <a:pt x="0" y="0"/>
                </a:lnTo>
                <a:close/>
              </a:path>
            </a:pathLst>
          </a:custGeom>
          <a:blipFill>
            <a:blip r:embed="rId2"/>
            <a:stretch>
              <a:fillRect l="0" t="0" r="0" b="0"/>
            </a:stretch>
          </a:blipFill>
        </p:spPr>
      </p:sp>
      <p:sp>
        <p:nvSpPr>
          <p:cNvPr name="Freeform 3" id="3"/>
          <p:cNvSpPr/>
          <p:nvPr/>
        </p:nvSpPr>
        <p:spPr>
          <a:xfrm flipH="false" flipV="false" rot="0">
            <a:off x="2852614" y="5294431"/>
            <a:ext cx="12582772" cy="2103631"/>
          </a:xfrm>
          <a:custGeom>
            <a:avLst/>
            <a:gdLst/>
            <a:ahLst/>
            <a:cxnLst/>
            <a:rect r="r" b="b" t="t" l="l"/>
            <a:pathLst>
              <a:path h="2103631" w="12582772">
                <a:moveTo>
                  <a:pt x="0" y="0"/>
                </a:moveTo>
                <a:lnTo>
                  <a:pt x="12582772" y="0"/>
                </a:lnTo>
                <a:lnTo>
                  <a:pt x="12582772" y="2103631"/>
                </a:lnTo>
                <a:lnTo>
                  <a:pt x="0" y="2103631"/>
                </a:lnTo>
                <a:lnTo>
                  <a:pt x="0" y="0"/>
                </a:lnTo>
                <a:close/>
              </a:path>
            </a:pathLst>
          </a:custGeom>
          <a:blipFill>
            <a:blip r:embed="rId3"/>
            <a:stretch>
              <a:fillRect l="0" t="-468" r="0" b="-468"/>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3486906" y="1961385"/>
            <a:ext cx="11307723" cy="6360594"/>
          </a:xfrm>
          <a:custGeom>
            <a:avLst/>
            <a:gdLst/>
            <a:ahLst/>
            <a:cxnLst/>
            <a:rect r="r" b="b" t="t" l="l"/>
            <a:pathLst>
              <a:path h="6360594" w="11307723">
                <a:moveTo>
                  <a:pt x="0" y="0"/>
                </a:moveTo>
                <a:lnTo>
                  <a:pt x="11307723" y="0"/>
                </a:lnTo>
                <a:lnTo>
                  <a:pt x="11307723" y="6360594"/>
                </a:lnTo>
                <a:lnTo>
                  <a:pt x="0" y="6360594"/>
                </a:lnTo>
                <a:lnTo>
                  <a:pt x="0" y="0"/>
                </a:lnTo>
                <a:close/>
              </a:path>
            </a:pathLst>
          </a:custGeom>
          <a:blipFill>
            <a:blip r:embed="rId2"/>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231421" y="1451659"/>
            <a:ext cx="15825157" cy="4965143"/>
          </a:xfrm>
          <a:custGeom>
            <a:avLst/>
            <a:gdLst/>
            <a:ahLst/>
            <a:cxnLst/>
            <a:rect r="r" b="b" t="t" l="l"/>
            <a:pathLst>
              <a:path h="4965143" w="15825157">
                <a:moveTo>
                  <a:pt x="0" y="0"/>
                </a:moveTo>
                <a:lnTo>
                  <a:pt x="15825158" y="0"/>
                </a:lnTo>
                <a:lnTo>
                  <a:pt x="15825158" y="4965143"/>
                </a:lnTo>
                <a:lnTo>
                  <a:pt x="0" y="4965143"/>
                </a:lnTo>
                <a:lnTo>
                  <a:pt x="0" y="0"/>
                </a:lnTo>
                <a:close/>
              </a:path>
            </a:pathLst>
          </a:custGeom>
          <a:blipFill>
            <a:blip r:embed="rId2"/>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639937" y="582192"/>
            <a:ext cx="13008127" cy="3186991"/>
          </a:xfrm>
          <a:custGeom>
            <a:avLst/>
            <a:gdLst/>
            <a:ahLst/>
            <a:cxnLst/>
            <a:rect r="r" b="b" t="t" l="l"/>
            <a:pathLst>
              <a:path h="3186991" w="13008127">
                <a:moveTo>
                  <a:pt x="0" y="0"/>
                </a:moveTo>
                <a:lnTo>
                  <a:pt x="13008126" y="0"/>
                </a:lnTo>
                <a:lnTo>
                  <a:pt x="13008126" y="3186991"/>
                </a:lnTo>
                <a:lnTo>
                  <a:pt x="0" y="3186991"/>
                </a:lnTo>
                <a:lnTo>
                  <a:pt x="0" y="0"/>
                </a:lnTo>
                <a:close/>
              </a:path>
            </a:pathLst>
          </a:custGeom>
          <a:blipFill>
            <a:blip r:embed="rId2"/>
            <a:stretch>
              <a:fillRect l="0" t="0" r="0" b="0"/>
            </a:stretch>
          </a:blipFill>
        </p:spPr>
      </p:sp>
      <p:sp>
        <p:nvSpPr>
          <p:cNvPr name="Freeform 3" id="3"/>
          <p:cNvSpPr/>
          <p:nvPr/>
        </p:nvSpPr>
        <p:spPr>
          <a:xfrm flipH="false" flipV="false" rot="0">
            <a:off x="3493371" y="3891509"/>
            <a:ext cx="11301259" cy="5650629"/>
          </a:xfrm>
          <a:custGeom>
            <a:avLst/>
            <a:gdLst/>
            <a:ahLst/>
            <a:cxnLst/>
            <a:rect r="r" b="b" t="t" l="l"/>
            <a:pathLst>
              <a:path h="5650629" w="11301259">
                <a:moveTo>
                  <a:pt x="0" y="0"/>
                </a:moveTo>
                <a:lnTo>
                  <a:pt x="11301258" y="0"/>
                </a:lnTo>
                <a:lnTo>
                  <a:pt x="11301258" y="5650630"/>
                </a:lnTo>
                <a:lnTo>
                  <a:pt x="0" y="5650630"/>
                </a:lnTo>
                <a:lnTo>
                  <a:pt x="0" y="0"/>
                </a:lnTo>
                <a:close/>
              </a:path>
            </a:pathLst>
          </a:custGeom>
          <a:blipFill>
            <a:blip r:embed="rId3"/>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812094" y="3518778"/>
            <a:ext cx="16663812" cy="3249443"/>
          </a:xfrm>
          <a:custGeom>
            <a:avLst/>
            <a:gdLst/>
            <a:ahLst/>
            <a:cxnLst/>
            <a:rect r="r" b="b" t="t" l="l"/>
            <a:pathLst>
              <a:path h="3249443" w="16663812">
                <a:moveTo>
                  <a:pt x="0" y="0"/>
                </a:moveTo>
                <a:lnTo>
                  <a:pt x="16663812" y="0"/>
                </a:lnTo>
                <a:lnTo>
                  <a:pt x="16663812" y="3249444"/>
                </a:lnTo>
                <a:lnTo>
                  <a:pt x="0" y="3249444"/>
                </a:lnTo>
                <a:lnTo>
                  <a:pt x="0" y="0"/>
                </a:lnTo>
                <a:close/>
              </a:path>
            </a:pathLst>
          </a:custGeom>
          <a:blipFill>
            <a:blip r:embed="rId2"/>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602246" y="2673988"/>
            <a:ext cx="13083507" cy="2469512"/>
          </a:xfrm>
          <a:custGeom>
            <a:avLst/>
            <a:gdLst/>
            <a:ahLst/>
            <a:cxnLst/>
            <a:rect r="r" b="b" t="t" l="l"/>
            <a:pathLst>
              <a:path h="2469512" w="13083507">
                <a:moveTo>
                  <a:pt x="0" y="0"/>
                </a:moveTo>
                <a:lnTo>
                  <a:pt x="13083508" y="0"/>
                </a:lnTo>
                <a:lnTo>
                  <a:pt x="13083508" y="2469512"/>
                </a:lnTo>
                <a:lnTo>
                  <a:pt x="0" y="2469512"/>
                </a:lnTo>
                <a:lnTo>
                  <a:pt x="0" y="0"/>
                </a:lnTo>
                <a:close/>
              </a:path>
            </a:pathLst>
          </a:custGeom>
          <a:blipFill>
            <a:blip r:embed="rId2"/>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650235" y="2675869"/>
            <a:ext cx="12987531" cy="2467631"/>
          </a:xfrm>
          <a:custGeom>
            <a:avLst/>
            <a:gdLst/>
            <a:ahLst/>
            <a:cxnLst/>
            <a:rect r="r" b="b" t="t" l="l"/>
            <a:pathLst>
              <a:path h="2467631" w="12987531">
                <a:moveTo>
                  <a:pt x="0" y="0"/>
                </a:moveTo>
                <a:lnTo>
                  <a:pt x="12987530" y="0"/>
                </a:lnTo>
                <a:lnTo>
                  <a:pt x="12987530" y="2467631"/>
                </a:lnTo>
                <a:lnTo>
                  <a:pt x="0" y="2467631"/>
                </a:lnTo>
                <a:lnTo>
                  <a:pt x="0" y="0"/>
                </a:lnTo>
                <a:close/>
              </a:path>
            </a:pathLst>
          </a:custGeom>
          <a:blipFill>
            <a:blip r:embed="rId2"/>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306839" y="2288985"/>
            <a:ext cx="13674321" cy="2854515"/>
          </a:xfrm>
          <a:custGeom>
            <a:avLst/>
            <a:gdLst/>
            <a:ahLst/>
            <a:cxnLst/>
            <a:rect r="r" b="b" t="t" l="l"/>
            <a:pathLst>
              <a:path h="2854515" w="13674321">
                <a:moveTo>
                  <a:pt x="0" y="0"/>
                </a:moveTo>
                <a:lnTo>
                  <a:pt x="13674322" y="0"/>
                </a:lnTo>
                <a:lnTo>
                  <a:pt x="13674322" y="2854515"/>
                </a:lnTo>
                <a:lnTo>
                  <a:pt x="0" y="2854515"/>
                </a:lnTo>
                <a:lnTo>
                  <a:pt x="0" y="0"/>
                </a:lnTo>
                <a:close/>
              </a:path>
            </a:pathLst>
          </a:custGeom>
          <a:blipFill>
            <a:blip r:embed="rId2"/>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407209" y="2634045"/>
            <a:ext cx="13473582" cy="2509455"/>
          </a:xfrm>
          <a:custGeom>
            <a:avLst/>
            <a:gdLst/>
            <a:ahLst/>
            <a:cxnLst/>
            <a:rect r="r" b="b" t="t" l="l"/>
            <a:pathLst>
              <a:path h="2509455" w="13473582">
                <a:moveTo>
                  <a:pt x="0" y="0"/>
                </a:moveTo>
                <a:lnTo>
                  <a:pt x="13473582" y="0"/>
                </a:lnTo>
                <a:lnTo>
                  <a:pt x="13473582" y="2509455"/>
                </a:lnTo>
                <a:lnTo>
                  <a:pt x="0" y="2509455"/>
                </a:lnTo>
                <a:lnTo>
                  <a:pt x="0" y="0"/>
                </a:lnTo>
                <a:close/>
              </a:path>
            </a:pathLst>
          </a:custGeom>
          <a:blipFill>
            <a:blip r:embed="rId2"/>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071531" y="2503899"/>
            <a:ext cx="14144939" cy="2639601"/>
          </a:xfrm>
          <a:custGeom>
            <a:avLst/>
            <a:gdLst/>
            <a:ahLst/>
            <a:cxnLst/>
            <a:rect r="r" b="b" t="t" l="l"/>
            <a:pathLst>
              <a:path h="2639601" w="14144939">
                <a:moveTo>
                  <a:pt x="0" y="0"/>
                </a:moveTo>
                <a:lnTo>
                  <a:pt x="14144938" y="0"/>
                </a:lnTo>
                <a:lnTo>
                  <a:pt x="14144938" y="2639601"/>
                </a:lnTo>
                <a:lnTo>
                  <a:pt x="0" y="2639601"/>
                </a:lnTo>
                <a:lnTo>
                  <a:pt x="0" y="0"/>
                </a:lnTo>
                <a:close/>
              </a:path>
            </a:pathLst>
          </a:custGeom>
          <a:blipFill>
            <a:blip r:embed="rId2"/>
            <a:stretch>
              <a:fillRect l="0" t="0" r="0" b="-1146"/>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562453" y="1352727"/>
            <a:ext cx="15163094" cy="7581547"/>
          </a:xfrm>
          <a:custGeom>
            <a:avLst/>
            <a:gdLst/>
            <a:ahLst/>
            <a:cxnLst/>
            <a:rect r="r" b="b" t="t" l="l"/>
            <a:pathLst>
              <a:path h="7581547" w="15163094">
                <a:moveTo>
                  <a:pt x="0" y="0"/>
                </a:moveTo>
                <a:lnTo>
                  <a:pt x="15163094" y="0"/>
                </a:lnTo>
                <a:lnTo>
                  <a:pt x="15163094" y="7581546"/>
                </a:lnTo>
                <a:lnTo>
                  <a:pt x="0" y="7581546"/>
                </a:lnTo>
                <a:lnTo>
                  <a:pt x="0" y="0"/>
                </a:lnTo>
                <a:close/>
              </a:path>
            </a:pathLst>
          </a:custGeom>
          <a:blipFill>
            <a:blip r:embed="rId2"/>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844444" y="1219989"/>
            <a:ext cx="14599111" cy="7847022"/>
          </a:xfrm>
          <a:custGeom>
            <a:avLst/>
            <a:gdLst/>
            <a:ahLst/>
            <a:cxnLst/>
            <a:rect r="r" b="b" t="t" l="l"/>
            <a:pathLst>
              <a:path h="7847022" w="14599111">
                <a:moveTo>
                  <a:pt x="0" y="0"/>
                </a:moveTo>
                <a:lnTo>
                  <a:pt x="14599112" y="0"/>
                </a:lnTo>
                <a:lnTo>
                  <a:pt x="14599112" y="7847022"/>
                </a:lnTo>
                <a:lnTo>
                  <a:pt x="0" y="7847022"/>
                </a:lnTo>
                <a:lnTo>
                  <a:pt x="0" y="0"/>
                </a:lnTo>
                <a:close/>
              </a:path>
            </a:pathLst>
          </a:custGeom>
          <a:blipFill>
            <a:blip r:embed="rId2"/>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469620" y="429404"/>
            <a:ext cx="13348759" cy="6757809"/>
          </a:xfrm>
          <a:custGeom>
            <a:avLst/>
            <a:gdLst/>
            <a:ahLst/>
            <a:cxnLst/>
            <a:rect r="r" b="b" t="t" l="l"/>
            <a:pathLst>
              <a:path h="6757809" w="13348759">
                <a:moveTo>
                  <a:pt x="0" y="0"/>
                </a:moveTo>
                <a:lnTo>
                  <a:pt x="13348760" y="0"/>
                </a:lnTo>
                <a:lnTo>
                  <a:pt x="13348760" y="6757809"/>
                </a:lnTo>
                <a:lnTo>
                  <a:pt x="0" y="6757809"/>
                </a:lnTo>
                <a:lnTo>
                  <a:pt x="0" y="0"/>
                </a:lnTo>
                <a:close/>
              </a:path>
            </a:pathLst>
          </a:custGeom>
          <a:blipFill>
            <a:blip r:embed="rId2"/>
            <a:stretch>
              <a:fillRect l="0" t="0" r="0" b="0"/>
            </a:stretch>
          </a:blipFill>
        </p:spPr>
      </p:sp>
      <p:sp>
        <p:nvSpPr>
          <p:cNvPr name="Freeform 3" id="3"/>
          <p:cNvSpPr/>
          <p:nvPr/>
        </p:nvSpPr>
        <p:spPr>
          <a:xfrm flipH="false" flipV="false" rot="0">
            <a:off x="2469620" y="7187213"/>
            <a:ext cx="13348759" cy="2502892"/>
          </a:xfrm>
          <a:custGeom>
            <a:avLst/>
            <a:gdLst/>
            <a:ahLst/>
            <a:cxnLst/>
            <a:rect r="r" b="b" t="t" l="l"/>
            <a:pathLst>
              <a:path h="2502892" w="13348759">
                <a:moveTo>
                  <a:pt x="0" y="0"/>
                </a:moveTo>
                <a:lnTo>
                  <a:pt x="13348760" y="0"/>
                </a:lnTo>
                <a:lnTo>
                  <a:pt x="13348760" y="2502892"/>
                </a:lnTo>
                <a:lnTo>
                  <a:pt x="0" y="2502892"/>
                </a:lnTo>
                <a:lnTo>
                  <a:pt x="0" y="0"/>
                </a:lnTo>
                <a:close/>
              </a:path>
            </a:pathLst>
          </a:custGeom>
          <a:blipFill>
            <a:blip r:embed="rId3"/>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grpSp>
        <p:nvGrpSpPr>
          <p:cNvPr name="Group 2" id="2"/>
          <p:cNvGrpSpPr/>
          <p:nvPr/>
        </p:nvGrpSpPr>
        <p:grpSpPr>
          <a:xfrm rot="0">
            <a:off x="1602652" y="393290"/>
            <a:ext cx="15082695" cy="7473253"/>
            <a:chOff x="0" y="0"/>
            <a:chExt cx="3972397" cy="1968264"/>
          </a:xfrm>
        </p:grpSpPr>
        <p:sp>
          <p:nvSpPr>
            <p:cNvPr name="Freeform 3" id="3"/>
            <p:cNvSpPr/>
            <p:nvPr/>
          </p:nvSpPr>
          <p:spPr>
            <a:xfrm flipH="false" flipV="false" rot="0">
              <a:off x="0" y="0"/>
              <a:ext cx="3972397" cy="1968264"/>
            </a:xfrm>
            <a:custGeom>
              <a:avLst/>
              <a:gdLst/>
              <a:ahLst/>
              <a:cxnLst/>
              <a:rect r="r" b="b" t="t" l="l"/>
              <a:pathLst>
                <a:path h="1968264" w="3972397">
                  <a:moveTo>
                    <a:pt x="8726" y="0"/>
                  </a:moveTo>
                  <a:lnTo>
                    <a:pt x="3963671" y="0"/>
                  </a:lnTo>
                  <a:cubicBezTo>
                    <a:pt x="3965985" y="0"/>
                    <a:pt x="3968205" y="919"/>
                    <a:pt x="3969841" y="2556"/>
                  </a:cubicBezTo>
                  <a:cubicBezTo>
                    <a:pt x="3971478" y="4192"/>
                    <a:pt x="3972397" y="6412"/>
                    <a:pt x="3972397" y="8726"/>
                  </a:cubicBezTo>
                  <a:lnTo>
                    <a:pt x="3972397" y="1959538"/>
                  </a:lnTo>
                  <a:cubicBezTo>
                    <a:pt x="3972397" y="1961853"/>
                    <a:pt x="3971478" y="1964072"/>
                    <a:pt x="3969841" y="1965709"/>
                  </a:cubicBezTo>
                  <a:cubicBezTo>
                    <a:pt x="3968205" y="1967345"/>
                    <a:pt x="3965985" y="1968264"/>
                    <a:pt x="3963671" y="1968264"/>
                  </a:cubicBezTo>
                  <a:lnTo>
                    <a:pt x="8726" y="1968264"/>
                  </a:lnTo>
                  <a:cubicBezTo>
                    <a:pt x="6412" y="1968264"/>
                    <a:pt x="4192" y="1967345"/>
                    <a:pt x="2556" y="1965709"/>
                  </a:cubicBezTo>
                  <a:cubicBezTo>
                    <a:pt x="919" y="1964072"/>
                    <a:pt x="0" y="1961853"/>
                    <a:pt x="0" y="1959538"/>
                  </a:cubicBezTo>
                  <a:lnTo>
                    <a:pt x="0" y="8726"/>
                  </a:lnTo>
                  <a:cubicBezTo>
                    <a:pt x="0" y="6412"/>
                    <a:pt x="919" y="4192"/>
                    <a:pt x="2556" y="2556"/>
                  </a:cubicBezTo>
                  <a:cubicBezTo>
                    <a:pt x="4192" y="919"/>
                    <a:pt x="6412" y="0"/>
                    <a:pt x="8726" y="0"/>
                  </a:cubicBezTo>
                  <a:close/>
                </a:path>
              </a:pathLst>
            </a:custGeom>
            <a:solidFill>
              <a:srgbClr val="F2F3F5"/>
            </a:solidFill>
          </p:spPr>
        </p:sp>
        <p:sp>
          <p:nvSpPr>
            <p:cNvPr name="TextBox 4" id="4"/>
            <p:cNvSpPr txBox="true"/>
            <p:nvPr/>
          </p:nvSpPr>
          <p:spPr>
            <a:xfrm>
              <a:off x="0" y="-38100"/>
              <a:ext cx="3972397" cy="200636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882523" y="2750185"/>
            <a:ext cx="1967704" cy="4578125"/>
          </a:xfrm>
          <a:custGeom>
            <a:avLst/>
            <a:gdLst/>
            <a:ahLst/>
            <a:cxnLst/>
            <a:rect r="r" b="b" t="t" l="l"/>
            <a:pathLst>
              <a:path h="4578125" w="1967704">
                <a:moveTo>
                  <a:pt x="0" y="0"/>
                </a:moveTo>
                <a:lnTo>
                  <a:pt x="1967703" y="0"/>
                </a:lnTo>
                <a:lnTo>
                  <a:pt x="1967703" y="4578125"/>
                </a:lnTo>
                <a:lnTo>
                  <a:pt x="0" y="4578125"/>
                </a:lnTo>
                <a:lnTo>
                  <a:pt x="0" y="0"/>
                </a:lnTo>
                <a:close/>
              </a:path>
            </a:pathLst>
          </a:custGeom>
          <a:blipFill>
            <a:blip r:embed="rId2"/>
            <a:stretch>
              <a:fillRect l="0" t="0" r="0" b="0"/>
            </a:stretch>
          </a:blipFill>
        </p:spPr>
      </p:sp>
      <p:sp>
        <p:nvSpPr>
          <p:cNvPr name="TextBox 6" id="6"/>
          <p:cNvSpPr txBox="true"/>
          <p:nvPr/>
        </p:nvSpPr>
        <p:spPr>
          <a:xfrm rot="0">
            <a:off x="1882523" y="678448"/>
            <a:ext cx="14522955" cy="1816735"/>
          </a:xfrm>
          <a:prstGeom prst="rect">
            <a:avLst/>
          </a:prstGeom>
        </p:spPr>
        <p:txBody>
          <a:bodyPr anchor="t" rtlCol="false" tIns="0" lIns="0" bIns="0" rIns="0">
            <a:spAutoFit/>
          </a:bodyPr>
          <a:lstStyle/>
          <a:p>
            <a:pPr algn="l">
              <a:lnSpc>
                <a:spcPts val="3919"/>
              </a:lnSpc>
              <a:spcBef>
                <a:spcPct val="0"/>
              </a:spcBef>
            </a:pPr>
            <a:r>
              <a:rPr lang="en-US" b="true" sz="2799">
                <a:solidFill>
                  <a:srgbClr val="E3BA20"/>
                </a:solidFill>
                <a:latin typeface="Montserrat Bold"/>
                <a:ea typeface="Montserrat Bold"/>
                <a:cs typeface="Montserrat Bold"/>
                <a:sym typeface="Montserrat Bold"/>
              </a:rPr>
              <a:t>Payment Options</a:t>
            </a:r>
          </a:p>
          <a:p>
            <a:pPr algn="l">
              <a:lnSpc>
                <a:spcPts val="2659"/>
              </a:lnSpc>
              <a:spcBef>
                <a:spcPct val="0"/>
              </a:spcBef>
            </a:pPr>
            <a:r>
              <a:rPr lang="en-US" sz="1899">
                <a:solidFill>
                  <a:srgbClr val="1D1D1D"/>
                </a:solidFill>
                <a:latin typeface="Montserrat"/>
                <a:ea typeface="Montserrat"/>
                <a:cs typeface="Montserrat"/>
                <a:sym typeface="Montserrat"/>
              </a:rPr>
              <a:t>We know payment processors usually take a fee for processing credit card payments, and this can be difficult for small business owners operating on thin margins. A sale of 97 percent is better than no sale at all. Hopefully, this section will give you the lay of the land for payment options and systems. Also, check with your banks! You maybe able to negotiate better credit card processing fees and/or monthly subscription rates.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339670" y="2421740"/>
            <a:ext cx="15608660" cy="5443520"/>
          </a:xfrm>
          <a:custGeom>
            <a:avLst/>
            <a:gdLst/>
            <a:ahLst/>
            <a:cxnLst/>
            <a:rect r="r" b="b" t="t" l="l"/>
            <a:pathLst>
              <a:path h="5443520" w="15608660">
                <a:moveTo>
                  <a:pt x="0" y="0"/>
                </a:moveTo>
                <a:lnTo>
                  <a:pt x="15608660" y="0"/>
                </a:lnTo>
                <a:lnTo>
                  <a:pt x="15608660" y="5443520"/>
                </a:lnTo>
                <a:lnTo>
                  <a:pt x="0" y="5443520"/>
                </a:lnTo>
                <a:lnTo>
                  <a:pt x="0" y="0"/>
                </a:lnTo>
                <a:close/>
              </a:path>
            </a:pathLst>
          </a:custGeom>
          <a:blipFill>
            <a:blip r:embed="rId2"/>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565597" y="2042659"/>
            <a:ext cx="15156806" cy="6384805"/>
          </a:xfrm>
          <a:custGeom>
            <a:avLst/>
            <a:gdLst/>
            <a:ahLst/>
            <a:cxnLst/>
            <a:rect r="r" b="b" t="t" l="l"/>
            <a:pathLst>
              <a:path h="6384805" w="15156806">
                <a:moveTo>
                  <a:pt x="0" y="0"/>
                </a:moveTo>
                <a:lnTo>
                  <a:pt x="15156806" y="0"/>
                </a:lnTo>
                <a:lnTo>
                  <a:pt x="15156806" y="6384805"/>
                </a:lnTo>
                <a:lnTo>
                  <a:pt x="0" y="6384805"/>
                </a:lnTo>
                <a:lnTo>
                  <a:pt x="0" y="0"/>
                </a:lnTo>
                <a:close/>
              </a:path>
            </a:pathLst>
          </a:custGeom>
          <a:blipFill>
            <a:blip r:embed="rId2"/>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5385609" y="2879913"/>
            <a:ext cx="7516782" cy="20726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Reality Check</a:t>
            </a:r>
          </a:p>
          <a:p>
            <a:pPr algn="ctr">
              <a:lnSpc>
                <a:spcPts val="3359"/>
              </a:lnSpc>
            </a:pPr>
            <a:r>
              <a:rPr lang="en-US" sz="2400" b="true">
                <a:solidFill>
                  <a:srgbClr val="FFFFFF"/>
                </a:solidFill>
                <a:latin typeface="Canva Sans Bold"/>
                <a:ea typeface="Canva Sans Bold"/>
                <a:cs typeface="Canva Sans Bold"/>
                <a:sym typeface="Canva Sans Bold"/>
              </a:rPr>
              <a:t>In your life, was there a time you realized you had to pivot? How did you know? What did you do? Did the pivot improve your life? Why or why not?</a:t>
            </a:r>
          </a:p>
          <a:p>
            <a:pPr algn="ctr">
              <a:lnSpc>
                <a:spcPts val="3359"/>
              </a:lnSpc>
            </a:pPr>
            <a:r>
              <a:rPr lang="en-US" sz="2400" b="true">
                <a:solidFill>
                  <a:srgbClr val="FFFFFF"/>
                </a:solidFill>
                <a:latin typeface="Canva Sans Bold"/>
                <a:ea typeface="Canva Sans Bold"/>
                <a:cs typeface="Canva Sans Bold"/>
                <a:sym typeface="Canva Sans Bold"/>
              </a:rPr>
              <a:t> </a:t>
            </a:r>
          </a:p>
        </p:txBody>
      </p:sp>
    </p:spTree>
  </p:cSld>
  <p:clrMapOvr>
    <a:masterClrMapping/>
  </p:clrMapOvr>
</p:sld>
</file>

<file path=ppt/slides/slide45.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3698824" y="2895041"/>
            <a:ext cx="10890352" cy="24917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What would you do differently if you had the opportunity to sell again to that difficult customer? How have your feelings about sales and marketing changed? What was the most impactful thing you learned?</a:t>
            </a:r>
          </a:p>
          <a:p>
            <a:pPr algn="ctr">
              <a:lnSpc>
                <a:spcPts val="3359"/>
              </a:lnSpc>
            </a:pPr>
            <a:r>
              <a:rPr lang="en-US" sz="2400" b="true">
                <a:solidFill>
                  <a:srgbClr val="FFFFFF"/>
                </a:solidFill>
                <a:latin typeface="Canva Sans Bold"/>
                <a:ea typeface="Canva Sans Bold"/>
                <a:cs typeface="Canva Sans Bold"/>
                <a:sym typeface="Canva Sans Bold"/>
              </a:rPr>
              <a:t>Submit your assignment</a:t>
            </a:r>
          </a:p>
          <a:p>
            <a:pPr algn="ctr">
              <a:lnSpc>
                <a:spcPts val="3359"/>
              </a:lnSpc>
            </a:pPr>
            <a:r>
              <a:rPr lang="en-US" sz="2400" b="true">
                <a:solidFill>
                  <a:srgbClr val="FFFFFF"/>
                </a:solidFill>
                <a:latin typeface="Canva Sans Bold"/>
                <a:ea typeface="Canva Sans Bold"/>
                <a:cs typeface="Canva Sans Bold"/>
                <a:sym typeface="Canva Sans Bold"/>
              </a:rPr>
              <a:t>You may only submit one file with maximum 100 MB in size</a:t>
            </a:r>
          </a:p>
          <a:p>
            <a:pPr algn="ctr">
              <a:lnSpc>
                <a:spcPts val="3359"/>
              </a:lnSpc>
            </a:pPr>
          </a:p>
        </p:txBody>
      </p:sp>
    </p:spTree>
  </p:cSld>
  <p:clrMapOvr>
    <a:masterClrMapping/>
  </p:clrMapOvr>
</p:sld>
</file>

<file path=ppt/slides/slide46.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3698824" y="2895041"/>
            <a:ext cx="10890352" cy="58445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In lesson 6, we had you start crafting your 100-word pitch.</a:t>
            </a:r>
          </a:p>
          <a:p>
            <a:pPr algn="ctr">
              <a:lnSpc>
                <a:spcPts val="3359"/>
              </a:lnSpc>
            </a:pPr>
          </a:p>
          <a:p>
            <a:pPr algn="ctr">
              <a:lnSpc>
                <a:spcPts val="3359"/>
              </a:lnSpc>
            </a:pPr>
            <a:r>
              <a:rPr lang="en-US" sz="2400" b="true">
                <a:solidFill>
                  <a:srgbClr val="FFFFFF"/>
                </a:solidFill>
                <a:latin typeface="Canva Sans Bold"/>
                <a:ea typeface="Canva Sans Bold"/>
                <a:cs typeface="Canva Sans Bold"/>
                <a:sym typeface="Canva Sans Bold"/>
              </a:rPr>
              <a:t>In this lesson, we’re going to turn that message into an elevator pitch. An elevator pitch is exactly what it sounds like: you step into an elevator, and Mark Cuban from the TV show Shark Tank happens to be there. What would you tell him in 60 seconds that might convince him to invest? This elevator pitch should be around 100 words, give or take a few. Practice your elevator pitch in front of the mirror five times a day. Then, pick five people and practice your elevator pitch on them. Write down their feedback</a:t>
            </a:r>
          </a:p>
          <a:p>
            <a:pPr algn="ctr">
              <a:lnSpc>
                <a:spcPts val="3359"/>
              </a:lnSpc>
            </a:pPr>
            <a:r>
              <a:rPr lang="en-US" sz="2400" b="true">
                <a:solidFill>
                  <a:srgbClr val="FFFFFF"/>
                </a:solidFill>
                <a:latin typeface="Canva Sans Bold"/>
                <a:ea typeface="Canva Sans Bold"/>
                <a:cs typeface="Canva Sans Bold"/>
                <a:sym typeface="Canva Sans Bold"/>
              </a:rPr>
              <a:t>Submit your assignment</a:t>
            </a:r>
          </a:p>
          <a:p>
            <a:pPr algn="ctr">
              <a:lnSpc>
                <a:spcPts val="3359"/>
              </a:lnSpc>
            </a:pPr>
            <a:r>
              <a:rPr lang="en-US" sz="2400" b="true">
                <a:solidFill>
                  <a:srgbClr val="FFFFFF"/>
                </a:solidFill>
                <a:latin typeface="Canva Sans Bold"/>
                <a:ea typeface="Canva Sans Bold"/>
                <a:cs typeface="Canva Sans Bold"/>
                <a:sym typeface="Canva Sans Bold"/>
              </a:rPr>
              <a:t>You may only submit one file with maximum 100 MB in size</a:t>
            </a:r>
          </a:p>
          <a:p>
            <a:pPr algn="ctr">
              <a:lnSpc>
                <a:spcPts val="3359"/>
              </a:lnSpc>
            </a:pPr>
          </a:p>
          <a:p>
            <a:pPr algn="ctr">
              <a:lnSpc>
                <a:spcPts val="3359"/>
              </a:lnSpc>
            </a:pPr>
          </a:p>
        </p:txBody>
      </p:sp>
    </p:spTree>
  </p:cSld>
  <p:clrMapOvr>
    <a:masterClrMapping/>
  </p:clrMapOvr>
</p:sld>
</file>

<file path=ppt/slides/slide47.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3698824" y="2895041"/>
            <a:ext cx="10890352" cy="37490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Build an example, model, or simulation of one of the products or services you offer.</a:t>
            </a:r>
          </a:p>
          <a:p>
            <a:pPr algn="ctr">
              <a:lnSpc>
                <a:spcPts val="3359"/>
              </a:lnSpc>
            </a:pPr>
          </a:p>
          <a:p>
            <a:pPr algn="ctr">
              <a:lnSpc>
                <a:spcPts val="3359"/>
              </a:lnSpc>
            </a:pPr>
            <a:r>
              <a:rPr lang="en-US" sz="2400" b="true">
                <a:solidFill>
                  <a:srgbClr val="FFFFFF"/>
                </a:solidFill>
                <a:latin typeface="Canva Sans Bold"/>
                <a:ea typeface="Canva Sans Bold"/>
                <a:cs typeface="Canva Sans Bold"/>
                <a:sym typeface="Canva Sans Bold"/>
              </a:rPr>
              <a:t>Share it with five to ten people outside of your immediate family and close friends and get feedback. What do they like about it? What questions do they have?</a:t>
            </a:r>
          </a:p>
          <a:p>
            <a:pPr algn="ctr">
              <a:lnSpc>
                <a:spcPts val="3359"/>
              </a:lnSpc>
            </a:pPr>
            <a:r>
              <a:rPr lang="en-US" sz="2400" b="true">
                <a:solidFill>
                  <a:srgbClr val="FFFFFF"/>
                </a:solidFill>
                <a:latin typeface="Canva Sans Bold"/>
                <a:ea typeface="Canva Sans Bold"/>
                <a:cs typeface="Canva Sans Bold"/>
                <a:sym typeface="Canva Sans Bold"/>
              </a:rPr>
              <a:t>Submit your assignment</a:t>
            </a:r>
          </a:p>
          <a:p>
            <a:pPr algn="ctr">
              <a:lnSpc>
                <a:spcPts val="3359"/>
              </a:lnSpc>
            </a:pPr>
            <a:r>
              <a:rPr lang="en-US" sz="2400" b="true">
                <a:solidFill>
                  <a:srgbClr val="FFFFFF"/>
                </a:solidFill>
                <a:latin typeface="Canva Sans Bold"/>
                <a:ea typeface="Canva Sans Bold"/>
                <a:cs typeface="Canva Sans Bold"/>
                <a:sym typeface="Canva Sans Bold"/>
              </a:rPr>
              <a:t>You may only submit one file with maximum 100 MB in size</a:t>
            </a:r>
          </a:p>
          <a:p>
            <a:pPr algn="ctr">
              <a:lnSpc>
                <a:spcPts val="3359"/>
              </a:lnSpc>
            </a:pPr>
          </a:p>
        </p:txBody>
      </p:sp>
    </p:spTree>
  </p:cSld>
  <p:clrMapOvr>
    <a:masterClrMapping/>
  </p:clrMapOvr>
</p:sld>
</file>

<file path=ppt/slides/slide48.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3698824" y="2895041"/>
            <a:ext cx="10890352" cy="41681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Business concepts are duplicated day in and day out; that’s why we have many kinds of restaurants, law firms, tech companies, etc.</a:t>
            </a:r>
          </a:p>
          <a:p>
            <a:pPr algn="ctr">
              <a:lnSpc>
                <a:spcPts val="3359"/>
              </a:lnSpc>
            </a:pPr>
          </a:p>
          <a:p>
            <a:pPr algn="ctr">
              <a:lnSpc>
                <a:spcPts val="3359"/>
              </a:lnSpc>
            </a:pPr>
            <a:r>
              <a:rPr lang="en-US" sz="2400" b="true">
                <a:solidFill>
                  <a:srgbClr val="FFFFFF"/>
                </a:solidFill>
                <a:latin typeface="Canva Sans Bold"/>
                <a:ea typeface="Canva Sans Bold"/>
                <a:cs typeface="Canva Sans Bold"/>
                <a:sym typeface="Canva Sans Bold"/>
              </a:rPr>
              <a:t>What helps a business be sustainable is knowing how to separate themselves from their competition. We will go into this next lesson. To prepare for that, write down 5 of your current competitors and 5 of your future competitors.</a:t>
            </a:r>
          </a:p>
          <a:p>
            <a:pPr algn="ctr">
              <a:lnSpc>
                <a:spcPts val="3359"/>
              </a:lnSpc>
            </a:pPr>
            <a:r>
              <a:rPr lang="en-US" sz="2400" b="true">
                <a:solidFill>
                  <a:srgbClr val="FFFFFF"/>
                </a:solidFill>
                <a:latin typeface="Canva Sans Bold"/>
                <a:ea typeface="Canva Sans Bold"/>
                <a:cs typeface="Canva Sans Bold"/>
                <a:sym typeface="Canva Sans Bold"/>
              </a:rPr>
              <a:t>Submit your assignment</a:t>
            </a:r>
          </a:p>
          <a:p>
            <a:pPr algn="ctr">
              <a:lnSpc>
                <a:spcPts val="3359"/>
              </a:lnSpc>
            </a:pPr>
            <a:r>
              <a:rPr lang="en-US" sz="2400" b="true">
                <a:solidFill>
                  <a:srgbClr val="FFFFFF"/>
                </a:solidFill>
                <a:latin typeface="Canva Sans Bold"/>
                <a:ea typeface="Canva Sans Bold"/>
                <a:cs typeface="Canva Sans Bold"/>
                <a:sym typeface="Canva Sans Bold"/>
              </a:rPr>
              <a:t>You may only submit one file with maximum 100 MB in size</a:t>
            </a:r>
          </a:p>
          <a:p>
            <a:pPr algn="ctr">
              <a:lnSpc>
                <a:spcPts val="3359"/>
              </a:lnSpc>
            </a:pP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120415" y="3358252"/>
            <a:ext cx="16047169" cy="3570495"/>
          </a:xfrm>
          <a:custGeom>
            <a:avLst/>
            <a:gdLst/>
            <a:ahLst/>
            <a:cxnLst/>
            <a:rect r="r" b="b" t="t" l="l"/>
            <a:pathLst>
              <a:path h="3570495" w="16047169">
                <a:moveTo>
                  <a:pt x="0" y="0"/>
                </a:moveTo>
                <a:lnTo>
                  <a:pt x="16047170" y="0"/>
                </a:lnTo>
                <a:lnTo>
                  <a:pt x="16047170" y="3570496"/>
                </a:lnTo>
                <a:lnTo>
                  <a:pt x="0" y="3570496"/>
                </a:lnTo>
                <a:lnTo>
                  <a:pt x="0" y="0"/>
                </a:lnTo>
                <a:close/>
              </a:path>
            </a:pathLst>
          </a:custGeom>
          <a:blipFill>
            <a:blip r:embed="rId2"/>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3698824" y="2895041"/>
            <a:ext cx="10890352" cy="29108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Go to your business canvas and answer the corresponding questions on sticky notes in the Sales and Distribution section. Once you’ve done that, type out a paragraph of those responses in your Business Synopsis.</a:t>
            </a:r>
          </a:p>
          <a:p>
            <a:pPr algn="ctr">
              <a:lnSpc>
                <a:spcPts val="3359"/>
              </a:lnSpc>
            </a:pPr>
            <a:r>
              <a:rPr lang="en-US" sz="2400" b="true">
                <a:solidFill>
                  <a:srgbClr val="FFFFFF"/>
                </a:solidFill>
                <a:latin typeface="Canva Sans Bold"/>
                <a:ea typeface="Canva Sans Bold"/>
                <a:cs typeface="Canva Sans Bold"/>
                <a:sym typeface="Canva Sans Bold"/>
              </a:rPr>
              <a:t>Submit your assignment</a:t>
            </a:r>
          </a:p>
          <a:p>
            <a:pPr algn="ctr">
              <a:lnSpc>
                <a:spcPts val="3359"/>
              </a:lnSpc>
            </a:pPr>
            <a:r>
              <a:rPr lang="en-US" sz="2400" b="true">
                <a:solidFill>
                  <a:srgbClr val="FFFFFF"/>
                </a:solidFill>
                <a:latin typeface="Canva Sans Bold"/>
                <a:ea typeface="Canva Sans Bold"/>
                <a:cs typeface="Canva Sans Bold"/>
                <a:sym typeface="Canva Sans Bold"/>
              </a:rPr>
              <a:t>You may only submit one file with maximum 100 MB in size</a:t>
            </a:r>
          </a:p>
          <a:p>
            <a:pPr algn="ctr">
              <a:lnSpc>
                <a:spcPts val="3359"/>
              </a:lnSpc>
            </a:pP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5221237" y="240047"/>
            <a:ext cx="7845525" cy="9806906"/>
          </a:xfrm>
          <a:custGeom>
            <a:avLst/>
            <a:gdLst/>
            <a:ahLst/>
            <a:cxnLst/>
            <a:rect r="r" b="b" t="t" l="l"/>
            <a:pathLst>
              <a:path h="9806906" w="7845525">
                <a:moveTo>
                  <a:pt x="0" y="0"/>
                </a:moveTo>
                <a:lnTo>
                  <a:pt x="7845526" y="0"/>
                </a:lnTo>
                <a:lnTo>
                  <a:pt x="7845526" y="9806906"/>
                </a:lnTo>
                <a:lnTo>
                  <a:pt x="0" y="9806906"/>
                </a:lnTo>
                <a:lnTo>
                  <a:pt x="0" y="0"/>
                </a:lnTo>
                <a:close/>
              </a:path>
            </a:pathLst>
          </a:custGeom>
          <a:blipFill>
            <a:blip r:embed="rId2"/>
            <a:stretch>
              <a:fillRect l="0" t="0" r="0" b="0"/>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317168" y="4145579"/>
            <a:ext cx="15653663" cy="1995842"/>
          </a:xfrm>
          <a:custGeom>
            <a:avLst/>
            <a:gdLst/>
            <a:ahLst/>
            <a:cxnLst/>
            <a:rect r="r" b="b" t="t" l="l"/>
            <a:pathLst>
              <a:path h="1995842" w="15653663">
                <a:moveTo>
                  <a:pt x="0" y="0"/>
                </a:moveTo>
                <a:lnTo>
                  <a:pt x="15653664" y="0"/>
                </a:lnTo>
                <a:lnTo>
                  <a:pt x="15653664" y="1995842"/>
                </a:lnTo>
                <a:lnTo>
                  <a:pt x="0" y="1995842"/>
                </a:lnTo>
                <a:lnTo>
                  <a:pt x="0" y="0"/>
                </a:lnTo>
                <a:close/>
              </a:path>
            </a:pathLst>
          </a:custGeom>
          <a:blipFill>
            <a:blip r:embed="rId2"/>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590418" y="2006504"/>
            <a:ext cx="4535700" cy="2922270"/>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Montserrat"/>
                <a:ea typeface="Montserrat"/>
                <a:cs typeface="Montserrat"/>
                <a:sym typeface="Montserrat"/>
              </a:rPr>
              <a:t>Question 1 of 7</a:t>
            </a:r>
          </a:p>
          <a:p>
            <a:pPr algn="ctr">
              <a:lnSpc>
                <a:spcPts val="1679"/>
              </a:lnSpc>
              <a:spcBef>
                <a:spcPct val="0"/>
              </a:spcBef>
            </a:pPr>
            <a:r>
              <a:rPr lang="en-US" sz="1200">
                <a:solidFill>
                  <a:srgbClr val="FFFFFF"/>
                </a:solidFill>
                <a:latin typeface="Montserrat"/>
                <a:ea typeface="Montserrat"/>
                <a:cs typeface="Montserrat"/>
                <a:sym typeface="Montserrat"/>
              </a:rPr>
              <a:t>Approximately what percentage of revenue should small businesses be spending on sales and marketing, according to some business leaders?</a:t>
            </a:r>
          </a:p>
          <a:p>
            <a:pPr algn="ctr">
              <a:lnSpc>
                <a:spcPts val="1679"/>
              </a:lnSpc>
              <a:spcBef>
                <a:spcPct val="0"/>
              </a:spcBef>
            </a:pPr>
            <a:r>
              <a:rPr lang="en-US" sz="1200">
                <a:solidFill>
                  <a:srgbClr val="FFFFFF"/>
                </a:solidFill>
                <a:latin typeface="Montserrat"/>
                <a:ea typeface="Montserrat"/>
                <a:cs typeface="Montserrat"/>
                <a:sym typeface="Montserrat"/>
              </a:rPr>
              <a:t>Choose only ONE best answer.</a:t>
            </a:r>
          </a:p>
          <a:p>
            <a:pPr algn="ctr">
              <a:lnSpc>
                <a:spcPts val="1679"/>
              </a:lnSpc>
              <a:spcBef>
                <a:spcPct val="0"/>
              </a:spcBef>
            </a:pPr>
            <a:r>
              <a:rPr lang="en-US" sz="1200">
                <a:solidFill>
                  <a:srgbClr val="FFFFFF"/>
                </a:solidFill>
                <a:latin typeface="Montserrat"/>
                <a:ea typeface="Montserrat"/>
                <a:cs typeface="Montserrat"/>
                <a:sym typeface="Montserrat"/>
              </a:rPr>
              <a:t>A</a:t>
            </a:r>
          </a:p>
          <a:p>
            <a:pPr algn="ctr">
              <a:lnSpc>
                <a:spcPts val="1679"/>
              </a:lnSpc>
              <a:spcBef>
                <a:spcPct val="0"/>
              </a:spcBef>
            </a:pPr>
            <a:r>
              <a:rPr lang="en-US" sz="1200">
                <a:solidFill>
                  <a:srgbClr val="FFFFFF"/>
                </a:solidFill>
                <a:latin typeface="Montserrat"/>
                <a:ea typeface="Montserrat"/>
                <a:cs typeface="Montserrat"/>
                <a:sym typeface="Montserrat"/>
              </a:rPr>
              <a:t>2</a:t>
            </a:r>
          </a:p>
          <a:p>
            <a:pPr algn="ctr">
              <a:lnSpc>
                <a:spcPts val="1679"/>
              </a:lnSpc>
              <a:spcBef>
                <a:spcPct val="0"/>
              </a:spcBef>
            </a:pPr>
            <a:r>
              <a:rPr lang="en-US" sz="1200">
                <a:solidFill>
                  <a:srgbClr val="FFFFFF"/>
                </a:solidFill>
                <a:latin typeface="Montserrat"/>
                <a:ea typeface="Montserrat"/>
                <a:cs typeface="Montserrat"/>
                <a:sym typeface="Montserrat"/>
              </a:rPr>
              <a:t>B</a:t>
            </a:r>
          </a:p>
          <a:p>
            <a:pPr algn="ctr">
              <a:lnSpc>
                <a:spcPts val="1679"/>
              </a:lnSpc>
              <a:spcBef>
                <a:spcPct val="0"/>
              </a:spcBef>
            </a:pPr>
            <a:r>
              <a:rPr lang="en-US" sz="1200">
                <a:solidFill>
                  <a:srgbClr val="FFFFFF"/>
                </a:solidFill>
                <a:latin typeface="Montserrat"/>
                <a:ea typeface="Montserrat"/>
                <a:cs typeface="Montserrat"/>
                <a:sym typeface="Montserrat"/>
              </a:rPr>
              <a:t>3</a:t>
            </a:r>
          </a:p>
          <a:p>
            <a:pPr algn="ctr">
              <a:lnSpc>
                <a:spcPts val="1679"/>
              </a:lnSpc>
              <a:spcBef>
                <a:spcPct val="0"/>
              </a:spcBef>
            </a:pPr>
            <a:r>
              <a:rPr lang="en-US" sz="1200">
                <a:solidFill>
                  <a:srgbClr val="FFFFFF"/>
                </a:solidFill>
                <a:latin typeface="Montserrat"/>
                <a:ea typeface="Montserrat"/>
                <a:cs typeface="Montserrat"/>
                <a:sym typeface="Montserrat"/>
              </a:rPr>
              <a:t>C</a:t>
            </a:r>
          </a:p>
          <a:p>
            <a:pPr algn="ctr">
              <a:lnSpc>
                <a:spcPts val="1679"/>
              </a:lnSpc>
              <a:spcBef>
                <a:spcPct val="0"/>
              </a:spcBef>
            </a:pPr>
            <a:r>
              <a:rPr lang="en-US" sz="1200">
                <a:solidFill>
                  <a:srgbClr val="FFFFFF"/>
                </a:solidFill>
                <a:latin typeface="Montserrat"/>
                <a:ea typeface="Montserrat"/>
                <a:cs typeface="Montserrat"/>
                <a:sym typeface="Montserrat"/>
              </a:rPr>
              <a:t>10</a:t>
            </a:r>
          </a:p>
          <a:p>
            <a:pPr algn="ctr">
              <a:lnSpc>
                <a:spcPts val="1679"/>
              </a:lnSpc>
              <a:spcBef>
                <a:spcPct val="0"/>
              </a:spcBef>
            </a:pPr>
            <a:r>
              <a:rPr lang="en-US" sz="1200">
                <a:solidFill>
                  <a:srgbClr val="FFFFFF"/>
                </a:solidFill>
                <a:latin typeface="Montserrat"/>
                <a:ea typeface="Montserrat"/>
                <a:cs typeface="Montserrat"/>
                <a:sym typeface="Montserrat"/>
              </a:rPr>
              <a:t>D</a:t>
            </a:r>
          </a:p>
          <a:p>
            <a:pPr algn="ctr">
              <a:lnSpc>
                <a:spcPts val="1679"/>
              </a:lnSpc>
              <a:spcBef>
                <a:spcPct val="0"/>
              </a:spcBef>
            </a:pPr>
            <a:r>
              <a:rPr lang="en-US" sz="1200">
                <a:solidFill>
                  <a:srgbClr val="FFFFFF"/>
                </a:solidFill>
                <a:latin typeface="Montserrat"/>
                <a:ea typeface="Montserrat"/>
                <a:cs typeface="Montserrat"/>
                <a:sym typeface="Montserrat"/>
              </a:rPr>
              <a:t>20</a:t>
            </a:r>
          </a:p>
          <a:p>
            <a:pPr algn="ctr">
              <a:lnSpc>
                <a:spcPts val="1679"/>
              </a:lnSpc>
              <a:spcBef>
                <a:spcPct val="0"/>
              </a:spcBef>
            </a:pPr>
            <a:r>
              <a:rPr lang="en-US" sz="1200">
                <a:solidFill>
                  <a:srgbClr val="FFFFFF"/>
                </a:solidFill>
                <a:latin typeface="Montserrat"/>
                <a:ea typeface="Montserrat"/>
                <a:cs typeface="Montserrat"/>
                <a:sym typeface="Montserrat"/>
              </a:rPr>
              <a:t>This answer is correct. - 10 is the correct answer</a:t>
            </a:r>
          </a:p>
        </p:txBody>
      </p:sp>
      <p:sp>
        <p:nvSpPr>
          <p:cNvPr name="TextBox 3" id="3"/>
          <p:cNvSpPr txBox="true"/>
          <p:nvPr/>
        </p:nvSpPr>
        <p:spPr>
          <a:xfrm rot="0">
            <a:off x="897450" y="5509496"/>
            <a:ext cx="3921636" cy="1874520"/>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Montserrat"/>
                <a:ea typeface="Montserrat"/>
                <a:cs typeface="Montserrat"/>
                <a:sym typeface="Montserrat"/>
              </a:rPr>
              <a:t>Businesses want to know how your product or service will help them make more money, whereas customers want to know how your product or service will improve their lives.</a:t>
            </a:r>
          </a:p>
          <a:p>
            <a:pPr algn="ctr">
              <a:lnSpc>
                <a:spcPts val="1679"/>
              </a:lnSpc>
              <a:spcBef>
                <a:spcPct val="0"/>
              </a:spcBef>
            </a:pPr>
            <a:r>
              <a:rPr lang="en-US" sz="1200">
                <a:solidFill>
                  <a:srgbClr val="FFFFFF"/>
                </a:solidFill>
                <a:latin typeface="Montserrat"/>
                <a:ea typeface="Montserrat"/>
                <a:cs typeface="Montserrat"/>
                <a:sym typeface="Montserrat"/>
              </a:rPr>
              <a:t>Choose only ONE best answer.</a:t>
            </a:r>
          </a:p>
          <a:p>
            <a:pPr algn="ctr">
              <a:lnSpc>
                <a:spcPts val="1679"/>
              </a:lnSpc>
              <a:spcBef>
                <a:spcPct val="0"/>
              </a:spcBef>
            </a:pPr>
            <a:r>
              <a:rPr lang="en-US" sz="1200">
                <a:solidFill>
                  <a:srgbClr val="FFFFFF"/>
                </a:solidFill>
                <a:latin typeface="Montserrat"/>
                <a:ea typeface="Montserrat"/>
                <a:cs typeface="Montserrat"/>
                <a:sym typeface="Montserrat"/>
              </a:rPr>
              <a:t>A</a:t>
            </a:r>
          </a:p>
          <a:p>
            <a:pPr algn="ctr">
              <a:lnSpc>
                <a:spcPts val="1679"/>
              </a:lnSpc>
              <a:spcBef>
                <a:spcPct val="0"/>
              </a:spcBef>
            </a:pPr>
            <a:r>
              <a:rPr lang="en-US" sz="1200">
                <a:solidFill>
                  <a:srgbClr val="FFFFFF"/>
                </a:solidFill>
                <a:latin typeface="Montserrat"/>
                <a:ea typeface="Montserrat"/>
                <a:cs typeface="Montserrat"/>
                <a:sym typeface="Montserrat"/>
              </a:rPr>
              <a:t>TRUE - correct answer</a:t>
            </a:r>
          </a:p>
          <a:p>
            <a:pPr algn="ctr">
              <a:lnSpc>
                <a:spcPts val="1679"/>
              </a:lnSpc>
              <a:spcBef>
                <a:spcPct val="0"/>
              </a:spcBef>
            </a:pPr>
            <a:r>
              <a:rPr lang="en-US" sz="1200">
                <a:solidFill>
                  <a:srgbClr val="FFFFFF"/>
                </a:solidFill>
                <a:latin typeface="Montserrat"/>
                <a:ea typeface="Montserrat"/>
                <a:cs typeface="Montserrat"/>
                <a:sym typeface="Montserrat"/>
              </a:rPr>
              <a:t>B</a:t>
            </a:r>
          </a:p>
          <a:p>
            <a:pPr algn="ctr">
              <a:lnSpc>
                <a:spcPts val="1679"/>
              </a:lnSpc>
              <a:spcBef>
                <a:spcPct val="0"/>
              </a:spcBef>
            </a:pPr>
            <a:r>
              <a:rPr lang="en-US" sz="1200">
                <a:solidFill>
                  <a:srgbClr val="FFFFFF"/>
                </a:solidFill>
                <a:latin typeface="Montserrat"/>
                <a:ea typeface="Montserrat"/>
                <a:cs typeface="Montserrat"/>
                <a:sym typeface="Montserrat"/>
              </a:rPr>
              <a:t>FALSE</a:t>
            </a:r>
          </a:p>
        </p:txBody>
      </p:sp>
      <p:sp>
        <p:nvSpPr>
          <p:cNvPr name="TextBox 4" id="4"/>
          <p:cNvSpPr txBox="true"/>
          <p:nvPr/>
        </p:nvSpPr>
        <p:spPr>
          <a:xfrm rot="0">
            <a:off x="590418" y="7719322"/>
            <a:ext cx="4263777" cy="1664970"/>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Montserrat"/>
                <a:ea typeface="Montserrat"/>
                <a:cs typeface="Montserrat"/>
                <a:sym typeface="Montserrat"/>
              </a:rPr>
              <a:t>Attending trade shows, affinity marketing, and making cold calls are examples of what type of marketing?</a:t>
            </a:r>
          </a:p>
          <a:p>
            <a:pPr algn="ctr">
              <a:lnSpc>
                <a:spcPts val="1679"/>
              </a:lnSpc>
              <a:spcBef>
                <a:spcPct val="0"/>
              </a:spcBef>
            </a:pPr>
            <a:r>
              <a:rPr lang="en-US" sz="1200">
                <a:solidFill>
                  <a:srgbClr val="FFFFFF"/>
                </a:solidFill>
                <a:latin typeface="Montserrat"/>
                <a:ea typeface="Montserrat"/>
                <a:cs typeface="Montserrat"/>
                <a:sym typeface="Montserrat"/>
              </a:rPr>
              <a:t>Choose only ONE best answer.</a:t>
            </a:r>
          </a:p>
          <a:p>
            <a:pPr algn="ctr">
              <a:lnSpc>
                <a:spcPts val="1679"/>
              </a:lnSpc>
              <a:spcBef>
                <a:spcPct val="0"/>
              </a:spcBef>
            </a:pPr>
            <a:r>
              <a:rPr lang="en-US" sz="1200">
                <a:solidFill>
                  <a:srgbClr val="FFFFFF"/>
                </a:solidFill>
                <a:latin typeface="Montserrat"/>
                <a:ea typeface="Montserrat"/>
                <a:cs typeface="Montserrat"/>
                <a:sym typeface="Montserrat"/>
              </a:rPr>
              <a:t>A</a:t>
            </a:r>
          </a:p>
          <a:p>
            <a:pPr algn="ctr">
              <a:lnSpc>
                <a:spcPts val="1679"/>
              </a:lnSpc>
              <a:spcBef>
                <a:spcPct val="0"/>
              </a:spcBef>
            </a:pPr>
            <a:r>
              <a:rPr lang="en-US" sz="1200">
                <a:solidFill>
                  <a:srgbClr val="FFFFFF"/>
                </a:solidFill>
                <a:latin typeface="Montserrat"/>
                <a:ea typeface="Montserrat"/>
                <a:cs typeface="Montserrat"/>
                <a:sym typeface="Montserrat"/>
              </a:rPr>
              <a:t> Inbound</a:t>
            </a:r>
          </a:p>
          <a:p>
            <a:pPr algn="ctr">
              <a:lnSpc>
                <a:spcPts val="1679"/>
              </a:lnSpc>
              <a:spcBef>
                <a:spcPct val="0"/>
              </a:spcBef>
            </a:pPr>
            <a:r>
              <a:rPr lang="en-US" sz="1200">
                <a:solidFill>
                  <a:srgbClr val="FFFFFF"/>
                </a:solidFill>
                <a:latin typeface="Montserrat"/>
                <a:ea typeface="Montserrat"/>
                <a:cs typeface="Montserrat"/>
                <a:sym typeface="Montserrat"/>
              </a:rPr>
              <a:t>B</a:t>
            </a:r>
          </a:p>
          <a:p>
            <a:pPr algn="ctr">
              <a:lnSpc>
                <a:spcPts val="1679"/>
              </a:lnSpc>
              <a:spcBef>
                <a:spcPct val="0"/>
              </a:spcBef>
            </a:pPr>
            <a:r>
              <a:rPr lang="en-US" sz="1200">
                <a:solidFill>
                  <a:srgbClr val="FFFFFF"/>
                </a:solidFill>
                <a:latin typeface="Montserrat"/>
                <a:ea typeface="Montserrat"/>
                <a:cs typeface="Montserrat"/>
                <a:sym typeface="Montserrat"/>
              </a:rPr>
              <a:t>Outbound - correct</a:t>
            </a:r>
          </a:p>
          <a:p>
            <a:pPr algn="ctr">
              <a:lnSpc>
                <a:spcPts val="1679"/>
              </a:lnSpc>
              <a:spcBef>
                <a:spcPct val="0"/>
              </a:spcBef>
            </a:pPr>
            <a:r>
              <a:rPr lang="en-US" sz="1200">
                <a:solidFill>
                  <a:srgbClr val="FFFFFF"/>
                </a:solidFill>
                <a:latin typeface="Montserrat"/>
                <a:ea typeface="Montserrat"/>
                <a:cs typeface="Montserrat"/>
                <a:sym typeface="Montserrat"/>
              </a:rPr>
              <a:t>This answer is correct.</a:t>
            </a:r>
          </a:p>
        </p:txBody>
      </p:sp>
      <p:sp>
        <p:nvSpPr>
          <p:cNvPr name="TextBox 5" id="5"/>
          <p:cNvSpPr txBox="true"/>
          <p:nvPr/>
        </p:nvSpPr>
        <p:spPr>
          <a:xfrm rot="0">
            <a:off x="6202545" y="2006504"/>
            <a:ext cx="4370098" cy="1664970"/>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Montserrat"/>
                <a:ea typeface="Montserrat"/>
                <a:cs typeface="Montserrat"/>
                <a:sym typeface="Montserrat"/>
              </a:rPr>
              <a:t>Retargeting, social media marketing, and referral programs are examples of what type of marketing?</a:t>
            </a:r>
          </a:p>
          <a:p>
            <a:pPr algn="ctr">
              <a:lnSpc>
                <a:spcPts val="1679"/>
              </a:lnSpc>
              <a:spcBef>
                <a:spcPct val="0"/>
              </a:spcBef>
            </a:pPr>
            <a:r>
              <a:rPr lang="en-US" sz="1200">
                <a:solidFill>
                  <a:srgbClr val="FFFFFF"/>
                </a:solidFill>
                <a:latin typeface="Montserrat"/>
                <a:ea typeface="Montserrat"/>
                <a:cs typeface="Montserrat"/>
                <a:sym typeface="Montserrat"/>
              </a:rPr>
              <a:t>Choose only ONE best answer.</a:t>
            </a:r>
          </a:p>
          <a:p>
            <a:pPr algn="ctr">
              <a:lnSpc>
                <a:spcPts val="1679"/>
              </a:lnSpc>
              <a:spcBef>
                <a:spcPct val="0"/>
              </a:spcBef>
            </a:pPr>
            <a:r>
              <a:rPr lang="en-US" sz="1200">
                <a:solidFill>
                  <a:srgbClr val="FFFFFF"/>
                </a:solidFill>
                <a:latin typeface="Montserrat"/>
                <a:ea typeface="Montserrat"/>
                <a:cs typeface="Montserrat"/>
                <a:sym typeface="Montserrat"/>
              </a:rPr>
              <a:t>A</a:t>
            </a:r>
          </a:p>
          <a:p>
            <a:pPr algn="ctr">
              <a:lnSpc>
                <a:spcPts val="1679"/>
              </a:lnSpc>
              <a:spcBef>
                <a:spcPct val="0"/>
              </a:spcBef>
            </a:pPr>
            <a:r>
              <a:rPr lang="en-US" sz="1200">
                <a:solidFill>
                  <a:srgbClr val="FFFFFF"/>
                </a:solidFill>
                <a:latin typeface="Montserrat"/>
                <a:ea typeface="Montserrat"/>
                <a:cs typeface="Montserrat"/>
                <a:sym typeface="Montserrat"/>
              </a:rPr>
              <a:t>Inbound - correct</a:t>
            </a:r>
          </a:p>
          <a:p>
            <a:pPr algn="ctr">
              <a:lnSpc>
                <a:spcPts val="1679"/>
              </a:lnSpc>
              <a:spcBef>
                <a:spcPct val="0"/>
              </a:spcBef>
            </a:pPr>
            <a:r>
              <a:rPr lang="en-US" sz="1200">
                <a:solidFill>
                  <a:srgbClr val="FFFFFF"/>
                </a:solidFill>
                <a:latin typeface="Montserrat"/>
                <a:ea typeface="Montserrat"/>
                <a:cs typeface="Montserrat"/>
                <a:sym typeface="Montserrat"/>
              </a:rPr>
              <a:t>B</a:t>
            </a:r>
          </a:p>
          <a:p>
            <a:pPr algn="ctr">
              <a:lnSpc>
                <a:spcPts val="1679"/>
              </a:lnSpc>
              <a:spcBef>
                <a:spcPct val="0"/>
              </a:spcBef>
            </a:pPr>
            <a:r>
              <a:rPr lang="en-US" sz="1200">
                <a:solidFill>
                  <a:srgbClr val="FFFFFF"/>
                </a:solidFill>
                <a:latin typeface="Montserrat"/>
                <a:ea typeface="Montserrat"/>
                <a:cs typeface="Montserrat"/>
                <a:sym typeface="Montserrat"/>
              </a:rPr>
              <a:t>Outbound</a:t>
            </a:r>
          </a:p>
          <a:p>
            <a:pPr algn="ctr">
              <a:lnSpc>
                <a:spcPts val="1679"/>
              </a:lnSpc>
              <a:spcBef>
                <a:spcPct val="0"/>
              </a:spcBef>
            </a:pPr>
            <a:r>
              <a:rPr lang="en-US" sz="1200">
                <a:solidFill>
                  <a:srgbClr val="FFFFFF"/>
                </a:solidFill>
                <a:latin typeface="Montserrat"/>
                <a:ea typeface="Montserrat"/>
                <a:cs typeface="Montserrat"/>
                <a:sym typeface="Montserrat"/>
              </a:rPr>
              <a:t>This answer is correct.</a:t>
            </a:r>
          </a:p>
        </p:txBody>
      </p:sp>
      <p:sp>
        <p:nvSpPr>
          <p:cNvPr name="TextBox 6" id="6"/>
          <p:cNvSpPr txBox="true"/>
          <p:nvPr/>
        </p:nvSpPr>
        <p:spPr>
          <a:xfrm rot="0">
            <a:off x="5957268" y="4258349"/>
            <a:ext cx="4860652" cy="2712720"/>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Montserrat"/>
                <a:ea typeface="Montserrat"/>
                <a:cs typeface="Montserrat"/>
                <a:sym typeface="Montserrat"/>
              </a:rPr>
              <a:t>How do Jim Stahly and Donny Harper, panelists on The Studio, recommend that you keep loyal customers? Select all that apply.</a:t>
            </a:r>
          </a:p>
          <a:p>
            <a:pPr algn="ctr">
              <a:lnSpc>
                <a:spcPts val="1679"/>
              </a:lnSpc>
              <a:spcBef>
                <a:spcPct val="0"/>
              </a:spcBef>
            </a:pPr>
            <a:r>
              <a:rPr lang="en-US" sz="1200">
                <a:solidFill>
                  <a:srgbClr val="FFFFFF"/>
                </a:solidFill>
                <a:latin typeface="Montserrat"/>
                <a:ea typeface="Montserrat"/>
                <a:cs typeface="Montserrat"/>
                <a:sym typeface="Montserrat"/>
              </a:rPr>
              <a:t>Choose ALL answers that apply.</a:t>
            </a:r>
          </a:p>
          <a:p>
            <a:pPr algn="ctr">
              <a:lnSpc>
                <a:spcPts val="1679"/>
              </a:lnSpc>
              <a:spcBef>
                <a:spcPct val="0"/>
              </a:spcBef>
            </a:pPr>
            <a:r>
              <a:rPr lang="en-US" sz="1200">
                <a:solidFill>
                  <a:srgbClr val="FFFFFF"/>
                </a:solidFill>
                <a:latin typeface="Montserrat"/>
                <a:ea typeface="Montserrat"/>
                <a:cs typeface="Montserrat"/>
                <a:sym typeface="Montserrat"/>
              </a:rPr>
              <a:t>A</a:t>
            </a:r>
          </a:p>
          <a:p>
            <a:pPr algn="ctr">
              <a:lnSpc>
                <a:spcPts val="1679"/>
              </a:lnSpc>
              <a:spcBef>
                <a:spcPct val="0"/>
              </a:spcBef>
            </a:pPr>
            <a:r>
              <a:rPr lang="en-US" sz="1200">
                <a:solidFill>
                  <a:srgbClr val="FFFFFF"/>
                </a:solidFill>
                <a:latin typeface="Montserrat"/>
                <a:ea typeface="Montserrat"/>
                <a:cs typeface="Montserrat"/>
                <a:sym typeface="Montserrat"/>
              </a:rPr>
              <a:t>Keep it simple</a:t>
            </a:r>
          </a:p>
          <a:p>
            <a:pPr algn="ctr">
              <a:lnSpc>
                <a:spcPts val="1679"/>
              </a:lnSpc>
              <a:spcBef>
                <a:spcPct val="0"/>
              </a:spcBef>
            </a:pPr>
            <a:r>
              <a:rPr lang="en-US" sz="1200">
                <a:solidFill>
                  <a:srgbClr val="FFFFFF"/>
                </a:solidFill>
                <a:latin typeface="Montserrat"/>
                <a:ea typeface="Montserrat"/>
                <a:cs typeface="Montserrat"/>
                <a:sym typeface="Montserrat"/>
              </a:rPr>
              <a:t>B</a:t>
            </a:r>
          </a:p>
          <a:p>
            <a:pPr algn="ctr">
              <a:lnSpc>
                <a:spcPts val="1679"/>
              </a:lnSpc>
              <a:spcBef>
                <a:spcPct val="0"/>
              </a:spcBef>
            </a:pPr>
            <a:r>
              <a:rPr lang="en-US" sz="1200">
                <a:solidFill>
                  <a:srgbClr val="FFFFFF"/>
                </a:solidFill>
                <a:latin typeface="Montserrat"/>
                <a:ea typeface="Montserrat"/>
                <a:cs typeface="Montserrat"/>
                <a:sym typeface="Montserrat"/>
              </a:rPr>
              <a:t>Make a quality product</a:t>
            </a:r>
          </a:p>
          <a:p>
            <a:pPr algn="ctr">
              <a:lnSpc>
                <a:spcPts val="1679"/>
              </a:lnSpc>
              <a:spcBef>
                <a:spcPct val="0"/>
              </a:spcBef>
            </a:pPr>
            <a:r>
              <a:rPr lang="en-US" sz="1200">
                <a:solidFill>
                  <a:srgbClr val="FFFFFF"/>
                </a:solidFill>
                <a:latin typeface="Montserrat"/>
                <a:ea typeface="Montserrat"/>
                <a:cs typeface="Montserrat"/>
                <a:sym typeface="Montserrat"/>
              </a:rPr>
              <a:t>C</a:t>
            </a:r>
          </a:p>
          <a:p>
            <a:pPr algn="ctr">
              <a:lnSpc>
                <a:spcPts val="1679"/>
              </a:lnSpc>
              <a:spcBef>
                <a:spcPct val="0"/>
              </a:spcBef>
            </a:pPr>
            <a:r>
              <a:rPr lang="en-US" sz="1200">
                <a:solidFill>
                  <a:srgbClr val="FFFFFF"/>
                </a:solidFill>
                <a:latin typeface="Montserrat"/>
                <a:ea typeface="Montserrat"/>
                <a:cs typeface="Montserrat"/>
                <a:sym typeface="Montserrat"/>
              </a:rPr>
              <a:t>Deliver value to people’s life</a:t>
            </a:r>
          </a:p>
          <a:p>
            <a:pPr algn="ctr">
              <a:lnSpc>
                <a:spcPts val="1679"/>
              </a:lnSpc>
              <a:spcBef>
                <a:spcPct val="0"/>
              </a:spcBef>
            </a:pPr>
            <a:r>
              <a:rPr lang="en-US" sz="1200">
                <a:solidFill>
                  <a:srgbClr val="FFFFFF"/>
                </a:solidFill>
                <a:latin typeface="Montserrat"/>
                <a:ea typeface="Montserrat"/>
                <a:cs typeface="Montserrat"/>
                <a:sym typeface="Montserrat"/>
              </a:rPr>
              <a:t>D</a:t>
            </a:r>
          </a:p>
          <a:p>
            <a:pPr algn="ctr">
              <a:lnSpc>
                <a:spcPts val="1679"/>
              </a:lnSpc>
              <a:spcBef>
                <a:spcPct val="0"/>
              </a:spcBef>
            </a:pPr>
            <a:r>
              <a:rPr lang="en-US" sz="1200">
                <a:solidFill>
                  <a:srgbClr val="FFFFFF"/>
                </a:solidFill>
                <a:latin typeface="Montserrat"/>
                <a:ea typeface="Montserrat"/>
                <a:cs typeface="Montserrat"/>
                <a:sym typeface="Montserrat"/>
              </a:rPr>
              <a:t>Recognizing good customers that you already have through something like a rewards program - answer is all of the above</a:t>
            </a:r>
          </a:p>
        </p:txBody>
      </p:sp>
      <p:sp>
        <p:nvSpPr>
          <p:cNvPr name="TextBox 7" id="7"/>
          <p:cNvSpPr txBox="true"/>
          <p:nvPr/>
        </p:nvSpPr>
        <p:spPr>
          <a:xfrm rot="0">
            <a:off x="6678597" y="7364966"/>
            <a:ext cx="3417995" cy="2084070"/>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Montserrat"/>
                <a:ea typeface="Montserrat"/>
                <a:cs typeface="Montserrat"/>
                <a:sym typeface="Montserrat"/>
              </a:rPr>
              <a:t>What is one of the differences between an introvert and an extrovert?</a:t>
            </a:r>
          </a:p>
          <a:p>
            <a:pPr algn="ctr">
              <a:lnSpc>
                <a:spcPts val="1679"/>
              </a:lnSpc>
              <a:spcBef>
                <a:spcPct val="0"/>
              </a:spcBef>
            </a:pPr>
            <a:r>
              <a:rPr lang="en-US" sz="1200">
                <a:solidFill>
                  <a:srgbClr val="FFFFFF"/>
                </a:solidFill>
                <a:latin typeface="Montserrat"/>
                <a:ea typeface="Montserrat"/>
                <a:cs typeface="Montserrat"/>
                <a:sym typeface="Montserrat"/>
              </a:rPr>
              <a:t>Choose only ONE best answer.</a:t>
            </a:r>
          </a:p>
          <a:p>
            <a:pPr algn="ctr">
              <a:lnSpc>
                <a:spcPts val="1679"/>
              </a:lnSpc>
              <a:spcBef>
                <a:spcPct val="0"/>
              </a:spcBef>
            </a:pPr>
            <a:r>
              <a:rPr lang="en-US" sz="1200">
                <a:solidFill>
                  <a:srgbClr val="FFFFFF"/>
                </a:solidFill>
                <a:latin typeface="Montserrat"/>
                <a:ea typeface="Montserrat"/>
                <a:cs typeface="Montserrat"/>
                <a:sym typeface="Montserrat"/>
              </a:rPr>
              <a:t>A</a:t>
            </a:r>
          </a:p>
          <a:p>
            <a:pPr algn="ctr">
              <a:lnSpc>
                <a:spcPts val="1679"/>
              </a:lnSpc>
              <a:spcBef>
                <a:spcPct val="0"/>
              </a:spcBef>
            </a:pPr>
            <a:r>
              <a:rPr lang="en-US" sz="1200">
                <a:solidFill>
                  <a:srgbClr val="FFFFFF"/>
                </a:solidFill>
                <a:latin typeface="Montserrat"/>
                <a:ea typeface="Montserrat"/>
                <a:cs typeface="Montserrat"/>
                <a:sym typeface="Montserrat"/>
              </a:rPr>
              <a:t>Introverts don’t like being around people while extroverts like being around people</a:t>
            </a:r>
          </a:p>
          <a:p>
            <a:pPr algn="ctr">
              <a:lnSpc>
                <a:spcPts val="1679"/>
              </a:lnSpc>
              <a:spcBef>
                <a:spcPct val="0"/>
              </a:spcBef>
            </a:pPr>
            <a:r>
              <a:rPr lang="en-US" sz="1200">
                <a:solidFill>
                  <a:srgbClr val="FFFFFF"/>
                </a:solidFill>
                <a:latin typeface="Montserrat"/>
                <a:ea typeface="Montserrat"/>
                <a:cs typeface="Montserrat"/>
                <a:sym typeface="Montserrat"/>
              </a:rPr>
              <a:t>B</a:t>
            </a:r>
          </a:p>
          <a:p>
            <a:pPr algn="ctr">
              <a:lnSpc>
                <a:spcPts val="1679"/>
              </a:lnSpc>
              <a:spcBef>
                <a:spcPct val="0"/>
              </a:spcBef>
            </a:pPr>
            <a:r>
              <a:rPr lang="en-US" sz="1200">
                <a:solidFill>
                  <a:srgbClr val="FFFFFF"/>
                </a:solidFill>
                <a:latin typeface="Montserrat"/>
                <a:ea typeface="Montserrat"/>
                <a:cs typeface="Montserrat"/>
                <a:sym typeface="Montserrat"/>
              </a:rPr>
              <a:t>Introverts are energized by time alone while extroverts are energized by time with other people. - correct</a:t>
            </a:r>
          </a:p>
        </p:txBody>
      </p:sp>
      <p:sp>
        <p:nvSpPr>
          <p:cNvPr name="TextBox 8" id="8"/>
          <p:cNvSpPr txBox="true"/>
          <p:nvPr/>
        </p:nvSpPr>
        <p:spPr>
          <a:xfrm rot="0">
            <a:off x="7119132" y="49434"/>
            <a:ext cx="2536924"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Quiz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DAHK_P4XoOM</dc:identifier>
  <dcterms:modified xsi:type="dcterms:W3CDTF">2011-08-01T06:04:30Z</dcterms:modified>
  <cp:revision>1</cp:revision>
  <dc:title>lesson 7</dc:title>
</cp:coreProperties>
</file>