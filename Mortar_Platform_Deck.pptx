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8C7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mortar.os — booting the network</a:t>
            </a:r>
            <a:endParaRPr lang="en-US" sz="1200" dirty="0"/>
          </a:p>
        </p:txBody>
      </p:sp>
      <p:pic>
        <p:nvPicPr>
          <p:cNvPr id="3" name="Image 0" descr="assets/trowel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960120"/>
            <a:ext cx="871242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783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6D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MORTAR ECOSYSTEM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6384" y="214884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The Mortarverse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connected home for Cincinnati's founders — where they learn, grow, and build alongside the people who've been there. Powered by one platform that quietly handles the rest.</a:t>
            </a:r>
            <a:endParaRPr lang="en-US" sz="1550" dirty="0"/>
          </a:p>
        </p:txBody>
      </p:sp>
      <p:pic>
        <p:nvPicPr>
          <p:cNvPr id="7" name="Image 1" descr="assets/mort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715000"/>
            <a:ext cx="2286000" cy="6216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0" y="58338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6D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 BRIEFING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72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MORTARVERSE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9224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One system, three places to build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runs on one shared backend, so a founder's path never breaks. They learn in the Studio, the team runs it all from Mission Control, and they graduate into the Network — for good.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3456432" cy="3063240"/>
          </a:xfrm>
          <a:prstGeom prst="roundRect">
            <a:avLst>
              <a:gd name="adj" fmla="val 2985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651760"/>
            <a:ext cx="868680" cy="868680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384" y="2886304"/>
            <a:ext cx="399593" cy="3995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82112" y="2624328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D9BC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05840" y="363016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The Studio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411480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72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CURRICULUM · FOUNDERS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05840" y="4416552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the curriculum, earn certificates, and buy modules, tickets, and merch.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26280" y="2331720"/>
            <a:ext cx="3456432" cy="3063240"/>
          </a:xfrm>
          <a:prstGeom prst="roundRect">
            <a:avLst>
              <a:gd name="adj" fmla="val 2985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651760"/>
            <a:ext cx="868680" cy="868680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864" y="2886304"/>
            <a:ext cx="399593" cy="3995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22592" y="2624328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D9BC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846320" y="363016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Mission Control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846320" y="411480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72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COMMAND CENTER · STAFF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846320" y="4416552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courses, people, events, commerce, and moderation from one screen.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366760" y="2331720"/>
            <a:ext cx="3456432" cy="3063240"/>
          </a:xfrm>
          <a:prstGeom prst="roundRect">
            <a:avLst>
              <a:gd name="adj" fmla="val 2985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686800" y="2651760"/>
            <a:ext cx="868680" cy="868680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344" y="2886304"/>
            <a:ext cx="399593" cy="3995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863072" y="2624328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D9BC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686800" y="363016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The Network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686800" y="411480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72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ALUMNI APP · GRADUATES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686800" y="4416552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Match, hire, sell skills, and keep building together on iOS and Android.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8580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72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</a:t>
            </a:r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→   </a:t>
            </a:r>
            <a:pPr indent="0" marL="0">
              <a:buNone/>
            </a:pPr>
            <a:r>
              <a:rPr lang="en-US" sz="1200" b="1" dirty="0">
                <a:solidFill>
                  <a:srgbClr val="872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</a:t>
            </a:r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→   </a:t>
            </a:r>
            <a:pPr indent="0" marL="0">
              <a:buNone/>
            </a:pPr>
            <a:r>
              <a:rPr lang="en-US" sz="1200" b="1" dirty="0">
                <a:solidFill>
                  <a:srgbClr val="872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pPr indent="0" marL="0">
              <a:buNone/>
            </a:pPr>
            <a:r>
              <a:rPr lang="en-US" sz="12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one identity, one backend — Firebase · Stripe · Brevo</a:t>
            </a:r>
            <a:endParaRPr lang="en-US" sz="1200" dirty="0"/>
          </a:p>
        </p:txBody>
      </p:sp>
      <p:pic>
        <p:nvPicPr>
          <p:cNvPr id="27" name="Image 3" descr="assets/mortar_mar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00800"/>
            <a:ext cx="822960" cy="2238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6373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Mortarverse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1277295" y="63733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8C7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mortar.os — entering the studio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84080" y="47548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475720" y="3840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0180F"/>
          </a:solidFill>
          <a:ln w="19050">
            <a:solidFill>
              <a:srgbClr val="87200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365760"/>
            <a:ext cx="5029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351A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41248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E6D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· LEARN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4498848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The Studio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41248" y="5532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 founder walks in green and walks out with a credential.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720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STUDIO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Learn, build,</a:t>
            </a:r>
            <a:endParaRPr lang="en-US" sz="3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get certified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front door to Mortar. Founders move through a guided curriculum at their own pace — and leave with proof.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3794760"/>
            <a:ext cx="475488" cy="475488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3923142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3739896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guided journey with a clear next step, quizzes, and instant AI feedback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4727448"/>
            <a:ext cx="475488" cy="475488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82" y="485583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44168" y="4672584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Downloadable, shareable certificates that market Mortar for you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85800" y="5660136"/>
            <a:ext cx="475488" cy="475488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82" y="5788518"/>
            <a:ext cx="218724" cy="2187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44168" y="5605272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modules, event tickets, and merch through one simple checkout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989320" y="123444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EFE7D0"/>
          </a:solidFill>
          <a:ln w="15875">
            <a:solidFill>
              <a:srgbClr val="D9CDA8"/>
            </a:solidFill>
            <a:prstDash val="dash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190488" y="1435608"/>
            <a:ext cx="50840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4DAC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55080" y="1581912"/>
            <a:ext cx="91440" cy="91440"/>
          </a:xfrm>
          <a:prstGeom prst="ellipse">
            <a:avLst/>
          </a:prstGeom>
          <a:solidFill>
            <a:srgbClr val="D08C7A"/>
          </a:solidFill>
          <a:ln/>
        </p:spPr>
      </p:sp>
      <p:sp>
        <p:nvSpPr>
          <p:cNvPr id="17" name="Shape 12"/>
          <p:cNvSpPr/>
          <p:nvPr/>
        </p:nvSpPr>
        <p:spPr>
          <a:xfrm>
            <a:off x="6537960" y="1581912"/>
            <a:ext cx="91440" cy="91440"/>
          </a:xfrm>
          <a:prstGeom prst="ellipse">
            <a:avLst/>
          </a:prstGeom>
          <a:solidFill>
            <a:srgbClr val="E6C98A"/>
          </a:solidFill>
          <a:ln/>
        </p:spPr>
      </p:sp>
      <p:sp>
        <p:nvSpPr>
          <p:cNvPr id="18" name="Shape 13"/>
          <p:cNvSpPr/>
          <p:nvPr/>
        </p:nvSpPr>
        <p:spPr>
          <a:xfrm>
            <a:off x="6720840" y="1581912"/>
            <a:ext cx="91440" cy="91440"/>
          </a:xfrm>
          <a:prstGeom prst="ellipse">
            <a:avLst/>
          </a:prstGeom>
          <a:solidFill>
            <a:srgbClr val="A7C0A0"/>
          </a:solidFill>
          <a:ln/>
        </p:spPr>
      </p:sp>
      <p:sp>
        <p:nvSpPr>
          <p:cNvPr id="19" name="Text 14"/>
          <p:cNvSpPr/>
          <p:nvPr/>
        </p:nvSpPr>
        <p:spPr>
          <a:xfrm>
            <a:off x="7040880" y="14538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9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app.mortar.com/learn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343900" y="2903220"/>
            <a:ext cx="777240" cy="777240"/>
          </a:xfrm>
          <a:prstGeom prst="ellipse">
            <a:avLst/>
          </a:prstGeom>
          <a:solidFill>
            <a:srgbClr val="872001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755" y="3113075"/>
            <a:ext cx="357530" cy="3575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89320" y="37901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A5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· WEB</a:t>
            </a:r>
            <a:endParaRPr lang="en-US" sz="1000" dirty="0"/>
          </a:p>
        </p:txBody>
      </p:sp>
      <p:pic>
        <p:nvPicPr>
          <p:cNvPr id="23" name="Image 4" descr="assets/mortar_maro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00800"/>
            <a:ext cx="822960" cy="2238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6373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Mortarverse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11277295" y="63733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8C7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mortar.os — opening mission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84080" y="47548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475720" y="3840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0180F"/>
          </a:solidFill>
          <a:ln w="19050">
            <a:solidFill>
              <a:srgbClr val="87200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365760"/>
            <a:ext cx="5029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351A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41248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E6D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02 · RUN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4498848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Mission Control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41248" y="5532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that needs a human surfaces in one place. The rest runs itself.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123444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EFE7D0"/>
          </a:solidFill>
          <a:ln w="15875">
            <a:solidFill>
              <a:srgbClr val="D9CDA8"/>
            </a:solidFill>
            <a:prstDash val="dash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1435608"/>
            <a:ext cx="50840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4DA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" y="1581912"/>
            <a:ext cx="91440" cy="91440"/>
          </a:xfrm>
          <a:prstGeom prst="ellipse">
            <a:avLst/>
          </a:prstGeom>
          <a:solidFill>
            <a:srgbClr val="D08C7A"/>
          </a:solidFill>
          <a:ln/>
        </p:spPr>
      </p:sp>
      <p:sp>
        <p:nvSpPr>
          <p:cNvPr id="5" name="Shape 3"/>
          <p:cNvSpPr/>
          <p:nvPr/>
        </p:nvSpPr>
        <p:spPr>
          <a:xfrm>
            <a:off x="1261872" y="1581912"/>
            <a:ext cx="91440" cy="91440"/>
          </a:xfrm>
          <a:prstGeom prst="ellipse">
            <a:avLst/>
          </a:prstGeom>
          <a:solidFill>
            <a:srgbClr val="E6C98A"/>
          </a:solidFill>
          <a:ln/>
        </p:spPr>
      </p:sp>
      <p:sp>
        <p:nvSpPr>
          <p:cNvPr id="6" name="Shape 4"/>
          <p:cNvSpPr/>
          <p:nvPr/>
        </p:nvSpPr>
        <p:spPr>
          <a:xfrm>
            <a:off x="1444752" y="1581912"/>
            <a:ext cx="91440" cy="91440"/>
          </a:xfrm>
          <a:prstGeom prst="ellipse">
            <a:avLst/>
          </a:prstGeom>
          <a:solidFill>
            <a:srgbClr val="A7C0A0"/>
          </a:solidFill>
          <a:ln/>
        </p:spPr>
      </p:sp>
      <p:sp>
        <p:nvSpPr>
          <p:cNvPr id="7" name="Text 5"/>
          <p:cNvSpPr/>
          <p:nvPr/>
        </p:nvSpPr>
        <p:spPr>
          <a:xfrm>
            <a:off x="1764792" y="14538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9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app.mortar.com/admin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67812" y="2903220"/>
            <a:ext cx="777240" cy="777240"/>
          </a:xfrm>
          <a:prstGeom prst="ellipse">
            <a:avLst/>
          </a:prstGeom>
          <a:solidFill>
            <a:srgbClr val="872001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7667" y="3113075"/>
            <a:ext cx="357530" cy="357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37901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A5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· WEB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46520" y="1234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720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MISSION CONTROL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19088" y="155448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Run it all from</a:t>
            </a:r>
            <a:endParaRPr lang="en-US" sz="3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one screen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446520" y="27889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team's cockpit. Everything that needs a human surfaces in one place — the rest is automated.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46520" y="3794760"/>
            <a:ext cx="475488" cy="475488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902" y="3923142"/>
            <a:ext cx="218724" cy="2187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04888" y="3739896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live to-do queue routes approvals, messages, and orders the moment they land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46520" y="4727448"/>
            <a:ext cx="475488" cy="475488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902" y="4855830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04888" y="4672584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courses and import slide decks without touching code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46520" y="5660136"/>
            <a:ext cx="475488" cy="475488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902" y="5788518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04888" y="5605272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 whole cohorts from a CSV and measure everything, web and mobile</a:t>
            </a:r>
            <a:endParaRPr lang="en-US" sz="1250" dirty="0"/>
          </a:p>
        </p:txBody>
      </p:sp>
      <p:pic>
        <p:nvPicPr>
          <p:cNvPr id="23" name="Image 4" descr="assets/mortar_maro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00800"/>
            <a:ext cx="822960" cy="2238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6373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Mortarverse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11277295" y="63733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8C7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mortar.os — connecting the network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84080" y="47548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7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475720" y="3840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0180F"/>
          </a:solidFill>
          <a:ln w="19050">
            <a:solidFill>
              <a:srgbClr val="87200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365760"/>
            <a:ext cx="5029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351A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41248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E6D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03 · CONNECT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4498848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The Network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41248" y="5532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Graduation isn't the end. Alumni stay to hire, help, and grow together.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720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THE NETWORK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A network that</a:t>
            </a:r>
            <a:endParaRPr lang="en-US" sz="3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keeps building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Graduation isn't the end. Alumni stay to hire, help, and grow together — with Mortar in the middle.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3794760"/>
            <a:ext cx="475488" cy="475488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3923142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3739896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One-tap smart matching on skills, goals, and industry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4727448"/>
            <a:ext cx="475488" cy="475488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82" y="485583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44168" y="4672584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jobs, offer skills, and message straight from any listing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85800" y="5660136"/>
            <a:ext cx="475488" cy="475488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82" y="5788518"/>
            <a:ext cx="218724" cy="2187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44168" y="5605272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Groups, events, and badges keep people coming back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994276" y="1143000"/>
            <a:ext cx="2299447" cy="4343400"/>
          </a:xfrm>
          <a:prstGeom prst="roundRect">
            <a:avLst>
              <a:gd name="adj" fmla="val 7158"/>
            </a:avLst>
          </a:prstGeom>
          <a:solidFill>
            <a:srgbClr val="20180F"/>
          </a:solidFill>
          <a:ln w="19050">
            <a:solidFill>
              <a:srgbClr val="3A2E1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787384" y="2958084"/>
            <a:ext cx="713232" cy="713232"/>
          </a:xfrm>
          <a:prstGeom prst="ellipse">
            <a:avLst/>
          </a:prstGeom>
          <a:solidFill>
            <a:srgbClr val="872001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957" y="3150657"/>
            <a:ext cx="328087" cy="3280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19956" y="3799332"/>
            <a:ext cx="28480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A79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· iOS</a:t>
            </a:r>
            <a:endParaRPr lang="en-US" sz="950" dirty="0"/>
          </a:p>
        </p:txBody>
      </p:sp>
      <p:pic>
        <p:nvPicPr>
          <p:cNvPr id="18" name="Image 4" descr="assets/mortar_maro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00800"/>
            <a:ext cx="822960" cy="2238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6373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Mortarverse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11277295" y="63733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72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9224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Three places, one continuous journey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it's all one system, a founder never starts over. Identity, progress, payments, and connections follow them from first lesson to lifelong network.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34440" y="24688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45336" y="3035808"/>
            <a:ext cx="658368" cy="658368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095" y="3213567"/>
            <a:ext cx="302849" cy="302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0" y="29992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The Studio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77440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2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543800" y="24688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54696" y="3035808"/>
            <a:ext cx="658368" cy="658368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455" y="3213567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0" y="29992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The Network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686800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2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 together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17720" y="28803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351A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4617720" y="3639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continuous journey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926080" y="4297680"/>
            <a:ext cx="0" cy="777240"/>
          </a:xfrm>
          <a:prstGeom prst="line">
            <a:avLst/>
          </a:prstGeom>
          <a:noFill/>
          <a:ln w="19050">
            <a:solidFill>
              <a:srgbClr val="D3C6A0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9235440" y="4297680"/>
            <a:ext cx="0" cy="777240"/>
          </a:xfrm>
          <a:prstGeom prst="line">
            <a:avLst/>
          </a:prstGeom>
          <a:noFill/>
          <a:ln w="19050">
            <a:solidFill>
              <a:srgbClr val="D3C6A0"/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3657600" y="435254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worlds run on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1234440" y="5074920"/>
            <a:ext cx="9692640" cy="1005840"/>
          </a:xfrm>
          <a:prstGeom prst="roundRect">
            <a:avLst>
              <a:gd name="adj" fmla="val 9091"/>
            </a:avLst>
          </a:prstGeom>
          <a:solidFill>
            <a:srgbClr val="872001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481328" y="5330952"/>
            <a:ext cx="502920" cy="502920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116" y="5466740"/>
            <a:ext cx="231343" cy="23134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212848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D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 CONTROL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212848" y="55869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backend · identity · payments · analytics · matching engine</a:t>
            </a:r>
            <a:endParaRPr lang="en-US" sz="1250" dirty="0"/>
          </a:p>
        </p:txBody>
      </p:sp>
      <p:pic>
        <p:nvPicPr>
          <p:cNvPr id="25" name="Image 3" descr="assets/mortar_mar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00800"/>
            <a:ext cx="822960" cy="2238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6373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Mortarverse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1277295" y="63733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72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9224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Four goals, one system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6696" y="2743200"/>
            <a:ext cx="685800" cy="685800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862" y="2928366"/>
            <a:ext cx="315468" cy="315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57800" y="2514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3D9BC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47672" y="259689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Strategically connect alumni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947672" y="32186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and a jobs-and-skills marketplace turn graduation into a living network.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92240" y="22860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03136" y="2743200"/>
            <a:ext cx="685800" cy="685800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302" y="2928366"/>
            <a:ext cx="315468" cy="3154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064240" y="2514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3D9BC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754112" y="259689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Cement MORTAR as a trusted brand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754112" y="32186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Shareable certificates and one polished, consistent product carry the name outward.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85800" y="41148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96696" y="4572000"/>
            <a:ext cx="685800" cy="685800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862" y="4757166"/>
            <a:ext cx="315468" cy="3154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57800" y="4343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3D9BC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947672" y="442569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Drive sales &amp; revenue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947672" y="50474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Modules, events, and merch through one real, server-priced checkout.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92240" y="41148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03136" y="4572000"/>
            <a:ext cx="685800" cy="685800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302" y="4757166"/>
            <a:ext cx="315468" cy="3154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064240" y="4343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3D9BC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04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754112" y="442569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Automate staff workflows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754112" y="50474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handles triage, onboarding, and issuing certificates and badges.</a:t>
            </a:r>
            <a:endParaRPr lang="en-US" sz="1100" dirty="0"/>
          </a:p>
        </p:txBody>
      </p:sp>
      <p:pic>
        <p:nvPicPr>
          <p:cNvPr id="28" name="Image 4" descr="assets/mortar_maro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00800"/>
            <a:ext cx="822960" cy="2238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54480" y="6373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Mortarverse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11277295" y="63733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72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9224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Measured against every goal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action is instrumented across the system, so Mortar can show — to its board, funders, and partners — exactly how each goal is being met.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788920"/>
            <a:ext cx="685800" cy="685800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862" y="2974086"/>
            <a:ext cx="315468" cy="3154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47672" y="26060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Alumni connections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947672" y="299008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matches generated, DMs sent, and jobs, skills, and active groups posted.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92240" y="2331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03136" y="2788920"/>
            <a:ext cx="685800" cy="685800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302" y="2974086"/>
            <a:ext cx="315468" cy="3154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54112" y="26060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Brand reach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754112" y="299008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certificate shares, shop orders, announcement views, and weekly active users.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85800" y="41605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96696" y="4617720"/>
            <a:ext cx="685800" cy="685800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862" y="4802886"/>
            <a:ext cx="315468" cy="3154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47672" y="44348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Revenue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947672" y="481888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type — modules, events, shop — and orders fulfilled through Stripe.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92240" y="41605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6F1E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03136" y="4617720"/>
            <a:ext cx="685800" cy="685800"/>
          </a:xfrm>
          <a:prstGeom prst="ellipse">
            <a:avLst/>
          </a:prstGeom>
          <a:solidFill>
            <a:srgbClr val="E6DBB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302" y="4802886"/>
            <a:ext cx="315468" cy="3154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54112" y="44348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206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Automation &amp; ops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54112" y="481888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Action-items cleared, cohorts imported, and certificates and badges auto-issued.</a:t>
            </a:r>
            <a:endParaRPr lang="en-US" sz="1100" dirty="0"/>
          </a:p>
        </p:txBody>
      </p:sp>
      <p:pic>
        <p:nvPicPr>
          <p:cNvPr id="25" name="Image 4" descr="assets/mortar_maro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00800"/>
            <a:ext cx="822960" cy="2238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6373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Mortarverse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11277295" y="63733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8C7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mortar.os — session complete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475720" y="3840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0180F"/>
          </a:solidFill>
          <a:ln w="19050">
            <a:solidFill>
              <a:srgbClr val="8720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365760"/>
            <a:ext cx="5029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351A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M</a:t>
            </a:r>
            <a:endParaRPr lang="en-US" sz="2100" dirty="0"/>
          </a:p>
        </p:txBody>
      </p:sp>
      <p:pic>
        <p:nvPicPr>
          <p:cNvPr id="5" name="Image 0" descr="assets/trowel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868680"/>
            <a:ext cx="762337" cy="160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ument Extended" pitchFamily="34" charset="0"/>
                <a:ea typeface="Monument Extended" pitchFamily="34" charset="-122"/>
                <a:cs typeface="Monument Extended" pitchFamily="34" charset="-120"/>
              </a:rPr>
              <a:t>The Mortarverse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920240" y="361188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6D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home Cincinnati's founders don't age out of — connecting alumni, building the brand, and driving revenue, all guided and automated by one platform.</a:t>
            </a:r>
            <a:endParaRPr lang="en-US" sz="1450" dirty="0"/>
          </a:p>
        </p:txBody>
      </p:sp>
      <p:pic>
        <p:nvPicPr>
          <p:cNvPr id="8" name="Image 1" descr="assets/mortar_cincinnati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8" y="5074920"/>
            <a:ext cx="2926080" cy="4457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5806440"/>
            <a:ext cx="8531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6D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by Mortar.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Mortarverse</dc:title>
  <dc:subject>PptxGenJS Presentation</dc:subject>
  <dc:creator>Mortar</dc:creator>
  <cp:lastModifiedBy>Mortar</cp:lastModifiedBy>
  <cp:revision>1</cp:revision>
  <dcterms:created xsi:type="dcterms:W3CDTF">2026-07-01T19:59:40Z</dcterms:created>
  <dcterms:modified xsi:type="dcterms:W3CDTF">2026-07-01T19:59:40Z</dcterms:modified>
</cp:coreProperties>
</file>